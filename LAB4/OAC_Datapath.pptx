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7" r:id="rId2"/>
    <p:sldId id="260" r:id="rId3"/>
    <p:sldId id="263" r:id="rId4"/>
    <p:sldId id="262" r:id="rId5"/>
    <p:sldId id="264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59"/>
    <p:restoredTop sz="94602" autoAdjust="0"/>
  </p:normalViewPr>
  <p:slideViewPr>
    <p:cSldViewPr snapToGrid="0" snapToObjects="1">
      <p:cViewPr varScale="1">
        <p:scale>
          <a:sx n="100" d="100"/>
          <a:sy n="100" d="100"/>
        </p:scale>
        <p:origin x="-1140" y="-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5639B-8E36-4640-A0E3-2381BBD65558}" type="datetimeFigureOut">
              <a:rPr lang="pt-BR" smtClean="0"/>
              <a:t>06/11/2019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593FF-EB35-4D53-8C61-9C8840D289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7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29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91471298"/>
              </p:ext>
            </p:extLst>
          </p:nvPr>
        </p:nvGraphicFramePr>
        <p:xfrm>
          <a:off x="185194" y="1674734"/>
          <a:ext cx="8785185" cy="47187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877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1877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71877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77565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5320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1179676">
                <a:tc>
                  <a:txBody>
                    <a:bodyPr/>
                    <a:lstStyle/>
                    <a:p>
                      <a:pPr lvl="0" algn="ctr"/>
                      <a:r>
                        <a:rPr lang="en-GB" sz="4800" dirty="0" smtClean="0"/>
                        <a:t>NOT</a:t>
                      </a:r>
                      <a:endParaRPr lang="en-GB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4800" dirty="0" smtClean="0"/>
                        <a:t>AND</a:t>
                      </a:r>
                      <a:endParaRPr lang="en-GB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4800" dirty="0" smtClean="0"/>
                        <a:t>OR</a:t>
                      </a:r>
                      <a:endParaRPr lang="en-GB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4800" dirty="0" smtClean="0"/>
                        <a:t>NAND</a:t>
                      </a:r>
                      <a:endParaRPr lang="en-GB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4800" dirty="0" smtClean="0"/>
                        <a:t>NOR</a:t>
                      </a:r>
                      <a:endParaRPr lang="en-GB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79676"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GB" sz="4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GB" sz="4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79676"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4800" dirty="0" smtClean="0"/>
                        <a:t>XOR</a:t>
                      </a:r>
                      <a:endParaRPr lang="en-GB" sz="4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4800" dirty="0" smtClean="0"/>
                        <a:t>XNOR</a:t>
                      </a:r>
                      <a:endParaRPr lang="en-GB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79676"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GB" sz="4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GB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 userDrawn="1"/>
        </p:nvSpPr>
        <p:spPr>
          <a:xfrm>
            <a:off x="173621" y="4235332"/>
            <a:ext cx="33798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All symbols are set at a thickness of 2¼ point, with no fill. They have been grouped for convenience, but can be formatted as you wish.</a:t>
            </a:r>
          </a:p>
          <a:p>
            <a:r>
              <a:rPr lang="en-GB" dirty="0" smtClean="0"/>
              <a:t>I hope they save</a:t>
            </a:r>
            <a:r>
              <a:rPr lang="en-GB" baseline="0" dirty="0" smtClean="0"/>
              <a:t> you some precious planning time.</a:t>
            </a:r>
          </a:p>
          <a:p>
            <a:r>
              <a:rPr lang="en-GB" baseline="0" dirty="0" smtClean="0"/>
              <a:t>Oliver Mannay.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945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80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07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7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233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148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36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90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13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38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78A0C-09E5-A741-BECC-846C19BC1C5B}" type="datetimeFigureOut">
              <a:rPr lang="en-GB" smtClean="0"/>
              <a:t>06/11/2019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7FEA2-9630-8945-8961-4A6204D164B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/>
          <p:cNvGrpSpPr/>
          <p:nvPr/>
        </p:nvGrpSpPr>
        <p:grpSpPr>
          <a:xfrm>
            <a:off x="5383252" y="3050595"/>
            <a:ext cx="1681757" cy="741118"/>
            <a:chOff x="3279279" y="4177246"/>
            <a:chExt cx="1681757" cy="741118"/>
          </a:xfrm>
        </p:grpSpPr>
        <p:cxnSp>
          <p:nvCxnSpPr>
            <p:cNvPr id="23" name="Straight Connector 22"/>
            <p:cNvCxnSpPr/>
            <p:nvPr/>
          </p:nvCxnSpPr>
          <p:spPr>
            <a:xfrm flipV="1">
              <a:off x="3279279" y="4734370"/>
              <a:ext cx="415107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3279279" y="4371022"/>
              <a:ext cx="415107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/>
            <p:cNvGrpSpPr/>
            <p:nvPr/>
          </p:nvGrpSpPr>
          <p:grpSpPr>
            <a:xfrm>
              <a:off x="4584720" y="4496209"/>
              <a:ext cx="376316" cy="117436"/>
              <a:chOff x="1490775" y="1289057"/>
              <a:chExt cx="376316" cy="117436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V="1">
                <a:off x="1603168" y="1347775"/>
                <a:ext cx="263923" cy="90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Oval 65"/>
              <p:cNvSpPr/>
              <p:nvPr/>
            </p:nvSpPr>
            <p:spPr>
              <a:xfrm>
                <a:off x="149077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8" name="Delay 67"/>
            <p:cNvSpPr/>
            <p:nvPr/>
          </p:nvSpPr>
          <p:spPr>
            <a:xfrm>
              <a:off x="3694386" y="4177246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984478" y="3050595"/>
            <a:ext cx="1566675" cy="741118"/>
            <a:chOff x="4042896" y="1715660"/>
            <a:chExt cx="1566675" cy="741118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4042896" y="2266407"/>
              <a:ext cx="415107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4042896" y="1903059"/>
              <a:ext cx="415107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Delay 68"/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305218" y="3050595"/>
            <a:ext cx="1448058" cy="752875"/>
            <a:chOff x="379248" y="5807937"/>
            <a:chExt cx="1448058" cy="752875"/>
          </a:xfrm>
        </p:grpSpPr>
        <p:cxnSp>
          <p:nvCxnSpPr>
            <p:cNvPr id="98" name="Straight Connector 97"/>
            <p:cNvCxnSpPr/>
            <p:nvPr/>
          </p:nvCxnSpPr>
          <p:spPr>
            <a:xfrm flipV="1">
              <a:off x="379248" y="6187166"/>
              <a:ext cx="415107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flipV="1">
              <a:off x="1563383" y="6183730"/>
              <a:ext cx="263923" cy="9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Triangle 100"/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1007738" y="430821"/>
            <a:ext cx="71400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GB" sz="4800" dirty="0" smtClean="0">
                <a:solidFill>
                  <a:prstClr val="black"/>
                </a:solidFill>
              </a:rPr>
              <a:t>Logic Gates </a:t>
            </a:r>
            <a:r>
              <a:rPr lang="en-GB" sz="4800" smtClean="0">
                <a:solidFill>
                  <a:prstClr val="black"/>
                </a:solidFill>
              </a:rPr>
              <a:t>for PowerPoints</a:t>
            </a:r>
            <a:endParaRPr lang="en-GB" sz="4800" dirty="0">
              <a:solidFill>
                <a:prstClr val="black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675121" y="3048834"/>
            <a:ext cx="1599238" cy="723601"/>
            <a:chOff x="3675121" y="3048834"/>
            <a:chExt cx="1599238" cy="723601"/>
          </a:xfrm>
        </p:grpSpPr>
        <p:cxnSp>
          <p:nvCxnSpPr>
            <p:cNvPr id="87" name="Straight Connector 86"/>
            <p:cNvCxnSpPr/>
            <p:nvPr/>
          </p:nvCxnSpPr>
          <p:spPr>
            <a:xfrm flipV="1">
              <a:off x="3675121" y="3596937"/>
              <a:ext cx="415107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flipV="1">
              <a:off x="3675121" y="3233589"/>
              <a:ext cx="415107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V="1">
              <a:off x="5010436" y="3412939"/>
              <a:ext cx="263923" cy="9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/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90" name="Stored Data 71"/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Stored Data 71"/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3675121" y="5435203"/>
            <a:ext cx="1599238" cy="724319"/>
            <a:chOff x="3675121" y="5435203"/>
            <a:chExt cx="1599238" cy="724319"/>
          </a:xfrm>
        </p:grpSpPr>
        <p:cxnSp>
          <p:nvCxnSpPr>
            <p:cNvPr id="62" name="Straight Connector 61"/>
            <p:cNvCxnSpPr/>
            <p:nvPr/>
          </p:nvCxnSpPr>
          <p:spPr>
            <a:xfrm flipV="1">
              <a:off x="3675121" y="5984024"/>
              <a:ext cx="415107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V="1">
              <a:off x="3675121" y="5620676"/>
              <a:ext cx="415107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Stored Data 71"/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Stored Data 71"/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Stored Data 71"/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186131" y="5434009"/>
            <a:ext cx="1719449" cy="724319"/>
            <a:chOff x="7186131" y="5434009"/>
            <a:chExt cx="1719449" cy="724319"/>
          </a:xfrm>
        </p:grpSpPr>
        <p:grpSp>
          <p:nvGrpSpPr>
            <p:cNvPr id="82" name="Group 81"/>
            <p:cNvGrpSpPr/>
            <p:nvPr/>
          </p:nvGrpSpPr>
          <p:grpSpPr>
            <a:xfrm>
              <a:off x="7186131" y="5434009"/>
              <a:ext cx="1332140" cy="724319"/>
              <a:chOff x="3675121" y="5435203"/>
              <a:chExt cx="1332140" cy="724319"/>
            </a:xfrm>
          </p:grpSpPr>
          <p:cxnSp>
            <p:nvCxnSpPr>
              <p:cNvPr id="86" name="Straight Connector 85"/>
              <p:cNvCxnSpPr/>
              <p:nvPr/>
            </p:nvCxnSpPr>
            <p:spPr>
              <a:xfrm flipV="1">
                <a:off x="3675121" y="5984024"/>
                <a:ext cx="415107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V="1">
                <a:off x="3675121" y="5620676"/>
                <a:ext cx="415107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Stored Data 71"/>
              <p:cNvSpPr/>
              <p:nvPr/>
            </p:nvSpPr>
            <p:spPr>
              <a:xfrm rot="10800000">
                <a:off x="3997592" y="5435941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" name="Stored Data 71"/>
              <p:cNvSpPr/>
              <p:nvPr/>
            </p:nvSpPr>
            <p:spPr>
              <a:xfrm rot="10800000">
                <a:off x="3990333" y="5435921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" name="Stored Data 71"/>
              <p:cNvSpPr/>
              <p:nvPr/>
            </p:nvSpPr>
            <p:spPr>
              <a:xfrm rot="10800000">
                <a:off x="3911116" y="5435203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5" name="Group 104"/>
            <p:cNvGrpSpPr/>
            <p:nvPr/>
          </p:nvGrpSpPr>
          <p:grpSpPr>
            <a:xfrm>
              <a:off x="8524804" y="5740592"/>
              <a:ext cx="380776" cy="117436"/>
              <a:chOff x="1486315" y="1289057"/>
              <a:chExt cx="380776" cy="117436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 flipV="1">
                <a:off x="1603168" y="1347775"/>
                <a:ext cx="263923" cy="90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/>
              <p:cNvSpPr/>
              <p:nvPr/>
            </p:nvSpPr>
            <p:spPr>
              <a:xfrm>
                <a:off x="148631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19" name="Group 118"/>
          <p:cNvGrpSpPr/>
          <p:nvPr/>
        </p:nvGrpSpPr>
        <p:grpSpPr>
          <a:xfrm>
            <a:off x="7181240" y="3048358"/>
            <a:ext cx="1719449" cy="723601"/>
            <a:chOff x="7186131" y="5434727"/>
            <a:chExt cx="1719449" cy="723601"/>
          </a:xfrm>
        </p:grpSpPr>
        <p:grpSp>
          <p:nvGrpSpPr>
            <p:cNvPr id="120" name="Group 119"/>
            <p:cNvGrpSpPr/>
            <p:nvPr/>
          </p:nvGrpSpPr>
          <p:grpSpPr>
            <a:xfrm>
              <a:off x="7186131" y="5434727"/>
              <a:ext cx="1332140" cy="723601"/>
              <a:chOff x="3675121" y="5435921"/>
              <a:chExt cx="1332140" cy="723601"/>
            </a:xfrm>
          </p:grpSpPr>
          <p:cxnSp>
            <p:nvCxnSpPr>
              <p:cNvPr id="125" name="Straight Connector 124"/>
              <p:cNvCxnSpPr/>
              <p:nvPr/>
            </p:nvCxnSpPr>
            <p:spPr>
              <a:xfrm flipV="1">
                <a:off x="3675121" y="5984024"/>
                <a:ext cx="415107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 flipV="1">
                <a:off x="3675121" y="5620676"/>
                <a:ext cx="415107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Stored Data 71"/>
              <p:cNvSpPr/>
              <p:nvPr/>
            </p:nvSpPr>
            <p:spPr>
              <a:xfrm rot="10800000">
                <a:off x="3997592" y="5435941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8" name="Stored Data 71"/>
              <p:cNvSpPr/>
              <p:nvPr/>
            </p:nvSpPr>
            <p:spPr>
              <a:xfrm rot="10800000">
                <a:off x="3990333" y="5435921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8524804" y="5740592"/>
              <a:ext cx="380776" cy="117436"/>
              <a:chOff x="1486315" y="1289057"/>
              <a:chExt cx="380776" cy="117436"/>
            </a:xfrm>
          </p:grpSpPr>
          <p:cxnSp>
            <p:nvCxnSpPr>
              <p:cNvPr id="123" name="Straight Connector 122"/>
              <p:cNvCxnSpPr/>
              <p:nvPr/>
            </p:nvCxnSpPr>
            <p:spPr>
              <a:xfrm flipV="1">
                <a:off x="1603168" y="1347775"/>
                <a:ext cx="263923" cy="90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23"/>
              <p:cNvSpPr/>
              <p:nvPr/>
            </p:nvSpPr>
            <p:spPr>
              <a:xfrm>
                <a:off x="148631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161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Agrupar 57"/>
          <p:cNvGrpSpPr/>
          <p:nvPr/>
        </p:nvGrpSpPr>
        <p:grpSpPr>
          <a:xfrm>
            <a:off x="1088317" y="567068"/>
            <a:ext cx="426469" cy="268235"/>
            <a:chOff x="768499" y="627435"/>
            <a:chExt cx="1448058" cy="752875"/>
          </a:xfrm>
        </p:grpSpPr>
        <p:cxnSp>
          <p:nvCxnSpPr>
            <p:cNvPr id="16" name="Straight Connector 98"/>
            <p:cNvCxnSpPr/>
            <p:nvPr/>
          </p:nvCxnSpPr>
          <p:spPr>
            <a:xfrm flipV="1">
              <a:off x="1952634" y="1003228"/>
              <a:ext cx="263923" cy="9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7"/>
            <p:cNvCxnSpPr/>
            <p:nvPr/>
          </p:nvCxnSpPr>
          <p:spPr>
            <a:xfrm flipV="1">
              <a:off x="768499" y="1006664"/>
              <a:ext cx="415107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99"/>
            <p:cNvSpPr/>
            <p:nvPr/>
          </p:nvSpPr>
          <p:spPr>
            <a:xfrm>
              <a:off x="1835781" y="944510"/>
              <a:ext cx="120028" cy="1174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riangle 100"/>
            <p:cNvSpPr/>
            <p:nvPr/>
          </p:nvSpPr>
          <p:spPr>
            <a:xfrm rot="5400000">
              <a:off x="1122772" y="679358"/>
              <a:ext cx="752875" cy="649030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782298" y="821899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1884464" y="818645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</p:grpSp>
      <p:grpSp>
        <p:nvGrpSpPr>
          <p:cNvPr id="68" name="Agrupar 67"/>
          <p:cNvGrpSpPr/>
          <p:nvPr/>
        </p:nvGrpSpPr>
        <p:grpSpPr>
          <a:xfrm>
            <a:off x="1997547" y="1060016"/>
            <a:ext cx="655038" cy="333082"/>
            <a:chOff x="742168" y="1759282"/>
            <a:chExt cx="1556664" cy="741376"/>
          </a:xfrm>
        </p:grpSpPr>
        <p:cxnSp>
          <p:nvCxnSpPr>
            <p:cNvPr id="10" name="Straight Connector 27"/>
            <p:cNvCxnSpPr/>
            <p:nvPr/>
          </p:nvCxnSpPr>
          <p:spPr>
            <a:xfrm flipV="1">
              <a:off x="742168" y="2310287"/>
              <a:ext cx="415107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28"/>
            <p:cNvCxnSpPr/>
            <p:nvPr/>
          </p:nvCxnSpPr>
          <p:spPr>
            <a:xfrm flipV="1">
              <a:off x="742168" y="1946939"/>
              <a:ext cx="415107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29"/>
            <p:cNvCxnSpPr/>
            <p:nvPr/>
          </p:nvCxnSpPr>
          <p:spPr>
            <a:xfrm flipV="1">
              <a:off x="2035579" y="2130844"/>
              <a:ext cx="263253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Delay 68"/>
            <p:cNvSpPr/>
            <p:nvPr/>
          </p:nvSpPr>
          <p:spPr>
            <a:xfrm>
              <a:off x="1151068" y="1759540"/>
              <a:ext cx="882699" cy="741118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CaixaDeTexto 64"/>
            <p:cNvSpPr txBox="1"/>
            <p:nvPr/>
          </p:nvSpPr>
          <p:spPr>
            <a:xfrm>
              <a:off x="749270" y="175928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  <p:sp>
          <p:nvSpPr>
            <p:cNvPr id="66" name="CaixaDeTexto 65"/>
            <p:cNvSpPr txBox="1"/>
            <p:nvPr/>
          </p:nvSpPr>
          <p:spPr>
            <a:xfrm>
              <a:off x="758171" y="212526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  <p:sp>
          <p:nvSpPr>
            <p:cNvPr id="67" name="CaixaDeTexto 66"/>
            <p:cNvSpPr txBox="1"/>
            <p:nvPr/>
          </p:nvSpPr>
          <p:spPr>
            <a:xfrm>
              <a:off x="1968303" y="194465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</p:grpSp>
      <p:grpSp>
        <p:nvGrpSpPr>
          <p:cNvPr id="78" name="Agrupar 77"/>
          <p:cNvGrpSpPr/>
          <p:nvPr/>
        </p:nvGrpSpPr>
        <p:grpSpPr>
          <a:xfrm>
            <a:off x="2043212" y="1615985"/>
            <a:ext cx="656074" cy="323216"/>
            <a:chOff x="577978" y="2764474"/>
            <a:chExt cx="1599238" cy="733211"/>
          </a:xfrm>
        </p:grpSpPr>
        <p:cxnSp>
          <p:nvCxnSpPr>
            <p:cNvPr id="20" name="Straight Connector 86"/>
            <p:cNvCxnSpPr/>
            <p:nvPr/>
          </p:nvCxnSpPr>
          <p:spPr>
            <a:xfrm flipV="1">
              <a:off x="577978" y="3312577"/>
              <a:ext cx="415107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87"/>
            <p:cNvCxnSpPr/>
            <p:nvPr/>
          </p:nvCxnSpPr>
          <p:spPr>
            <a:xfrm flipV="1">
              <a:off x="577978" y="2949229"/>
              <a:ext cx="415107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88"/>
            <p:cNvCxnSpPr/>
            <p:nvPr/>
          </p:nvCxnSpPr>
          <p:spPr>
            <a:xfrm flipV="1">
              <a:off x="1913293" y="3128579"/>
              <a:ext cx="263923" cy="9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1"/>
            <p:cNvGrpSpPr/>
            <p:nvPr/>
          </p:nvGrpSpPr>
          <p:grpSpPr>
            <a:xfrm>
              <a:off x="893190" y="2764474"/>
              <a:ext cx="1016928" cy="723601"/>
              <a:chOff x="3990333" y="3048834"/>
              <a:chExt cx="1016928" cy="723601"/>
            </a:xfrm>
          </p:grpSpPr>
          <p:sp>
            <p:nvSpPr>
              <p:cNvPr id="24" name="Stored Data 71"/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Stored Data 71"/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5" name="CaixaDeTexto 74"/>
            <p:cNvSpPr txBox="1"/>
            <p:nvPr/>
          </p:nvSpPr>
          <p:spPr>
            <a:xfrm>
              <a:off x="588066" y="276577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  <p:sp>
          <p:nvSpPr>
            <p:cNvPr id="76" name="CaixaDeTexto 75"/>
            <p:cNvSpPr txBox="1"/>
            <p:nvPr/>
          </p:nvSpPr>
          <p:spPr>
            <a:xfrm>
              <a:off x="590208" y="312835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  <p:sp>
          <p:nvSpPr>
            <p:cNvPr id="77" name="CaixaDeTexto 76"/>
            <p:cNvSpPr txBox="1"/>
            <p:nvPr/>
          </p:nvSpPr>
          <p:spPr>
            <a:xfrm>
              <a:off x="1853708" y="294521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</p:grpSp>
      <p:grpSp>
        <p:nvGrpSpPr>
          <p:cNvPr id="91" name="Agrupar 90"/>
          <p:cNvGrpSpPr/>
          <p:nvPr/>
        </p:nvGrpSpPr>
        <p:grpSpPr>
          <a:xfrm>
            <a:off x="2088378" y="2119637"/>
            <a:ext cx="674797" cy="323553"/>
            <a:chOff x="865883" y="5083786"/>
            <a:chExt cx="1599238" cy="735262"/>
          </a:xfrm>
        </p:grpSpPr>
        <p:cxnSp>
          <p:nvCxnSpPr>
            <p:cNvPr id="27" name="Straight Connector 61"/>
            <p:cNvCxnSpPr/>
            <p:nvPr/>
          </p:nvCxnSpPr>
          <p:spPr>
            <a:xfrm flipV="1">
              <a:off x="865883" y="5632608"/>
              <a:ext cx="322471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62"/>
            <p:cNvCxnSpPr/>
            <p:nvPr/>
          </p:nvCxnSpPr>
          <p:spPr>
            <a:xfrm flipV="1">
              <a:off x="865883" y="5269260"/>
              <a:ext cx="322471" cy="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66"/>
            <p:cNvCxnSpPr/>
            <p:nvPr/>
          </p:nvCxnSpPr>
          <p:spPr>
            <a:xfrm flipV="1">
              <a:off x="2201198" y="5448609"/>
              <a:ext cx="263923" cy="9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Stored Data 71"/>
            <p:cNvSpPr/>
            <p:nvPr/>
          </p:nvSpPr>
          <p:spPr>
            <a:xfrm rot="10800000">
              <a:off x="1188354" y="5084524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Stored Data 71"/>
            <p:cNvSpPr/>
            <p:nvPr/>
          </p:nvSpPr>
          <p:spPr>
            <a:xfrm rot="10800000">
              <a:off x="1181095" y="5084504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Stored Data 71"/>
            <p:cNvSpPr/>
            <p:nvPr/>
          </p:nvSpPr>
          <p:spPr>
            <a:xfrm rot="10800000">
              <a:off x="1101878" y="5083786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CaixaDeTexto 87"/>
            <p:cNvSpPr txBox="1"/>
            <p:nvPr/>
          </p:nvSpPr>
          <p:spPr>
            <a:xfrm>
              <a:off x="876675" y="508721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879442" y="5449716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140773" y="5265525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1067477" y="2108276"/>
            <a:ext cx="701873" cy="328518"/>
            <a:chOff x="1970171" y="1739101"/>
            <a:chExt cx="804018" cy="393074"/>
          </a:xfrm>
        </p:grpSpPr>
        <p:grpSp>
          <p:nvGrpSpPr>
            <p:cNvPr id="92" name="Agrupar 91"/>
            <p:cNvGrpSpPr/>
            <p:nvPr/>
          </p:nvGrpSpPr>
          <p:grpSpPr>
            <a:xfrm>
              <a:off x="1970171" y="1739101"/>
              <a:ext cx="804018" cy="393074"/>
              <a:chOff x="865883" y="5083786"/>
              <a:chExt cx="1671241" cy="735262"/>
            </a:xfrm>
          </p:grpSpPr>
          <p:cxnSp>
            <p:nvCxnSpPr>
              <p:cNvPr id="93" name="Straight Connector 61"/>
              <p:cNvCxnSpPr/>
              <p:nvPr/>
            </p:nvCxnSpPr>
            <p:spPr>
              <a:xfrm flipV="1">
                <a:off x="865883" y="5632608"/>
                <a:ext cx="322471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62"/>
              <p:cNvCxnSpPr/>
              <p:nvPr/>
            </p:nvCxnSpPr>
            <p:spPr>
              <a:xfrm flipV="1">
                <a:off x="865883" y="5269260"/>
                <a:ext cx="322471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66"/>
              <p:cNvCxnSpPr/>
              <p:nvPr/>
            </p:nvCxnSpPr>
            <p:spPr>
              <a:xfrm>
                <a:off x="2201198" y="5449518"/>
                <a:ext cx="335926" cy="97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Stored Data 71"/>
              <p:cNvSpPr/>
              <p:nvPr/>
            </p:nvSpPr>
            <p:spPr>
              <a:xfrm rot="10800000">
                <a:off x="1188354" y="508452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Stored Data 71"/>
              <p:cNvSpPr/>
              <p:nvPr/>
            </p:nvSpPr>
            <p:spPr>
              <a:xfrm rot="10800000">
                <a:off x="1181095" y="508450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Stored Data 71"/>
              <p:cNvSpPr/>
              <p:nvPr/>
            </p:nvSpPr>
            <p:spPr>
              <a:xfrm rot="10800000">
                <a:off x="1101878" y="5083786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9" name="CaixaDeTexto 98"/>
              <p:cNvSpPr txBox="1"/>
              <p:nvPr/>
            </p:nvSpPr>
            <p:spPr>
              <a:xfrm>
                <a:off x="876675" y="5087213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 smtClean="0">
                    <a:noFill/>
                  </a:rPr>
                  <a:t>A</a:t>
                </a:r>
                <a:endParaRPr lang="pt-BR" dirty="0">
                  <a:noFill/>
                </a:endParaRPr>
              </a:p>
            </p:txBody>
          </p:sp>
          <p:sp>
            <p:nvSpPr>
              <p:cNvPr id="100" name="CaixaDeTexto 99"/>
              <p:cNvSpPr txBox="1"/>
              <p:nvPr/>
            </p:nvSpPr>
            <p:spPr>
              <a:xfrm>
                <a:off x="879442" y="5449716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 smtClean="0">
                    <a:noFill/>
                  </a:rPr>
                  <a:t>A</a:t>
                </a:r>
                <a:endParaRPr lang="pt-BR" dirty="0">
                  <a:noFill/>
                </a:endParaRPr>
              </a:p>
            </p:txBody>
          </p:sp>
          <p:sp>
            <p:nvSpPr>
              <p:cNvPr id="101" name="CaixaDeTexto 100"/>
              <p:cNvSpPr txBox="1"/>
              <p:nvPr/>
            </p:nvSpPr>
            <p:spPr>
              <a:xfrm>
                <a:off x="2199732" y="5269706"/>
                <a:ext cx="317715" cy="369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 smtClean="0">
                    <a:noFill/>
                  </a:rPr>
                  <a:t>A</a:t>
                </a:r>
                <a:endParaRPr lang="pt-BR" dirty="0">
                  <a:noFill/>
                </a:endParaRPr>
              </a:p>
            </p:txBody>
          </p:sp>
        </p:grpSp>
        <p:sp>
          <p:nvSpPr>
            <p:cNvPr id="102" name="Elipse 101"/>
            <p:cNvSpPr/>
            <p:nvPr/>
          </p:nvSpPr>
          <p:spPr>
            <a:xfrm>
              <a:off x="2613275" y="1907240"/>
              <a:ext cx="54684" cy="558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979140" y="1046282"/>
            <a:ext cx="715773" cy="332966"/>
            <a:chOff x="1963338" y="2149746"/>
            <a:chExt cx="771025" cy="399884"/>
          </a:xfrm>
        </p:grpSpPr>
        <p:grpSp>
          <p:nvGrpSpPr>
            <p:cNvPr id="84" name="Agrupar 83"/>
            <p:cNvGrpSpPr/>
            <p:nvPr/>
          </p:nvGrpSpPr>
          <p:grpSpPr>
            <a:xfrm>
              <a:off x="1963338" y="2149746"/>
              <a:ext cx="771025" cy="399884"/>
              <a:chOff x="658330" y="3880676"/>
              <a:chExt cx="1681757" cy="742642"/>
            </a:xfrm>
          </p:grpSpPr>
          <p:cxnSp>
            <p:nvCxnSpPr>
              <p:cNvPr id="3" name="Straight Connector 22"/>
              <p:cNvCxnSpPr/>
              <p:nvPr/>
            </p:nvCxnSpPr>
            <p:spPr>
              <a:xfrm flipV="1">
                <a:off x="658330" y="4437800"/>
                <a:ext cx="415107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24"/>
              <p:cNvCxnSpPr/>
              <p:nvPr/>
            </p:nvCxnSpPr>
            <p:spPr>
              <a:xfrm flipV="1">
                <a:off x="658330" y="4074452"/>
                <a:ext cx="415107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4"/>
              <p:cNvCxnSpPr/>
              <p:nvPr/>
            </p:nvCxnSpPr>
            <p:spPr>
              <a:xfrm flipV="1">
                <a:off x="2076164" y="4258358"/>
                <a:ext cx="263923" cy="90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Delay 67"/>
              <p:cNvSpPr/>
              <p:nvPr/>
            </p:nvSpPr>
            <p:spPr>
              <a:xfrm>
                <a:off x="1073437" y="3880676"/>
                <a:ext cx="882699" cy="741118"/>
              </a:xfrm>
              <a:prstGeom prst="flowChartDelay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CaixaDeTexto 80"/>
              <p:cNvSpPr txBox="1"/>
              <p:nvPr/>
            </p:nvSpPr>
            <p:spPr>
              <a:xfrm>
                <a:off x="670330" y="3893125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 smtClean="0">
                    <a:noFill/>
                  </a:rPr>
                  <a:t>A</a:t>
                </a:r>
                <a:endParaRPr lang="pt-BR" dirty="0">
                  <a:noFill/>
                </a:endParaRPr>
              </a:p>
            </p:txBody>
          </p:sp>
          <p:sp>
            <p:nvSpPr>
              <p:cNvPr id="82" name="CaixaDeTexto 81"/>
              <p:cNvSpPr txBox="1"/>
              <p:nvPr/>
            </p:nvSpPr>
            <p:spPr>
              <a:xfrm>
                <a:off x="671524" y="4253986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 smtClean="0">
                    <a:noFill/>
                  </a:rPr>
                  <a:t>A</a:t>
                </a:r>
                <a:endParaRPr lang="pt-BR" dirty="0">
                  <a:noFill/>
                </a:endParaRPr>
              </a:p>
            </p:txBody>
          </p:sp>
          <p:sp>
            <p:nvSpPr>
              <p:cNvPr id="83" name="CaixaDeTexto 82"/>
              <p:cNvSpPr txBox="1"/>
              <p:nvPr/>
            </p:nvSpPr>
            <p:spPr>
              <a:xfrm>
                <a:off x="2013752" y="4073872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 smtClean="0">
                    <a:noFill/>
                  </a:rPr>
                  <a:t>A</a:t>
                </a:r>
                <a:endParaRPr lang="pt-BR" dirty="0">
                  <a:noFill/>
                </a:endParaRPr>
              </a:p>
            </p:txBody>
          </p:sp>
        </p:grpSp>
        <p:sp>
          <p:nvSpPr>
            <p:cNvPr id="103" name="Elipse 102"/>
            <p:cNvSpPr/>
            <p:nvPr/>
          </p:nvSpPr>
          <p:spPr>
            <a:xfrm>
              <a:off x="2560014" y="2328420"/>
              <a:ext cx="49471" cy="549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054540" y="1620220"/>
            <a:ext cx="696205" cy="323216"/>
            <a:chOff x="2055694" y="1608743"/>
            <a:chExt cx="696205" cy="323216"/>
          </a:xfrm>
        </p:grpSpPr>
        <p:grpSp>
          <p:nvGrpSpPr>
            <p:cNvPr id="34" name="Grupo 33"/>
            <p:cNvGrpSpPr/>
            <p:nvPr/>
          </p:nvGrpSpPr>
          <p:grpSpPr>
            <a:xfrm>
              <a:off x="2055694" y="1608743"/>
              <a:ext cx="696205" cy="323216"/>
              <a:chOff x="2055694" y="1608743"/>
              <a:chExt cx="696205" cy="323216"/>
            </a:xfrm>
          </p:grpSpPr>
          <p:grpSp>
            <p:nvGrpSpPr>
              <p:cNvPr id="73" name="Agrupar 77"/>
              <p:cNvGrpSpPr/>
              <p:nvPr/>
            </p:nvGrpSpPr>
            <p:grpSpPr>
              <a:xfrm>
                <a:off x="2055694" y="1608743"/>
                <a:ext cx="696205" cy="323216"/>
                <a:chOff x="577978" y="2764474"/>
                <a:chExt cx="1697060" cy="733211"/>
              </a:xfrm>
            </p:grpSpPr>
            <p:cxnSp>
              <p:nvCxnSpPr>
                <p:cNvPr id="74" name="Straight Connector 86"/>
                <p:cNvCxnSpPr/>
                <p:nvPr/>
              </p:nvCxnSpPr>
              <p:spPr>
                <a:xfrm flipV="1">
                  <a:off x="577978" y="3312577"/>
                  <a:ext cx="415107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87"/>
                <p:cNvCxnSpPr/>
                <p:nvPr/>
              </p:nvCxnSpPr>
              <p:spPr>
                <a:xfrm flipV="1">
                  <a:off x="577978" y="2949229"/>
                  <a:ext cx="415107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88"/>
                <p:cNvCxnSpPr/>
                <p:nvPr/>
              </p:nvCxnSpPr>
              <p:spPr>
                <a:xfrm flipV="1">
                  <a:off x="1913293" y="3126275"/>
                  <a:ext cx="361745" cy="321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Group 1"/>
                <p:cNvGrpSpPr/>
                <p:nvPr/>
              </p:nvGrpSpPr>
              <p:grpSpPr>
                <a:xfrm>
                  <a:off x="893190" y="2764474"/>
                  <a:ext cx="1016928" cy="723601"/>
                  <a:chOff x="3990333" y="3048834"/>
                  <a:chExt cx="1016928" cy="723601"/>
                </a:xfrm>
              </p:grpSpPr>
              <p:sp>
                <p:nvSpPr>
                  <p:cNvPr id="105" name="Stored Data 71"/>
                  <p:cNvSpPr/>
                  <p:nvPr/>
                </p:nvSpPr>
                <p:spPr>
                  <a:xfrm rot="10800000">
                    <a:off x="3997592" y="3048854"/>
                    <a:ext cx="1009669" cy="723580"/>
                  </a:xfrm>
                  <a:custGeom>
                    <a:avLst/>
                    <a:gdLst>
                      <a:gd name="connsiteX0" fmla="*/ 1667 w 10000"/>
                      <a:gd name="connsiteY0" fmla="*/ 0 h 10000"/>
                      <a:gd name="connsiteX1" fmla="*/ 10000 w 10000"/>
                      <a:gd name="connsiteY1" fmla="*/ 0 h 10000"/>
                      <a:gd name="connsiteX2" fmla="*/ 8333 w 10000"/>
                      <a:gd name="connsiteY2" fmla="*/ 5000 h 10000"/>
                      <a:gd name="connsiteX3" fmla="*/ 10000 w 10000"/>
                      <a:gd name="connsiteY3" fmla="*/ 10000 h 10000"/>
                      <a:gd name="connsiteX4" fmla="*/ 1667 w 10000"/>
                      <a:gd name="connsiteY4" fmla="*/ 10000 h 10000"/>
                      <a:gd name="connsiteX5" fmla="*/ 0 w 10000"/>
                      <a:gd name="connsiteY5" fmla="*/ 5000 h 10000"/>
                      <a:gd name="connsiteX6" fmla="*/ 1667 w 10000"/>
                      <a:gd name="connsiteY6" fmla="*/ 0 h 10000"/>
                      <a:gd name="connsiteX0" fmla="*/ 4932 w 13265"/>
                      <a:gd name="connsiteY0" fmla="*/ 0 h 10000"/>
                      <a:gd name="connsiteX1" fmla="*/ 13265 w 13265"/>
                      <a:gd name="connsiteY1" fmla="*/ 0 h 10000"/>
                      <a:gd name="connsiteX2" fmla="*/ 11598 w 13265"/>
                      <a:gd name="connsiteY2" fmla="*/ 5000 h 10000"/>
                      <a:gd name="connsiteX3" fmla="*/ 13265 w 13265"/>
                      <a:gd name="connsiteY3" fmla="*/ 10000 h 10000"/>
                      <a:gd name="connsiteX4" fmla="*/ 4932 w 13265"/>
                      <a:gd name="connsiteY4" fmla="*/ 10000 h 10000"/>
                      <a:gd name="connsiteX5" fmla="*/ 0 w 13265"/>
                      <a:gd name="connsiteY5" fmla="*/ 5084 h 10000"/>
                      <a:gd name="connsiteX6" fmla="*/ 4932 w 13265"/>
                      <a:gd name="connsiteY6" fmla="*/ 0 h 10000"/>
                      <a:gd name="connsiteX0" fmla="*/ 5226 w 13559"/>
                      <a:gd name="connsiteY0" fmla="*/ 0 h 10000"/>
                      <a:gd name="connsiteX1" fmla="*/ 13559 w 13559"/>
                      <a:gd name="connsiteY1" fmla="*/ 0 h 10000"/>
                      <a:gd name="connsiteX2" fmla="*/ 11892 w 13559"/>
                      <a:gd name="connsiteY2" fmla="*/ 5000 h 10000"/>
                      <a:gd name="connsiteX3" fmla="*/ 13559 w 13559"/>
                      <a:gd name="connsiteY3" fmla="*/ 10000 h 10000"/>
                      <a:gd name="connsiteX4" fmla="*/ 5226 w 13559"/>
                      <a:gd name="connsiteY4" fmla="*/ 10000 h 10000"/>
                      <a:gd name="connsiteX5" fmla="*/ 294 w 13559"/>
                      <a:gd name="connsiteY5" fmla="*/ 5084 h 10000"/>
                      <a:gd name="connsiteX6" fmla="*/ 5226 w 13559"/>
                      <a:gd name="connsiteY6" fmla="*/ 0 h 10000"/>
                      <a:gd name="connsiteX0" fmla="*/ 4933 w 13266"/>
                      <a:gd name="connsiteY0" fmla="*/ 0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4933 w 13266"/>
                      <a:gd name="connsiteY4" fmla="*/ 10000 h 10000"/>
                      <a:gd name="connsiteX5" fmla="*/ 1 w 13266"/>
                      <a:gd name="connsiteY5" fmla="*/ 5084 h 10000"/>
                      <a:gd name="connsiteX6" fmla="*/ 4933 w 13266"/>
                      <a:gd name="connsiteY6" fmla="*/ 0 h 10000"/>
                      <a:gd name="connsiteX0" fmla="*/ 4933 w 13266"/>
                      <a:gd name="connsiteY0" fmla="*/ 0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4933 w 13266"/>
                      <a:gd name="connsiteY4" fmla="*/ 10000 h 10000"/>
                      <a:gd name="connsiteX5" fmla="*/ 1 w 13266"/>
                      <a:gd name="connsiteY5" fmla="*/ 5084 h 10000"/>
                      <a:gd name="connsiteX6" fmla="*/ 4933 w 13266"/>
                      <a:gd name="connsiteY6" fmla="*/ 0 h 10000"/>
                      <a:gd name="connsiteX0" fmla="*/ 4966 w 13299"/>
                      <a:gd name="connsiteY0" fmla="*/ 0 h 10000"/>
                      <a:gd name="connsiteX1" fmla="*/ 13299 w 13299"/>
                      <a:gd name="connsiteY1" fmla="*/ 0 h 10000"/>
                      <a:gd name="connsiteX2" fmla="*/ 11632 w 13299"/>
                      <a:gd name="connsiteY2" fmla="*/ 5000 h 10000"/>
                      <a:gd name="connsiteX3" fmla="*/ 13299 w 13299"/>
                      <a:gd name="connsiteY3" fmla="*/ 10000 h 10000"/>
                      <a:gd name="connsiteX4" fmla="*/ 7782 w 13299"/>
                      <a:gd name="connsiteY4" fmla="*/ 10000 h 10000"/>
                      <a:gd name="connsiteX5" fmla="*/ 34 w 13299"/>
                      <a:gd name="connsiteY5" fmla="*/ 5084 h 10000"/>
                      <a:gd name="connsiteX6" fmla="*/ 4966 w 13299"/>
                      <a:gd name="connsiteY6" fmla="*/ 0 h 10000"/>
                      <a:gd name="connsiteX0" fmla="*/ 4947 w 13280"/>
                      <a:gd name="connsiteY0" fmla="*/ 0 h 10000"/>
                      <a:gd name="connsiteX1" fmla="*/ 13280 w 13280"/>
                      <a:gd name="connsiteY1" fmla="*/ 0 h 10000"/>
                      <a:gd name="connsiteX2" fmla="*/ 11613 w 13280"/>
                      <a:gd name="connsiteY2" fmla="*/ 5000 h 10000"/>
                      <a:gd name="connsiteX3" fmla="*/ 13280 w 13280"/>
                      <a:gd name="connsiteY3" fmla="*/ 10000 h 10000"/>
                      <a:gd name="connsiteX4" fmla="*/ 6702 w 13280"/>
                      <a:gd name="connsiteY4" fmla="*/ 9832 h 10000"/>
                      <a:gd name="connsiteX5" fmla="*/ 15 w 13280"/>
                      <a:gd name="connsiteY5" fmla="*/ 5084 h 10000"/>
                      <a:gd name="connsiteX6" fmla="*/ 4947 w 13280"/>
                      <a:gd name="connsiteY6" fmla="*/ 0 h 10000"/>
                      <a:gd name="connsiteX0" fmla="*/ 4933 w 13266"/>
                      <a:gd name="connsiteY0" fmla="*/ 0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6688 w 13266"/>
                      <a:gd name="connsiteY4" fmla="*/ 9832 h 10000"/>
                      <a:gd name="connsiteX5" fmla="*/ 1 w 13266"/>
                      <a:gd name="connsiteY5" fmla="*/ 5084 h 10000"/>
                      <a:gd name="connsiteX6" fmla="*/ 4933 w 13266"/>
                      <a:gd name="connsiteY6" fmla="*/ 0 h 10000"/>
                      <a:gd name="connsiteX0" fmla="*/ 5711 w 13268"/>
                      <a:gd name="connsiteY0" fmla="*/ 126 h 10000"/>
                      <a:gd name="connsiteX1" fmla="*/ 13268 w 13268"/>
                      <a:gd name="connsiteY1" fmla="*/ 0 h 10000"/>
                      <a:gd name="connsiteX2" fmla="*/ 11601 w 13268"/>
                      <a:gd name="connsiteY2" fmla="*/ 5000 h 10000"/>
                      <a:gd name="connsiteX3" fmla="*/ 13268 w 13268"/>
                      <a:gd name="connsiteY3" fmla="*/ 10000 h 10000"/>
                      <a:gd name="connsiteX4" fmla="*/ 6690 w 13268"/>
                      <a:gd name="connsiteY4" fmla="*/ 9832 h 10000"/>
                      <a:gd name="connsiteX5" fmla="*/ 3 w 13268"/>
                      <a:gd name="connsiteY5" fmla="*/ 5084 h 10000"/>
                      <a:gd name="connsiteX6" fmla="*/ 5711 w 13268"/>
                      <a:gd name="connsiteY6" fmla="*/ 126 h 10000"/>
                      <a:gd name="connsiteX0" fmla="*/ 5709 w 13266"/>
                      <a:gd name="connsiteY0" fmla="*/ 126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6688 w 13266"/>
                      <a:gd name="connsiteY4" fmla="*/ 9832 h 10000"/>
                      <a:gd name="connsiteX5" fmla="*/ 1 w 13266"/>
                      <a:gd name="connsiteY5" fmla="*/ 5084 h 10000"/>
                      <a:gd name="connsiteX6" fmla="*/ 5709 w 13266"/>
                      <a:gd name="connsiteY6" fmla="*/ 126 h 10000"/>
                      <a:gd name="connsiteX0" fmla="*/ 5709 w 13266"/>
                      <a:gd name="connsiteY0" fmla="*/ 126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6688 w 13266"/>
                      <a:gd name="connsiteY4" fmla="*/ 9832 h 10000"/>
                      <a:gd name="connsiteX5" fmla="*/ 1 w 13266"/>
                      <a:gd name="connsiteY5" fmla="*/ 5084 h 10000"/>
                      <a:gd name="connsiteX6" fmla="*/ 5709 w 13266"/>
                      <a:gd name="connsiteY6" fmla="*/ 126 h 10000"/>
                      <a:gd name="connsiteX0" fmla="*/ 6688 w 13265"/>
                      <a:gd name="connsiteY0" fmla="*/ 42 h 10000"/>
                      <a:gd name="connsiteX1" fmla="*/ 13265 w 13265"/>
                      <a:gd name="connsiteY1" fmla="*/ 0 h 10000"/>
                      <a:gd name="connsiteX2" fmla="*/ 11598 w 13265"/>
                      <a:gd name="connsiteY2" fmla="*/ 5000 h 10000"/>
                      <a:gd name="connsiteX3" fmla="*/ 13265 w 13265"/>
                      <a:gd name="connsiteY3" fmla="*/ 10000 h 10000"/>
                      <a:gd name="connsiteX4" fmla="*/ 6687 w 13265"/>
                      <a:gd name="connsiteY4" fmla="*/ 9832 h 10000"/>
                      <a:gd name="connsiteX5" fmla="*/ 0 w 13265"/>
                      <a:gd name="connsiteY5" fmla="*/ 5084 h 10000"/>
                      <a:gd name="connsiteX6" fmla="*/ 6688 w 13265"/>
                      <a:gd name="connsiteY6" fmla="*/ 42 h 10000"/>
                      <a:gd name="connsiteX0" fmla="*/ 6688 w 13265"/>
                      <a:gd name="connsiteY0" fmla="*/ 42 h 9832"/>
                      <a:gd name="connsiteX1" fmla="*/ 13265 w 13265"/>
                      <a:gd name="connsiteY1" fmla="*/ 0 h 9832"/>
                      <a:gd name="connsiteX2" fmla="*/ 11598 w 13265"/>
                      <a:gd name="connsiteY2" fmla="*/ 5000 h 9832"/>
                      <a:gd name="connsiteX3" fmla="*/ 11387 w 13265"/>
                      <a:gd name="connsiteY3" fmla="*/ 9790 h 9832"/>
                      <a:gd name="connsiteX4" fmla="*/ 6687 w 13265"/>
                      <a:gd name="connsiteY4" fmla="*/ 9832 h 9832"/>
                      <a:gd name="connsiteX5" fmla="*/ 0 w 13265"/>
                      <a:gd name="connsiteY5" fmla="*/ 5084 h 9832"/>
                      <a:gd name="connsiteX6" fmla="*/ 6688 w 13265"/>
                      <a:gd name="connsiteY6" fmla="*/ 42 h 9832"/>
                      <a:gd name="connsiteX0" fmla="*/ 5042 w 10000"/>
                      <a:gd name="connsiteY0" fmla="*/ 43 h 10000"/>
                      <a:gd name="connsiteX1" fmla="*/ 10000 w 10000"/>
                      <a:gd name="connsiteY1" fmla="*/ 0 h 10000"/>
                      <a:gd name="connsiteX2" fmla="*/ 8743 w 10000"/>
                      <a:gd name="connsiteY2" fmla="*/ 5085 h 10000"/>
                      <a:gd name="connsiteX3" fmla="*/ 9692 w 10000"/>
                      <a:gd name="connsiteY3" fmla="*/ 10000 h 10000"/>
                      <a:gd name="connsiteX4" fmla="*/ 5041 w 10000"/>
                      <a:gd name="connsiteY4" fmla="*/ 10000 h 10000"/>
                      <a:gd name="connsiteX5" fmla="*/ 0 w 10000"/>
                      <a:gd name="connsiteY5" fmla="*/ 5171 h 10000"/>
                      <a:gd name="connsiteX6" fmla="*/ 5042 w 10000"/>
                      <a:gd name="connsiteY6" fmla="*/ 43 h 10000"/>
                      <a:gd name="connsiteX0" fmla="*/ 5042 w 10000"/>
                      <a:gd name="connsiteY0" fmla="*/ 43 h 10000"/>
                      <a:gd name="connsiteX1" fmla="*/ 10000 w 10000"/>
                      <a:gd name="connsiteY1" fmla="*/ 0 h 10000"/>
                      <a:gd name="connsiteX2" fmla="*/ 8743 w 10000"/>
                      <a:gd name="connsiteY2" fmla="*/ 5085 h 10000"/>
                      <a:gd name="connsiteX3" fmla="*/ 9784 w 10000"/>
                      <a:gd name="connsiteY3" fmla="*/ 10000 h 10000"/>
                      <a:gd name="connsiteX4" fmla="*/ 5041 w 10000"/>
                      <a:gd name="connsiteY4" fmla="*/ 10000 h 10000"/>
                      <a:gd name="connsiteX5" fmla="*/ 0 w 10000"/>
                      <a:gd name="connsiteY5" fmla="*/ 5171 h 10000"/>
                      <a:gd name="connsiteX6" fmla="*/ 5042 w 10000"/>
                      <a:gd name="connsiteY6" fmla="*/ 43 h 10000"/>
                      <a:gd name="connsiteX0" fmla="*/ 5042 w 9784"/>
                      <a:gd name="connsiteY0" fmla="*/ 0 h 9957"/>
                      <a:gd name="connsiteX1" fmla="*/ 9415 w 9784"/>
                      <a:gd name="connsiteY1" fmla="*/ 171 h 9957"/>
                      <a:gd name="connsiteX2" fmla="*/ 8743 w 9784"/>
                      <a:gd name="connsiteY2" fmla="*/ 5042 h 9957"/>
                      <a:gd name="connsiteX3" fmla="*/ 9784 w 9784"/>
                      <a:gd name="connsiteY3" fmla="*/ 9957 h 9957"/>
                      <a:gd name="connsiteX4" fmla="*/ 5041 w 9784"/>
                      <a:gd name="connsiteY4" fmla="*/ 9957 h 9957"/>
                      <a:gd name="connsiteX5" fmla="*/ 0 w 9784"/>
                      <a:gd name="connsiteY5" fmla="*/ 5128 h 9957"/>
                      <a:gd name="connsiteX6" fmla="*/ 5042 w 9784"/>
                      <a:gd name="connsiteY6" fmla="*/ 0 h 9957"/>
                      <a:gd name="connsiteX0" fmla="*/ 5153 w 10000"/>
                      <a:gd name="connsiteY0" fmla="*/ 0 h 10000"/>
                      <a:gd name="connsiteX1" fmla="*/ 9875 w 10000"/>
                      <a:gd name="connsiteY1" fmla="*/ 172 h 10000"/>
                      <a:gd name="connsiteX2" fmla="*/ 8936 w 10000"/>
                      <a:gd name="connsiteY2" fmla="*/ 5064 h 10000"/>
                      <a:gd name="connsiteX3" fmla="*/ 10000 w 10000"/>
                      <a:gd name="connsiteY3" fmla="*/ 10000 h 10000"/>
                      <a:gd name="connsiteX4" fmla="*/ 5152 w 10000"/>
                      <a:gd name="connsiteY4" fmla="*/ 10000 h 10000"/>
                      <a:gd name="connsiteX5" fmla="*/ 0 w 10000"/>
                      <a:gd name="connsiteY5" fmla="*/ 5150 h 10000"/>
                      <a:gd name="connsiteX6" fmla="*/ 5153 w 10000"/>
                      <a:gd name="connsiteY6" fmla="*/ 0 h 10000"/>
                      <a:gd name="connsiteX0" fmla="*/ 5153 w 10001"/>
                      <a:gd name="connsiteY0" fmla="*/ 0 h 10000"/>
                      <a:gd name="connsiteX1" fmla="*/ 10001 w 10001"/>
                      <a:gd name="connsiteY1" fmla="*/ 215 h 10000"/>
                      <a:gd name="connsiteX2" fmla="*/ 8936 w 10001"/>
                      <a:gd name="connsiteY2" fmla="*/ 5064 h 10000"/>
                      <a:gd name="connsiteX3" fmla="*/ 10000 w 10001"/>
                      <a:gd name="connsiteY3" fmla="*/ 10000 h 10000"/>
                      <a:gd name="connsiteX4" fmla="*/ 5152 w 10001"/>
                      <a:gd name="connsiteY4" fmla="*/ 10000 h 10000"/>
                      <a:gd name="connsiteX5" fmla="*/ 0 w 10001"/>
                      <a:gd name="connsiteY5" fmla="*/ 5150 h 10000"/>
                      <a:gd name="connsiteX6" fmla="*/ 5153 w 10001"/>
                      <a:gd name="connsiteY6" fmla="*/ 0 h 10000"/>
                      <a:gd name="connsiteX0" fmla="*/ 5184 w 10001"/>
                      <a:gd name="connsiteY0" fmla="*/ 43 h 9785"/>
                      <a:gd name="connsiteX1" fmla="*/ 10001 w 10001"/>
                      <a:gd name="connsiteY1" fmla="*/ 0 h 9785"/>
                      <a:gd name="connsiteX2" fmla="*/ 8936 w 10001"/>
                      <a:gd name="connsiteY2" fmla="*/ 4849 h 9785"/>
                      <a:gd name="connsiteX3" fmla="*/ 10000 w 10001"/>
                      <a:gd name="connsiteY3" fmla="*/ 9785 h 9785"/>
                      <a:gd name="connsiteX4" fmla="*/ 5152 w 10001"/>
                      <a:gd name="connsiteY4" fmla="*/ 9785 h 9785"/>
                      <a:gd name="connsiteX5" fmla="*/ 0 w 10001"/>
                      <a:gd name="connsiteY5" fmla="*/ 4935 h 9785"/>
                      <a:gd name="connsiteX6" fmla="*/ 5184 w 10001"/>
                      <a:gd name="connsiteY6" fmla="*/ 43 h 9785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340 w 10000"/>
                      <a:gd name="connsiteY4" fmla="*/ 9956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340 w 10000"/>
                      <a:gd name="connsiteY4" fmla="*/ 9956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83 w 10000"/>
                      <a:gd name="connsiteY4" fmla="*/ 9912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83 w 10000"/>
                      <a:gd name="connsiteY4" fmla="*/ 9912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83 w 10000"/>
                      <a:gd name="connsiteY4" fmla="*/ 9912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8935 w 10000"/>
                      <a:gd name="connsiteY0" fmla="*/ 4956 h 10000"/>
                      <a:gd name="connsiteX1" fmla="*/ 9999 w 10000"/>
                      <a:gd name="connsiteY1" fmla="*/ 10000 h 10000"/>
                      <a:gd name="connsiteX2" fmla="*/ 5183 w 10000"/>
                      <a:gd name="connsiteY2" fmla="*/ 9912 h 10000"/>
                      <a:gd name="connsiteX3" fmla="*/ 0 w 10000"/>
                      <a:gd name="connsiteY3" fmla="*/ 5043 h 10000"/>
                      <a:gd name="connsiteX4" fmla="*/ 5183 w 10000"/>
                      <a:gd name="connsiteY4" fmla="*/ 44 h 10000"/>
                      <a:gd name="connsiteX5" fmla="*/ 10000 w 10000"/>
                      <a:gd name="connsiteY5" fmla="*/ 0 h 10000"/>
                      <a:gd name="connsiteX6" fmla="*/ 9841 w 10000"/>
                      <a:gd name="connsiteY6" fmla="*/ 6220 h 10000"/>
                      <a:gd name="connsiteX0" fmla="*/ 8935 w 10000"/>
                      <a:gd name="connsiteY0" fmla="*/ 4956 h 10000"/>
                      <a:gd name="connsiteX1" fmla="*/ 9999 w 10000"/>
                      <a:gd name="connsiteY1" fmla="*/ 10000 h 10000"/>
                      <a:gd name="connsiteX2" fmla="*/ 5183 w 10000"/>
                      <a:gd name="connsiteY2" fmla="*/ 9912 h 10000"/>
                      <a:gd name="connsiteX3" fmla="*/ 0 w 10000"/>
                      <a:gd name="connsiteY3" fmla="*/ 5043 h 10000"/>
                      <a:gd name="connsiteX4" fmla="*/ 5183 w 10000"/>
                      <a:gd name="connsiteY4" fmla="*/ 44 h 10000"/>
                      <a:gd name="connsiteX5" fmla="*/ 10000 w 10000"/>
                      <a:gd name="connsiteY5" fmla="*/ 0 h 10000"/>
                      <a:gd name="connsiteX0" fmla="*/ 9999 w 10000"/>
                      <a:gd name="connsiteY0" fmla="*/ 10000 h 10000"/>
                      <a:gd name="connsiteX1" fmla="*/ 5183 w 10000"/>
                      <a:gd name="connsiteY1" fmla="*/ 9912 h 10000"/>
                      <a:gd name="connsiteX2" fmla="*/ 0 w 10000"/>
                      <a:gd name="connsiteY2" fmla="*/ 5043 h 10000"/>
                      <a:gd name="connsiteX3" fmla="*/ 5183 w 10000"/>
                      <a:gd name="connsiteY3" fmla="*/ 44 h 10000"/>
                      <a:gd name="connsiteX4" fmla="*/ 10000 w 10000"/>
                      <a:gd name="connsiteY4" fmla="*/ 0 h 1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000" h="10000">
                        <a:moveTo>
                          <a:pt x="9999" y="10000"/>
                        </a:moveTo>
                        <a:lnTo>
                          <a:pt x="5183" y="9912"/>
                        </a:lnTo>
                        <a:cubicBezTo>
                          <a:pt x="3060" y="9824"/>
                          <a:pt x="0" y="6688"/>
                          <a:pt x="0" y="5043"/>
                        </a:cubicBezTo>
                        <a:cubicBezTo>
                          <a:pt x="0" y="3398"/>
                          <a:pt x="2965" y="220"/>
                          <a:pt x="5183" y="44"/>
                        </a:cubicBezTo>
                        <a:lnTo>
                          <a:pt x="10000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06" name="Stored Data 71"/>
                  <p:cNvSpPr/>
                  <p:nvPr/>
                </p:nvSpPr>
                <p:spPr>
                  <a:xfrm rot="10800000">
                    <a:off x="3990333" y="3048834"/>
                    <a:ext cx="107530" cy="723601"/>
                  </a:xfrm>
                  <a:custGeom>
                    <a:avLst/>
                    <a:gdLst>
                      <a:gd name="connsiteX0" fmla="*/ 1667 w 10000"/>
                      <a:gd name="connsiteY0" fmla="*/ 0 h 10000"/>
                      <a:gd name="connsiteX1" fmla="*/ 10000 w 10000"/>
                      <a:gd name="connsiteY1" fmla="*/ 0 h 10000"/>
                      <a:gd name="connsiteX2" fmla="*/ 8333 w 10000"/>
                      <a:gd name="connsiteY2" fmla="*/ 5000 h 10000"/>
                      <a:gd name="connsiteX3" fmla="*/ 10000 w 10000"/>
                      <a:gd name="connsiteY3" fmla="*/ 10000 h 10000"/>
                      <a:gd name="connsiteX4" fmla="*/ 1667 w 10000"/>
                      <a:gd name="connsiteY4" fmla="*/ 10000 h 10000"/>
                      <a:gd name="connsiteX5" fmla="*/ 0 w 10000"/>
                      <a:gd name="connsiteY5" fmla="*/ 5000 h 10000"/>
                      <a:gd name="connsiteX6" fmla="*/ 1667 w 10000"/>
                      <a:gd name="connsiteY6" fmla="*/ 0 h 10000"/>
                      <a:gd name="connsiteX0" fmla="*/ 4932 w 13265"/>
                      <a:gd name="connsiteY0" fmla="*/ 0 h 10000"/>
                      <a:gd name="connsiteX1" fmla="*/ 13265 w 13265"/>
                      <a:gd name="connsiteY1" fmla="*/ 0 h 10000"/>
                      <a:gd name="connsiteX2" fmla="*/ 11598 w 13265"/>
                      <a:gd name="connsiteY2" fmla="*/ 5000 h 10000"/>
                      <a:gd name="connsiteX3" fmla="*/ 13265 w 13265"/>
                      <a:gd name="connsiteY3" fmla="*/ 10000 h 10000"/>
                      <a:gd name="connsiteX4" fmla="*/ 4932 w 13265"/>
                      <a:gd name="connsiteY4" fmla="*/ 10000 h 10000"/>
                      <a:gd name="connsiteX5" fmla="*/ 0 w 13265"/>
                      <a:gd name="connsiteY5" fmla="*/ 5084 h 10000"/>
                      <a:gd name="connsiteX6" fmla="*/ 4932 w 13265"/>
                      <a:gd name="connsiteY6" fmla="*/ 0 h 10000"/>
                      <a:gd name="connsiteX0" fmla="*/ 5226 w 13559"/>
                      <a:gd name="connsiteY0" fmla="*/ 0 h 10000"/>
                      <a:gd name="connsiteX1" fmla="*/ 13559 w 13559"/>
                      <a:gd name="connsiteY1" fmla="*/ 0 h 10000"/>
                      <a:gd name="connsiteX2" fmla="*/ 11892 w 13559"/>
                      <a:gd name="connsiteY2" fmla="*/ 5000 h 10000"/>
                      <a:gd name="connsiteX3" fmla="*/ 13559 w 13559"/>
                      <a:gd name="connsiteY3" fmla="*/ 10000 h 10000"/>
                      <a:gd name="connsiteX4" fmla="*/ 5226 w 13559"/>
                      <a:gd name="connsiteY4" fmla="*/ 10000 h 10000"/>
                      <a:gd name="connsiteX5" fmla="*/ 294 w 13559"/>
                      <a:gd name="connsiteY5" fmla="*/ 5084 h 10000"/>
                      <a:gd name="connsiteX6" fmla="*/ 5226 w 13559"/>
                      <a:gd name="connsiteY6" fmla="*/ 0 h 10000"/>
                      <a:gd name="connsiteX0" fmla="*/ 4933 w 13266"/>
                      <a:gd name="connsiteY0" fmla="*/ 0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4933 w 13266"/>
                      <a:gd name="connsiteY4" fmla="*/ 10000 h 10000"/>
                      <a:gd name="connsiteX5" fmla="*/ 1 w 13266"/>
                      <a:gd name="connsiteY5" fmla="*/ 5084 h 10000"/>
                      <a:gd name="connsiteX6" fmla="*/ 4933 w 13266"/>
                      <a:gd name="connsiteY6" fmla="*/ 0 h 10000"/>
                      <a:gd name="connsiteX0" fmla="*/ 4933 w 13266"/>
                      <a:gd name="connsiteY0" fmla="*/ 0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4933 w 13266"/>
                      <a:gd name="connsiteY4" fmla="*/ 10000 h 10000"/>
                      <a:gd name="connsiteX5" fmla="*/ 1 w 13266"/>
                      <a:gd name="connsiteY5" fmla="*/ 5084 h 10000"/>
                      <a:gd name="connsiteX6" fmla="*/ 4933 w 13266"/>
                      <a:gd name="connsiteY6" fmla="*/ 0 h 10000"/>
                      <a:gd name="connsiteX0" fmla="*/ 4966 w 13299"/>
                      <a:gd name="connsiteY0" fmla="*/ 0 h 10000"/>
                      <a:gd name="connsiteX1" fmla="*/ 13299 w 13299"/>
                      <a:gd name="connsiteY1" fmla="*/ 0 h 10000"/>
                      <a:gd name="connsiteX2" fmla="*/ 11632 w 13299"/>
                      <a:gd name="connsiteY2" fmla="*/ 5000 h 10000"/>
                      <a:gd name="connsiteX3" fmla="*/ 13299 w 13299"/>
                      <a:gd name="connsiteY3" fmla="*/ 10000 h 10000"/>
                      <a:gd name="connsiteX4" fmla="*/ 7782 w 13299"/>
                      <a:gd name="connsiteY4" fmla="*/ 10000 h 10000"/>
                      <a:gd name="connsiteX5" fmla="*/ 34 w 13299"/>
                      <a:gd name="connsiteY5" fmla="*/ 5084 h 10000"/>
                      <a:gd name="connsiteX6" fmla="*/ 4966 w 13299"/>
                      <a:gd name="connsiteY6" fmla="*/ 0 h 10000"/>
                      <a:gd name="connsiteX0" fmla="*/ 4947 w 13280"/>
                      <a:gd name="connsiteY0" fmla="*/ 0 h 10000"/>
                      <a:gd name="connsiteX1" fmla="*/ 13280 w 13280"/>
                      <a:gd name="connsiteY1" fmla="*/ 0 h 10000"/>
                      <a:gd name="connsiteX2" fmla="*/ 11613 w 13280"/>
                      <a:gd name="connsiteY2" fmla="*/ 5000 h 10000"/>
                      <a:gd name="connsiteX3" fmla="*/ 13280 w 13280"/>
                      <a:gd name="connsiteY3" fmla="*/ 10000 h 10000"/>
                      <a:gd name="connsiteX4" fmla="*/ 6702 w 13280"/>
                      <a:gd name="connsiteY4" fmla="*/ 9832 h 10000"/>
                      <a:gd name="connsiteX5" fmla="*/ 15 w 13280"/>
                      <a:gd name="connsiteY5" fmla="*/ 5084 h 10000"/>
                      <a:gd name="connsiteX6" fmla="*/ 4947 w 13280"/>
                      <a:gd name="connsiteY6" fmla="*/ 0 h 10000"/>
                      <a:gd name="connsiteX0" fmla="*/ 4933 w 13266"/>
                      <a:gd name="connsiteY0" fmla="*/ 0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6688 w 13266"/>
                      <a:gd name="connsiteY4" fmla="*/ 9832 h 10000"/>
                      <a:gd name="connsiteX5" fmla="*/ 1 w 13266"/>
                      <a:gd name="connsiteY5" fmla="*/ 5084 h 10000"/>
                      <a:gd name="connsiteX6" fmla="*/ 4933 w 13266"/>
                      <a:gd name="connsiteY6" fmla="*/ 0 h 10000"/>
                      <a:gd name="connsiteX0" fmla="*/ 5711 w 13268"/>
                      <a:gd name="connsiteY0" fmla="*/ 126 h 10000"/>
                      <a:gd name="connsiteX1" fmla="*/ 13268 w 13268"/>
                      <a:gd name="connsiteY1" fmla="*/ 0 h 10000"/>
                      <a:gd name="connsiteX2" fmla="*/ 11601 w 13268"/>
                      <a:gd name="connsiteY2" fmla="*/ 5000 h 10000"/>
                      <a:gd name="connsiteX3" fmla="*/ 13268 w 13268"/>
                      <a:gd name="connsiteY3" fmla="*/ 10000 h 10000"/>
                      <a:gd name="connsiteX4" fmla="*/ 6690 w 13268"/>
                      <a:gd name="connsiteY4" fmla="*/ 9832 h 10000"/>
                      <a:gd name="connsiteX5" fmla="*/ 3 w 13268"/>
                      <a:gd name="connsiteY5" fmla="*/ 5084 h 10000"/>
                      <a:gd name="connsiteX6" fmla="*/ 5711 w 13268"/>
                      <a:gd name="connsiteY6" fmla="*/ 126 h 10000"/>
                      <a:gd name="connsiteX0" fmla="*/ 5709 w 13266"/>
                      <a:gd name="connsiteY0" fmla="*/ 126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6688 w 13266"/>
                      <a:gd name="connsiteY4" fmla="*/ 9832 h 10000"/>
                      <a:gd name="connsiteX5" fmla="*/ 1 w 13266"/>
                      <a:gd name="connsiteY5" fmla="*/ 5084 h 10000"/>
                      <a:gd name="connsiteX6" fmla="*/ 5709 w 13266"/>
                      <a:gd name="connsiteY6" fmla="*/ 126 h 10000"/>
                      <a:gd name="connsiteX0" fmla="*/ 5709 w 13266"/>
                      <a:gd name="connsiteY0" fmla="*/ 126 h 10000"/>
                      <a:gd name="connsiteX1" fmla="*/ 13266 w 13266"/>
                      <a:gd name="connsiteY1" fmla="*/ 0 h 10000"/>
                      <a:gd name="connsiteX2" fmla="*/ 11599 w 13266"/>
                      <a:gd name="connsiteY2" fmla="*/ 5000 h 10000"/>
                      <a:gd name="connsiteX3" fmla="*/ 13266 w 13266"/>
                      <a:gd name="connsiteY3" fmla="*/ 10000 h 10000"/>
                      <a:gd name="connsiteX4" fmla="*/ 6688 w 13266"/>
                      <a:gd name="connsiteY4" fmla="*/ 9832 h 10000"/>
                      <a:gd name="connsiteX5" fmla="*/ 1 w 13266"/>
                      <a:gd name="connsiteY5" fmla="*/ 5084 h 10000"/>
                      <a:gd name="connsiteX6" fmla="*/ 5709 w 13266"/>
                      <a:gd name="connsiteY6" fmla="*/ 126 h 10000"/>
                      <a:gd name="connsiteX0" fmla="*/ 6688 w 13265"/>
                      <a:gd name="connsiteY0" fmla="*/ 42 h 10000"/>
                      <a:gd name="connsiteX1" fmla="*/ 13265 w 13265"/>
                      <a:gd name="connsiteY1" fmla="*/ 0 h 10000"/>
                      <a:gd name="connsiteX2" fmla="*/ 11598 w 13265"/>
                      <a:gd name="connsiteY2" fmla="*/ 5000 h 10000"/>
                      <a:gd name="connsiteX3" fmla="*/ 13265 w 13265"/>
                      <a:gd name="connsiteY3" fmla="*/ 10000 h 10000"/>
                      <a:gd name="connsiteX4" fmla="*/ 6687 w 13265"/>
                      <a:gd name="connsiteY4" fmla="*/ 9832 h 10000"/>
                      <a:gd name="connsiteX5" fmla="*/ 0 w 13265"/>
                      <a:gd name="connsiteY5" fmla="*/ 5084 h 10000"/>
                      <a:gd name="connsiteX6" fmla="*/ 6688 w 13265"/>
                      <a:gd name="connsiteY6" fmla="*/ 42 h 10000"/>
                      <a:gd name="connsiteX0" fmla="*/ 6688 w 13265"/>
                      <a:gd name="connsiteY0" fmla="*/ 42 h 9832"/>
                      <a:gd name="connsiteX1" fmla="*/ 13265 w 13265"/>
                      <a:gd name="connsiteY1" fmla="*/ 0 h 9832"/>
                      <a:gd name="connsiteX2" fmla="*/ 11598 w 13265"/>
                      <a:gd name="connsiteY2" fmla="*/ 5000 h 9832"/>
                      <a:gd name="connsiteX3" fmla="*/ 11387 w 13265"/>
                      <a:gd name="connsiteY3" fmla="*/ 9790 h 9832"/>
                      <a:gd name="connsiteX4" fmla="*/ 6687 w 13265"/>
                      <a:gd name="connsiteY4" fmla="*/ 9832 h 9832"/>
                      <a:gd name="connsiteX5" fmla="*/ 0 w 13265"/>
                      <a:gd name="connsiteY5" fmla="*/ 5084 h 9832"/>
                      <a:gd name="connsiteX6" fmla="*/ 6688 w 13265"/>
                      <a:gd name="connsiteY6" fmla="*/ 42 h 9832"/>
                      <a:gd name="connsiteX0" fmla="*/ 5042 w 10000"/>
                      <a:gd name="connsiteY0" fmla="*/ 43 h 10000"/>
                      <a:gd name="connsiteX1" fmla="*/ 10000 w 10000"/>
                      <a:gd name="connsiteY1" fmla="*/ 0 h 10000"/>
                      <a:gd name="connsiteX2" fmla="*/ 8743 w 10000"/>
                      <a:gd name="connsiteY2" fmla="*/ 5085 h 10000"/>
                      <a:gd name="connsiteX3" fmla="*/ 9692 w 10000"/>
                      <a:gd name="connsiteY3" fmla="*/ 10000 h 10000"/>
                      <a:gd name="connsiteX4" fmla="*/ 5041 w 10000"/>
                      <a:gd name="connsiteY4" fmla="*/ 10000 h 10000"/>
                      <a:gd name="connsiteX5" fmla="*/ 0 w 10000"/>
                      <a:gd name="connsiteY5" fmla="*/ 5171 h 10000"/>
                      <a:gd name="connsiteX6" fmla="*/ 5042 w 10000"/>
                      <a:gd name="connsiteY6" fmla="*/ 43 h 10000"/>
                      <a:gd name="connsiteX0" fmla="*/ 5042 w 10000"/>
                      <a:gd name="connsiteY0" fmla="*/ 43 h 10000"/>
                      <a:gd name="connsiteX1" fmla="*/ 10000 w 10000"/>
                      <a:gd name="connsiteY1" fmla="*/ 0 h 10000"/>
                      <a:gd name="connsiteX2" fmla="*/ 8743 w 10000"/>
                      <a:gd name="connsiteY2" fmla="*/ 5085 h 10000"/>
                      <a:gd name="connsiteX3" fmla="*/ 9784 w 10000"/>
                      <a:gd name="connsiteY3" fmla="*/ 10000 h 10000"/>
                      <a:gd name="connsiteX4" fmla="*/ 5041 w 10000"/>
                      <a:gd name="connsiteY4" fmla="*/ 10000 h 10000"/>
                      <a:gd name="connsiteX5" fmla="*/ 0 w 10000"/>
                      <a:gd name="connsiteY5" fmla="*/ 5171 h 10000"/>
                      <a:gd name="connsiteX6" fmla="*/ 5042 w 10000"/>
                      <a:gd name="connsiteY6" fmla="*/ 43 h 10000"/>
                      <a:gd name="connsiteX0" fmla="*/ 5042 w 9784"/>
                      <a:gd name="connsiteY0" fmla="*/ 0 h 9957"/>
                      <a:gd name="connsiteX1" fmla="*/ 9415 w 9784"/>
                      <a:gd name="connsiteY1" fmla="*/ 171 h 9957"/>
                      <a:gd name="connsiteX2" fmla="*/ 8743 w 9784"/>
                      <a:gd name="connsiteY2" fmla="*/ 5042 h 9957"/>
                      <a:gd name="connsiteX3" fmla="*/ 9784 w 9784"/>
                      <a:gd name="connsiteY3" fmla="*/ 9957 h 9957"/>
                      <a:gd name="connsiteX4" fmla="*/ 5041 w 9784"/>
                      <a:gd name="connsiteY4" fmla="*/ 9957 h 9957"/>
                      <a:gd name="connsiteX5" fmla="*/ 0 w 9784"/>
                      <a:gd name="connsiteY5" fmla="*/ 5128 h 9957"/>
                      <a:gd name="connsiteX6" fmla="*/ 5042 w 9784"/>
                      <a:gd name="connsiteY6" fmla="*/ 0 h 9957"/>
                      <a:gd name="connsiteX0" fmla="*/ 5153 w 10000"/>
                      <a:gd name="connsiteY0" fmla="*/ 0 h 10000"/>
                      <a:gd name="connsiteX1" fmla="*/ 9875 w 10000"/>
                      <a:gd name="connsiteY1" fmla="*/ 172 h 10000"/>
                      <a:gd name="connsiteX2" fmla="*/ 8936 w 10000"/>
                      <a:gd name="connsiteY2" fmla="*/ 5064 h 10000"/>
                      <a:gd name="connsiteX3" fmla="*/ 10000 w 10000"/>
                      <a:gd name="connsiteY3" fmla="*/ 10000 h 10000"/>
                      <a:gd name="connsiteX4" fmla="*/ 5152 w 10000"/>
                      <a:gd name="connsiteY4" fmla="*/ 10000 h 10000"/>
                      <a:gd name="connsiteX5" fmla="*/ 0 w 10000"/>
                      <a:gd name="connsiteY5" fmla="*/ 5150 h 10000"/>
                      <a:gd name="connsiteX6" fmla="*/ 5153 w 10000"/>
                      <a:gd name="connsiteY6" fmla="*/ 0 h 10000"/>
                      <a:gd name="connsiteX0" fmla="*/ 5153 w 10001"/>
                      <a:gd name="connsiteY0" fmla="*/ 0 h 10000"/>
                      <a:gd name="connsiteX1" fmla="*/ 10001 w 10001"/>
                      <a:gd name="connsiteY1" fmla="*/ 215 h 10000"/>
                      <a:gd name="connsiteX2" fmla="*/ 8936 w 10001"/>
                      <a:gd name="connsiteY2" fmla="*/ 5064 h 10000"/>
                      <a:gd name="connsiteX3" fmla="*/ 10000 w 10001"/>
                      <a:gd name="connsiteY3" fmla="*/ 10000 h 10000"/>
                      <a:gd name="connsiteX4" fmla="*/ 5152 w 10001"/>
                      <a:gd name="connsiteY4" fmla="*/ 10000 h 10000"/>
                      <a:gd name="connsiteX5" fmla="*/ 0 w 10001"/>
                      <a:gd name="connsiteY5" fmla="*/ 5150 h 10000"/>
                      <a:gd name="connsiteX6" fmla="*/ 5153 w 10001"/>
                      <a:gd name="connsiteY6" fmla="*/ 0 h 10000"/>
                      <a:gd name="connsiteX0" fmla="*/ 5184 w 10001"/>
                      <a:gd name="connsiteY0" fmla="*/ 43 h 9785"/>
                      <a:gd name="connsiteX1" fmla="*/ 10001 w 10001"/>
                      <a:gd name="connsiteY1" fmla="*/ 0 h 9785"/>
                      <a:gd name="connsiteX2" fmla="*/ 8936 w 10001"/>
                      <a:gd name="connsiteY2" fmla="*/ 4849 h 9785"/>
                      <a:gd name="connsiteX3" fmla="*/ 10000 w 10001"/>
                      <a:gd name="connsiteY3" fmla="*/ 9785 h 9785"/>
                      <a:gd name="connsiteX4" fmla="*/ 5152 w 10001"/>
                      <a:gd name="connsiteY4" fmla="*/ 9785 h 9785"/>
                      <a:gd name="connsiteX5" fmla="*/ 0 w 10001"/>
                      <a:gd name="connsiteY5" fmla="*/ 4935 h 9785"/>
                      <a:gd name="connsiteX6" fmla="*/ 5184 w 10001"/>
                      <a:gd name="connsiteY6" fmla="*/ 43 h 9785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51 w 10000"/>
                      <a:gd name="connsiteY4" fmla="*/ 10000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340 w 10000"/>
                      <a:gd name="connsiteY4" fmla="*/ 9956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340 w 10000"/>
                      <a:gd name="connsiteY4" fmla="*/ 9956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5183 w 10000"/>
                      <a:gd name="connsiteY0" fmla="*/ 44 h 10000"/>
                      <a:gd name="connsiteX1" fmla="*/ 10000 w 10000"/>
                      <a:gd name="connsiteY1" fmla="*/ 0 h 10000"/>
                      <a:gd name="connsiteX2" fmla="*/ 8935 w 10000"/>
                      <a:gd name="connsiteY2" fmla="*/ 4956 h 10000"/>
                      <a:gd name="connsiteX3" fmla="*/ 9999 w 10000"/>
                      <a:gd name="connsiteY3" fmla="*/ 10000 h 10000"/>
                      <a:gd name="connsiteX4" fmla="*/ 5183 w 10000"/>
                      <a:gd name="connsiteY4" fmla="*/ 9912 h 10000"/>
                      <a:gd name="connsiteX5" fmla="*/ 0 w 10000"/>
                      <a:gd name="connsiteY5" fmla="*/ 5043 h 10000"/>
                      <a:gd name="connsiteX6" fmla="*/ 5183 w 10000"/>
                      <a:gd name="connsiteY6" fmla="*/ 44 h 10000"/>
                      <a:gd name="connsiteX0" fmla="*/ 603 w 5420"/>
                      <a:gd name="connsiteY0" fmla="*/ 44 h 10000"/>
                      <a:gd name="connsiteX1" fmla="*/ 5420 w 5420"/>
                      <a:gd name="connsiteY1" fmla="*/ 0 h 10000"/>
                      <a:gd name="connsiteX2" fmla="*/ 4355 w 5420"/>
                      <a:gd name="connsiteY2" fmla="*/ 4956 h 10000"/>
                      <a:gd name="connsiteX3" fmla="*/ 5419 w 5420"/>
                      <a:gd name="connsiteY3" fmla="*/ 10000 h 10000"/>
                      <a:gd name="connsiteX4" fmla="*/ 603 w 5420"/>
                      <a:gd name="connsiteY4" fmla="*/ 9912 h 10000"/>
                      <a:gd name="connsiteX5" fmla="*/ 603 w 5420"/>
                      <a:gd name="connsiteY5" fmla="*/ 44 h 10000"/>
                      <a:gd name="connsiteX0" fmla="*/ 1112 w 9999"/>
                      <a:gd name="connsiteY0" fmla="*/ 9912 h 11176"/>
                      <a:gd name="connsiteX1" fmla="*/ 1112 w 9999"/>
                      <a:gd name="connsiteY1" fmla="*/ 44 h 11176"/>
                      <a:gd name="connsiteX2" fmla="*/ 9999 w 9999"/>
                      <a:gd name="connsiteY2" fmla="*/ 0 h 11176"/>
                      <a:gd name="connsiteX3" fmla="*/ 8034 w 9999"/>
                      <a:gd name="connsiteY3" fmla="*/ 4956 h 11176"/>
                      <a:gd name="connsiteX4" fmla="*/ 9997 w 9999"/>
                      <a:gd name="connsiteY4" fmla="*/ 10000 h 11176"/>
                      <a:gd name="connsiteX5" fmla="*/ 2783 w 9999"/>
                      <a:gd name="connsiteY5" fmla="*/ 11176 h 11176"/>
                      <a:gd name="connsiteX0" fmla="*/ 1112 w 10000"/>
                      <a:gd name="connsiteY0" fmla="*/ 8869 h 8948"/>
                      <a:gd name="connsiteX1" fmla="*/ 1112 w 10000"/>
                      <a:gd name="connsiteY1" fmla="*/ 39 h 8948"/>
                      <a:gd name="connsiteX2" fmla="*/ 10000 w 10000"/>
                      <a:gd name="connsiteY2" fmla="*/ 0 h 8948"/>
                      <a:gd name="connsiteX3" fmla="*/ 8035 w 10000"/>
                      <a:gd name="connsiteY3" fmla="*/ 4435 h 8948"/>
                      <a:gd name="connsiteX4" fmla="*/ 9998 w 10000"/>
                      <a:gd name="connsiteY4" fmla="*/ 8948 h 8948"/>
                      <a:gd name="connsiteX0" fmla="*/ 0 w 8888"/>
                      <a:gd name="connsiteY0" fmla="*/ 44 h 10000"/>
                      <a:gd name="connsiteX1" fmla="*/ 8888 w 8888"/>
                      <a:gd name="connsiteY1" fmla="*/ 0 h 10000"/>
                      <a:gd name="connsiteX2" fmla="*/ 6923 w 8888"/>
                      <a:gd name="connsiteY2" fmla="*/ 4956 h 10000"/>
                      <a:gd name="connsiteX3" fmla="*/ 8886 w 8888"/>
                      <a:gd name="connsiteY3" fmla="*/ 10000 h 10000"/>
                      <a:gd name="connsiteX0" fmla="*/ 2211 w 2211"/>
                      <a:gd name="connsiteY0" fmla="*/ 0 h 10000"/>
                      <a:gd name="connsiteX1" fmla="*/ 0 w 2211"/>
                      <a:gd name="connsiteY1" fmla="*/ 4956 h 10000"/>
                      <a:gd name="connsiteX2" fmla="*/ 2209 w 2211"/>
                      <a:gd name="connsiteY2" fmla="*/ 10000 h 1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11" h="10000">
                        <a:moveTo>
                          <a:pt x="2211" y="0"/>
                        </a:moveTo>
                        <a:cubicBezTo>
                          <a:pt x="739" y="0"/>
                          <a:pt x="0" y="3289"/>
                          <a:pt x="0" y="4956"/>
                        </a:cubicBezTo>
                        <a:cubicBezTo>
                          <a:pt x="0" y="6622"/>
                          <a:pt x="737" y="10000"/>
                          <a:pt x="2209" y="10000"/>
                        </a:cubicBez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sp>
              <p:nvSpPr>
                <p:cNvPr id="86" name="CaixaDeTexto 85"/>
                <p:cNvSpPr txBox="1"/>
                <p:nvPr/>
              </p:nvSpPr>
              <p:spPr>
                <a:xfrm>
                  <a:off x="588066" y="2765771"/>
                  <a:ext cx="3177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dirty="0" smtClean="0">
                      <a:noFill/>
                    </a:rPr>
                    <a:t>A</a:t>
                  </a:r>
                  <a:endParaRPr lang="pt-BR" dirty="0">
                    <a:noFill/>
                  </a:endParaRPr>
                </a:p>
              </p:txBody>
            </p:sp>
            <p:sp>
              <p:nvSpPr>
                <p:cNvPr id="87" name="CaixaDeTexto 86"/>
                <p:cNvSpPr txBox="1"/>
                <p:nvPr/>
              </p:nvSpPr>
              <p:spPr>
                <a:xfrm>
                  <a:off x="590208" y="3128353"/>
                  <a:ext cx="3177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dirty="0" smtClean="0">
                      <a:noFill/>
                    </a:rPr>
                    <a:t>A</a:t>
                  </a:r>
                  <a:endParaRPr lang="pt-BR" dirty="0">
                    <a:noFill/>
                  </a:endParaRPr>
                </a:p>
              </p:txBody>
            </p:sp>
          </p:grpSp>
          <p:sp>
            <p:nvSpPr>
              <p:cNvPr id="107" name="Elipse 106"/>
              <p:cNvSpPr/>
              <p:nvPr/>
            </p:nvSpPr>
            <p:spPr>
              <a:xfrm>
                <a:off x="2609416" y="1746487"/>
                <a:ext cx="49471" cy="4571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08" name="CaixaDeTexto 107"/>
            <p:cNvSpPr txBox="1"/>
            <p:nvPr/>
          </p:nvSpPr>
          <p:spPr>
            <a:xfrm>
              <a:off x="2598840" y="1669505"/>
              <a:ext cx="145661" cy="198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</p:grpSp>
      <p:grpSp>
        <p:nvGrpSpPr>
          <p:cNvPr id="109" name="Agrupar 57"/>
          <p:cNvGrpSpPr/>
          <p:nvPr/>
        </p:nvGrpSpPr>
        <p:grpSpPr>
          <a:xfrm>
            <a:off x="2093622" y="564201"/>
            <a:ext cx="395085" cy="268235"/>
            <a:chOff x="768499" y="627435"/>
            <a:chExt cx="1341495" cy="752875"/>
          </a:xfrm>
        </p:grpSpPr>
        <p:cxnSp>
          <p:nvCxnSpPr>
            <p:cNvPr id="110" name="Straight Connector 98"/>
            <p:cNvCxnSpPr>
              <a:stCxn id="113" idx="0"/>
            </p:cNvCxnSpPr>
            <p:nvPr/>
          </p:nvCxnSpPr>
          <p:spPr>
            <a:xfrm>
              <a:off x="1823726" y="1003874"/>
              <a:ext cx="28626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97"/>
            <p:cNvCxnSpPr/>
            <p:nvPr/>
          </p:nvCxnSpPr>
          <p:spPr>
            <a:xfrm flipV="1">
              <a:off x="768499" y="1006664"/>
              <a:ext cx="415107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riangle 100"/>
            <p:cNvSpPr/>
            <p:nvPr/>
          </p:nvSpPr>
          <p:spPr>
            <a:xfrm rot="5400000">
              <a:off x="1122772" y="679358"/>
              <a:ext cx="752875" cy="649030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CaixaDeTexto 113"/>
            <p:cNvSpPr txBox="1"/>
            <p:nvPr/>
          </p:nvSpPr>
          <p:spPr>
            <a:xfrm>
              <a:off x="782298" y="821899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  <p:sp>
          <p:nvSpPr>
            <p:cNvPr id="115" name="CaixaDeTexto 114"/>
            <p:cNvSpPr txBox="1"/>
            <p:nvPr/>
          </p:nvSpPr>
          <p:spPr>
            <a:xfrm>
              <a:off x="1772020" y="819205"/>
              <a:ext cx="3177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noFill/>
                </a:rPr>
                <a:t>A</a:t>
              </a:r>
              <a:endParaRPr lang="pt-BR" dirty="0">
                <a:noFill/>
              </a:endParaRPr>
            </a:p>
          </p:txBody>
        </p:sp>
      </p:grpSp>
      <p:grpSp>
        <p:nvGrpSpPr>
          <p:cNvPr id="116" name="Grupo 115"/>
          <p:cNvGrpSpPr/>
          <p:nvPr/>
        </p:nvGrpSpPr>
        <p:grpSpPr>
          <a:xfrm>
            <a:off x="3447749" y="980838"/>
            <a:ext cx="918665" cy="792446"/>
            <a:chOff x="1696660" y="173489"/>
            <a:chExt cx="918665" cy="792446"/>
          </a:xfrm>
        </p:grpSpPr>
        <p:cxnSp>
          <p:nvCxnSpPr>
            <p:cNvPr id="117" name="Straight Connector 27"/>
            <p:cNvCxnSpPr/>
            <p:nvPr/>
          </p:nvCxnSpPr>
          <p:spPr>
            <a:xfrm flipV="1">
              <a:off x="1696660" y="851201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28"/>
            <p:cNvCxnSpPr/>
            <p:nvPr/>
          </p:nvCxnSpPr>
          <p:spPr>
            <a:xfrm flipV="1">
              <a:off x="1696663" y="519247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29"/>
            <p:cNvCxnSpPr/>
            <p:nvPr/>
          </p:nvCxnSpPr>
          <p:spPr>
            <a:xfrm flipV="1">
              <a:off x="2352072" y="672980"/>
              <a:ext cx="263253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29"/>
            <p:cNvCxnSpPr/>
            <p:nvPr/>
          </p:nvCxnSpPr>
          <p:spPr>
            <a:xfrm flipV="1">
              <a:off x="2232293" y="173489"/>
              <a:ext cx="0" cy="19962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CaixaDeTexto 120"/>
            <p:cNvSpPr txBox="1"/>
            <p:nvPr/>
          </p:nvSpPr>
          <p:spPr>
            <a:xfrm>
              <a:off x="2138781" y="763733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1</a:t>
              </a:r>
              <a:endParaRPr lang="pt-BR" sz="1000" dirty="0">
                <a:latin typeface="Arial Narrow" panose="020B0606020202030204" pitchFamily="34" charset="0"/>
              </a:endParaRPr>
            </a:p>
          </p:txBody>
        </p:sp>
        <p:sp>
          <p:nvSpPr>
            <p:cNvPr id="122" name="CaixaDeTexto 121"/>
            <p:cNvSpPr txBox="1"/>
            <p:nvPr/>
          </p:nvSpPr>
          <p:spPr>
            <a:xfrm>
              <a:off x="2138719" y="435948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123" name="CaixaDeTexto 122"/>
            <p:cNvSpPr txBox="1"/>
            <p:nvPr/>
          </p:nvSpPr>
          <p:spPr>
            <a:xfrm>
              <a:off x="2196427" y="476319"/>
              <a:ext cx="169405" cy="350670"/>
            </a:xfrm>
            <a:prstGeom prst="rect">
              <a:avLst/>
            </a:prstGeom>
            <a:noFill/>
          </p:spPr>
          <p:txBody>
            <a:bodyPr vert="wordArtVert" wrap="square" lIns="0" tIns="0" rIns="0" bIns="0" rtlCol="0">
              <a:spAutoFit/>
            </a:bodyPr>
            <a:lstStyle/>
            <a:p>
              <a:r>
                <a:rPr lang="pt-BR" sz="1000" spc="-600" dirty="0" err="1" smtClean="0">
                  <a:latin typeface="Arial Narrow" panose="020B0606020202030204" pitchFamily="34" charset="0"/>
                </a:rPr>
                <a:t>Mux</a:t>
              </a:r>
              <a:endParaRPr lang="pt-BR" sz="1000" spc="-600" dirty="0">
                <a:latin typeface="Arial Narrow" panose="020B0606020202030204" pitchFamily="34" charset="0"/>
              </a:endParaRPr>
            </a:p>
          </p:txBody>
        </p:sp>
        <p:sp>
          <p:nvSpPr>
            <p:cNvPr id="124" name="Arco 123"/>
            <p:cNvSpPr/>
            <p:nvPr/>
          </p:nvSpPr>
          <p:spPr>
            <a:xfrm>
              <a:off x="2111770" y="370747"/>
              <a:ext cx="241042" cy="280907"/>
            </a:xfrm>
            <a:prstGeom prst="arc">
              <a:avLst>
                <a:gd name="adj1" fmla="val 10791467"/>
                <a:gd name="adj2" fmla="val 44356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5" name="Arco 124"/>
            <p:cNvSpPr/>
            <p:nvPr/>
          </p:nvSpPr>
          <p:spPr>
            <a:xfrm flipV="1">
              <a:off x="2111768" y="703583"/>
              <a:ext cx="241044" cy="262352"/>
            </a:xfrm>
            <a:prstGeom prst="arc">
              <a:avLst>
                <a:gd name="adj1" fmla="val 10791467"/>
                <a:gd name="adj2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6" name="Conector reto 125"/>
            <p:cNvCxnSpPr>
              <a:stCxn id="125" idx="0"/>
              <a:endCxn id="124" idx="0"/>
            </p:cNvCxnSpPr>
            <p:nvPr/>
          </p:nvCxnSpPr>
          <p:spPr>
            <a:xfrm flipV="1">
              <a:off x="2111768" y="511500"/>
              <a:ext cx="2" cy="3229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ector reto 126"/>
            <p:cNvCxnSpPr>
              <a:stCxn id="125" idx="2"/>
              <a:endCxn id="124" idx="2"/>
            </p:cNvCxnSpPr>
            <p:nvPr/>
          </p:nvCxnSpPr>
          <p:spPr>
            <a:xfrm flipH="1" flipV="1">
              <a:off x="2352072" y="526742"/>
              <a:ext cx="740" cy="308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upo 127"/>
          <p:cNvGrpSpPr/>
          <p:nvPr/>
        </p:nvGrpSpPr>
        <p:grpSpPr>
          <a:xfrm>
            <a:off x="4858308" y="1039845"/>
            <a:ext cx="922133" cy="968007"/>
            <a:chOff x="3107219" y="232496"/>
            <a:chExt cx="922133" cy="968007"/>
          </a:xfrm>
        </p:grpSpPr>
        <p:cxnSp>
          <p:nvCxnSpPr>
            <p:cNvPr id="129" name="Straight Connector 27"/>
            <p:cNvCxnSpPr/>
            <p:nvPr/>
          </p:nvCxnSpPr>
          <p:spPr>
            <a:xfrm flipV="1">
              <a:off x="3107219" y="1085769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28"/>
            <p:cNvCxnSpPr/>
            <p:nvPr/>
          </p:nvCxnSpPr>
          <p:spPr>
            <a:xfrm flipV="1">
              <a:off x="3113418" y="578254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29"/>
            <p:cNvCxnSpPr/>
            <p:nvPr/>
          </p:nvCxnSpPr>
          <p:spPr>
            <a:xfrm flipV="1">
              <a:off x="3766099" y="826989"/>
              <a:ext cx="263253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29"/>
            <p:cNvCxnSpPr/>
            <p:nvPr/>
          </p:nvCxnSpPr>
          <p:spPr>
            <a:xfrm flipV="1">
              <a:off x="3649048" y="232496"/>
              <a:ext cx="0" cy="19962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CaixaDeTexto 132"/>
            <p:cNvSpPr txBox="1"/>
            <p:nvPr/>
          </p:nvSpPr>
          <p:spPr>
            <a:xfrm>
              <a:off x="3549340" y="998301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3</a:t>
              </a:r>
            </a:p>
          </p:txBody>
        </p:sp>
        <p:sp>
          <p:nvSpPr>
            <p:cNvPr id="134" name="CaixaDeTexto 133"/>
            <p:cNvSpPr txBox="1"/>
            <p:nvPr/>
          </p:nvSpPr>
          <p:spPr>
            <a:xfrm>
              <a:off x="3555474" y="494955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135" name="CaixaDeTexto 134"/>
            <p:cNvSpPr txBox="1"/>
            <p:nvPr/>
          </p:nvSpPr>
          <p:spPr>
            <a:xfrm>
              <a:off x="3607048" y="615265"/>
              <a:ext cx="169405" cy="350670"/>
            </a:xfrm>
            <a:prstGeom prst="rect">
              <a:avLst/>
            </a:prstGeom>
            <a:noFill/>
          </p:spPr>
          <p:txBody>
            <a:bodyPr vert="wordArtVert" wrap="square" lIns="0" tIns="0" rIns="0" bIns="0" rtlCol="0">
              <a:spAutoFit/>
            </a:bodyPr>
            <a:lstStyle/>
            <a:p>
              <a:r>
                <a:rPr lang="pt-BR" sz="1000" spc="-600" dirty="0" err="1" smtClean="0">
                  <a:latin typeface="Arial Narrow" panose="020B0606020202030204" pitchFamily="34" charset="0"/>
                </a:rPr>
                <a:t>Mux</a:t>
              </a:r>
              <a:endParaRPr lang="pt-BR" sz="1000" spc="-600" dirty="0">
                <a:latin typeface="Arial Narrow" panose="020B0606020202030204" pitchFamily="34" charset="0"/>
              </a:endParaRPr>
            </a:p>
          </p:txBody>
        </p:sp>
        <p:sp>
          <p:nvSpPr>
            <p:cNvPr id="136" name="Arco 135"/>
            <p:cNvSpPr/>
            <p:nvPr/>
          </p:nvSpPr>
          <p:spPr>
            <a:xfrm>
              <a:off x="3528525" y="429754"/>
              <a:ext cx="241042" cy="280907"/>
            </a:xfrm>
            <a:prstGeom prst="arc">
              <a:avLst>
                <a:gd name="adj1" fmla="val 10791467"/>
                <a:gd name="adj2" fmla="val 44356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7" name="Arco 136"/>
            <p:cNvSpPr/>
            <p:nvPr/>
          </p:nvSpPr>
          <p:spPr>
            <a:xfrm flipV="1">
              <a:off x="3522327" y="938151"/>
              <a:ext cx="241044" cy="262352"/>
            </a:xfrm>
            <a:prstGeom prst="arc">
              <a:avLst>
                <a:gd name="adj1" fmla="val 10791467"/>
                <a:gd name="adj2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8" name="Conector reto 137"/>
            <p:cNvCxnSpPr>
              <a:stCxn id="137" idx="0"/>
              <a:endCxn id="136" idx="0"/>
            </p:cNvCxnSpPr>
            <p:nvPr/>
          </p:nvCxnSpPr>
          <p:spPr>
            <a:xfrm flipV="1">
              <a:off x="3522327" y="570507"/>
              <a:ext cx="6198" cy="4985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reto 138"/>
            <p:cNvCxnSpPr>
              <a:stCxn id="137" idx="2"/>
              <a:endCxn id="136" idx="2"/>
            </p:cNvCxnSpPr>
            <p:nvPr/>
          </p:nvCxnSpPr>
          <p:spPr>
            <a:xfrm flipV="1">
              <a:off x="3763371" y="585749"/>
              <a:ext cx="5456" cy="4835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27"/>
            <p:cNvCxnSpPr/>
            <p:nvPr/>
          </p:nvCxnSpPr>
          <p:spPr>
            <a:xfrm flipV="1">
              <a:off x="3113887" y="745683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27"/>
            <p:cNvCxnSpPr/>
            <p:nvPr/>
          </p:nvCxnSpPr>
          <p:spPr>
            <a:xfrm flipV="1">
              <a:off x="3110319" y="913304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CaixaDeTexto 141"/>
            <p:cNvSpPr txBox="1"/>
            <p:nvPr/>
          </p:nvSpPr>
          <p:spPr>
            <a:xfrm>
              <a:off x="3549340" y="668740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1</a:t>
              </a:r>
              <a:endParaRPr lang="pt-BR" sz="1000" dirty="0">
                <a:latin typeface="Arial Narrow" panose="020B0606020202030204" pitchFamily="34" charset="0"/>
              </a:endParaRPr>
            </a:p>
          </p:txBody>
        </p:sp>
        <p:sp>
          <p:nvSpPr>
            <p:cNvPr id="143" name="CaixaDeTexto 142"/>
            <p:cNvSpPr txBox="1"/>
            <p:nvPr/>
          </p:nvSpPr>
          <p:spPr>
            <a:xfrm>
              <a:off x="3549340" y="836361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2</a:t>
              </a:r>
              <a:endParaRPr lang="pt-BR" sz="1000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144" name="Grupo 143"/>
          <p:cNvGrpSpPr/>
          <p:nvPr/>
        </p:nvGrpSpPr>
        <p:grpSpPr>
          <a:xfrm>
            <a:off x="6180877" y="1069028"/>
            <a:ext cx="922491" cy="968007"/>
            <a:chOff x="4429788" y="261679"/>
            <a:chExt cx="922491" cy="968007"/>
          </a:xfrm>
        </p:grpSpPr>
        <p:cxnSp>
          <p:nvCxnSpPr>
            <p:cNvPr id="145" name="Straight Connector 27"/>
            <p:cNvCxnSpPr/>
            <p:nvPr/>
          </p:nvCxnSpPr>
          <p:spPr>
            <a:xfrm flipV="1">
              <a:off x="4430146" y="1114952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28"/>
            <p:cNvCxnSpPr/>
            <p:nvPr/>
          </p:nvCxnSpPr>
          <p:spPr>
            <a:xfrm flipV="1">
              <a:off x="4436345" y="607437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29"/>
            <p:cNvCxnSpPr/>
            <p:nvPr/>
          </p:nvCxnSpPr>
          <p:spPr>
            <a:xfrm flipV="1">
              <a:off x="5089026" y="856172"/>
              <a:ext cx="263253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29"/>
            <p:cNvCxnSpPr/>
            <p:nvPr/>
          </p:nvCxnSpPr>
          <p:spPr>
            <a:xfrm flipV="1">
              <a:off x="4971975" y="261679"/>
              <a:ext cx="0" cy="19962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CaixaDeTexto 148"/>
            <p:cNvSpPr txBox="1"/>
            <p:nvPr/>
          </p:nvSpPr>
          <p:spPr>
            <a:xfrm>
              <a:off x="4872267" y="1027484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2</a:t>
              </a:r>
              <a:endParaRPr lang="pt-BR" sz="1000" dirty="0">
                <a:latin typeface="Arial Narrow" panose="020B0606020202030204" pitchFamily="34" charset="0"/>
              </a:endParaRPr>
            </a:p>
          </p:txBody>
        </p:sp>
        <p:sp>
          <p:nvSpPr>
            <p:cNvPr id="150" name="CaixaDeTexto 149"/>
            <p:cNvSpPr txBox="1"/>
            <p:nvPr/>
          </p:nvSpPr>
          <p:spPr>
            <a:xfrm>
              <a:off x="4878401" y="524138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151" name="CaixaDeTexto 150"/>
            <p:cNvSpPr txBox="1"/>
            <p:nvPr/>
          </p:nvSpPr>
          <p:spPr>
            <a:xfrm>
              <a:off x="4929975" y="644448"/>
              <a:ext cx="169405" cy="350670"/>
            </a:xfrm>
            <a:prstGeom prst="rect">
              <a:avLst/>
            </a:prstGeom>
            <a:noFill/>
          </p:spPr>
          <p:txBody>
            <a:bodyPr vert="wordArtVert" wrap="square" lIns="0" tIns="0" rIns="0" bIns="0" rtlCol="0">
              <a:spAutoFit/>
            </a:bodyPr>
            <a:lstStyle/>
            <a:p>
              <a:r>
                <a:rPr lang="pt-BR" sz="1000" spc="-600" dirty="0" err="1" smtClean="0">
                  <a:latin typeface="Arial Narrow" panose="020B0606020202030204" pitchFamily="34" charset="0"/>
                </a:rPr>
                <a:t>Mux</a:t>
              </a:r>
              <a:endParaRPr lang="pt-BR" sz="1000" spc="-600" dirty="0">
                <a:latin typeface="Arial Narrow" panose="020B0606020202030204" pitchFamily="34" charset="0"/>
              </a:endParaRPr>
            </a:p>
          </p:txBody>
        </p:sp>
        <p:sp>
          <p:nvSpPr>
            <p:cNvPr id="152" name="Arco 151"/>
            <p:cNvSpPr/>
            <p:nvPr/>
          </p:nvSpPr>
          <p:spPr>
            <a:xfrm>
              <a:off x="4851452" y="458937"/>
              <a:ext cx="241042" cy="280907"/>
            </a:xfrm>
            <a:prstGeom prst="arc">
              <a:avLst>
                <a:gd name="adj1" fmla="val 10791467"/>
                <a:gd name="adj2" fmla="val 44356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3" name="Arco 152"/>
            <p:cNvSpPr/>
            <p:nvPr/>
          </p:nvSpPr>
          <p:spPr>
            <a:xfrm flipV="1">
              <a:off x="4845254" y="967334"/>
              <a:ext cx="241044" cy="262352"/>
            </a:xfrm>
            <a:prstGeom prst="arc">
              <a:avLst>
                <a:gd name="adj1" fmla="val 10791467"/>
                <a:gd name="adj2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4" name="Conector reto 153"/>
            <p:cNvCxnSpPr>
              <a:stCxn id="153" idx="0"/>
              <a:endCxn id="152" idx="0"/>
            </p:cNvCxnSpPr>
            <p:nvPr/>
          </p:nvCxnSpPr>
          <p:spPr>
            <a:xfrm flipV="1">
              <a:off x="4845254" y="599690"/>
              <a:ext cx="6198" cy="4985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ector reto 154"/>
            <p:cNvCxnSpPr>
              <a:stCxn id="153" idx="2"/>
              <a:endCxn id="152" idx="2"/>
            </p:cNvCxnSpPr>
            <p:nvPr/>
          </p:nvCxnSpPr>
          <p:spPr>
            <a:xfrm flipV="1">
              <a:off x="5086298" y="614932"/>
              <a:ext cx="5456" cy="4835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CaixaDeTexto 155"/>
            <p:cNvSpPr txBox="1"/>
            <p:nvPr/>
          </p:nvSpPr>
          <p:spPr>
            <a:xfrm>
              <a:off x="4872267" y="779228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1</a:t>
              </a:r>
            </a:p>
          </p:txBody>
        </p:sp>
        <p:cxnSp>
          <p:nvCxnSpPr>
            <p:cNvPr id="157" name="Straight Connector 27"/>
            <p:cNvCxnSpPr/>
            <p:nvPr/>
          </p:nvCxnSpPr>
          <p:spPr>
            <a:xfrm flipV="1">
              <a:off x="4429788" y="856773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upo 157"/>
          <p:cNvGrpSpPr/>
          <p:nvPr/>
        </p:nvGrpSpPr>
        <p:grpSpPr>
          <a:xfrm>
            <a:off x="7754188" y="1199358"/>
            <a:ext cx="322545" cy="829756"/>
            <a:chOff x="6325644" y="370747"/>
            <a:chExt cx="322545" cy="829756"/>
          </a:xfrm>
        </p:grpSpPr>
        <p:cxnSp>
          <p:nvCxnSpPr>
            <p:cNvPr id="159" name="Conector reto 158"/>
            <p:cNvCxnSpPr/>
            <p:nvPr/>
          </p:nvCxnSpPr>
          <p:spPr>
            <a:xfrm>
              <a:off x="6325644" y="370747"/>
              <a:ext cx="0" cy="3399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to 159"/>
            <p:cNvCxnSpPr/>
            <p:nvPr/>
          </p:nvCxnSpPr>
          <p:spPr>
            <a:xfrm>
              <a:off x="6325644" y="373117"/>
              <a:ext cx="322545" cy="2167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to 160"/>
            <p:cNvCxnSpPr/>
            <p:nvPr/>
          </p:nvCxnSpPr>
          <p:spPr>
            <a:xfrm flipV="1">
              <a:off x="6325644" y="983784"/>
              <a:ext cx="322545" cy="2167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to 161"/>
            <p:cNvCxnSpPr/>
            <p:nvPr/>
          </p:nvCxnSpPr>
          <p:spPr>
            <a:xfrm>
              <a:off x="6648189" y="589836"/>
              <a:ext cx="0" cy="3968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to 162"/>
            <p:cNvCxnSpPr/>
            <p:nvPr/>
          </p:nvCxnSpPr>
          <p:spPr>
            <a:xfrm>
              <a:off x="6325644" y="710661"/>
              <a:ext cx="99164" cy="706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to 163"/>
            <p:cNvCxnSpPr/>
            <p:nvPr/>
          </p:nvCxnSpPr>
          <p:spPr>
            <a:xfrm flipV="1">
              <a:off x="6325644" y="779229"/>
              <a:ext cx="99164" cy="614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to 164"/>
            <p:cNvCxnSpPr/>
            <p:nvPr/>
          </p:nvCxnSpPr>
          <p:spPr>
            <a:xfrm>
              <a:off x="6325644" y="840677"/>
              <a:ext cx="0" cy="3574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o 41"/>
          <p:cNvGrpSpPr/>
          <p:nvPr/>
        </p:nvGrpSpPr>
        <p:grpSpPr>
          <a:xfrm>
            <a:off x="4035294" y="2591522"/>
            <a:ext cx="415262" cy="450701"/>
            <a:chOff x="4035294" y="2591522"/>
            <a:chExt cx="415262" cy="450701"/>
          </a:xfrm>
        </p:grpSpPr>
        <p:grpSp>
          <p:nvGrpSpPr>
            <p:cNvPr id="40" name="Grupo 39"/>
            <p:cNvGrpSpPr/>
            <p:nvPr/>
          </p:nvGrpSpPr>
          <p:grpSpPr>
            <a:xfrm>
              <a:off x="4080175" y="2591522"/>
              <a:ext cx="286239" cy="450701"/>
              <a:chOff x="4080175" y="2591522"/>
              <a:chExt cx="286239" cy="450701"/>
            </a:xfrm>
          </p:grpSpPr>
          <p:cxnSp>
            <p:nvCxnSpPr>
              <p:cNvPr id="5" name="Conector reto 4"/>
              <p:cNvCxnSpPr/>
              <p:nvPr/>
            </p:nvCxnSpPr>
            <p:spPr>
              <a:xfrm>
                <a:off x="4194973" y="2706397"/>
                <a:ext cx="0" cy="21661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Conector reto 165"/>
              <p:cNvCxnSpPr/>
              <p:nvPr/>
            </p:nvCxnSpPr>
            <p:spPr>
              <a:xfrm>
                <a:off x="4252845" y="2712865"/>
                <a:ext cx="0" cy="208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onector reto 166"/>
              <p:cNvCxnSpPr/>
              <p:nvPr/>
            </p:nvCxnSpPr>
            <p:spPr>
              <a:xfrm>
                <a:off x="4252845" y="2712865"/>
                <a:ext cx="11356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Conector reto 167"/>
              <p:cNvCxnSpPr/>
              <p:nvPr/>
            </p:nvCxnSpPr>
            <p:spPr>
              <a:xfrm>
                <a:off x="4252845" y="2920880"/>
                <a:ext cx="11356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Conector reto 168"/>
              <p:cNvCxnSpPr/>
              <p:nvPr/>
            </p:nvCxnSpPr>
            <p:spPr>
              <a:xfrm>
                <a:off x="4362385" y="2591522"/>
                <a:ext cx="0" cy="1213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Conector reto 170"/>
              <p:cNvCxnSpPr/>
              <p:nvPr/>
            </p:nvCxnSpPr>
            <p:spPr>
              <a:xfrm>
                <a:off x="4080175" y="2813261"/>
                <a:ext cx="11356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Conector reto 171"/>
              <p:cNvCxnSpPr/>
              <p:nvPr/>
            </p:nvCxnSpPr>
            <p:spPr>
              <a:xfrm>
                <a:off x="4362320" y="2920880"/>
                <a:ext cx="0" cy="1213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CaixaDeTexto 40"/>
            <p:cNvSpPr txBox="1"/>
            <p:nvPr/>
          </p:nvSpPr>
          <p:spPr>
            <a:xfrm>
              <a:off x="4395788" y="2591522"/>
              <a:ext cx="5476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73" name="CaixaDeTexto 172"/>
            <p:cNvSpPr txBox="1"/>
            <p:nvPr/>
          </p:nvSpPr>
          <p:spPr>
            <a:xfrm>
              <a:off x="4391025" y="2888335"/>
              <a:ext cx="5476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  <a:cs typeface="Arial" panose="020B0604020202020204" pitchFamily="34" charset="0"/>
                </a:rPr>
                <a:t>s</a:t>
              </a:r>
              <a:endParaRPr lang="pt-BR" sz="1000" dirty="0">
                <a:latin typeface="Arial Narrow" panose="020B0606020202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CaixaDeTexto 173"/>
            <p:cNvSpPr txBox="1"/>
            <p:nvPr/>
          </p:nvSpPr>
          <p:spPr>
            <a:xfrm>
              <a:off x="4035294" y="2629453"/>
              <a:ext cx="5476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  <a:cs typeface="Arial" panose="020B0604020202020204" pitchFamily="34" charset="0"/>
                </a:rPr>
                <a:t>g</a:t>
              </a:r>
              <a:endParaRPr lang="pt-BR" sz="1000" dirty="0">
                <a:latin typeface="Arial Narrow" panose="020B0606020202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CaixaDeTexto 174"/>
            <p:cNvSpPr txBox="1"/>
            <p:nvPr/>
          </p:nvSpPr>
          <p:spPr>
            <a:xfrm>
              <a:off x="4088422" y="2738267"/>
              <a:ext cx="54768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76" name="CaixaDeTexto 175"/>
            <p:cNvSpPr txBox="1"/>
            <p:nvPr/>
          </p:nvSpPr>
          <p:spPr>
            <a:xfrm>
              <a:off x="4309933" y="2598665"/>
              <a:ext cx="54768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77" name="CaixaDeTexto 176"/>
            <p:cNvSpPr txBox="1"/>
            <p:nvPr/>
          </p:nvSpPr>
          <p:spPr>
            <a:xfrm>
              <a:off x="4311516" y="2885954"/>
              <a:ext cx="54768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44" name="Grupo 43"/>
          <p:cNvGrpSpPr/>
          <p:nvPr/>
        </p:nvGrpSpPr>
        <p:grpSpPr>
          <a:xfrm>
            <a:off x="4670360" y="2602658"/>
            <a:ext cx="415262" cy="450701"/>
            <a:chOff x="4670360" y="2602658"/>
            <a:chExt cx="415262" cy="450701"/>
          </a:xfrm>
        </p:grpSpPr>
        <p:grpSp>
          <p:nvGrpSpPr>
            <p:cNvPr id="178" name="Grupo 177"/>
            <p:cNvGrpSpPr/>
            <p:nvPr/>
          </p:nvGrpSpPr>
          <p:grpSpPr>
            <a:xfrm>
              <a:off x="4670360" y="2602658"/>
              <a:ext cx="415262" cy="450701"/>
              <a:chOff x="4035294" y="2591522"/>
              <a:chExt cx="415262" cy="450701"/>
            </a:xfrm>
          </p:grpSpPr>
          <p:grpSp>
            <p:nvGrpSpPr>
              <p:cNvPr id="179" name="Grupo 178"/>
              <p:cNvGrpSpPr/>
              <p:nvPr/>
            </p:nvGrpSpPr>
            <p:grpSpPr>
              <a:xfrm>
                <a:off x="4080175" y="2591522"/>
                <a:ext cx="286239" cy="450701"/>
                <a:chOff x="4080175" y="2591522"/>
                <a:chExt cx="286239" cy="450701"/>
              </a:xfrm>
            </p:grpSpPr>
            <p:cxnSp>
              <p:nvCxnSpPr>
                <p:cNvPr id="186" name="Conector reto 185"/>
                <p:cNvCxnSpPr/>
                <p:nvPr/>
              </p:nvCxnSpPr>
              <p:spPr>
                <a:xfrm>
                  <a:off x="4194973" y="2706397"/>
                  <a:ext cx="0" cy="21661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Conector reto 186"/>
                <p:cNvCxnSpPr/>
                <p:nvPr/>
              </p:nvCxnSpPr>
              <p:spPr>
                <a:xfrm>
                  <a:off x="4252845" y="2712865"/>
                  <a:ext cx="0" cy="20801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Conector reto 187"/>
                <p:cNvCxnSpPr/>
                <p:nvPr/>
              </p:nvCxnSpPr>
              <p:spPr>
                <a:xfrm>
                  <a:off x="4252845" y="2712865"/>
                  <a:ext cx="11356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Conector reto 188"/>
                <p:cNvCxnSpPr/>
                <p:nvPr/>
              </p:nvCxnSpPr>
              <p:spPr>
                <a:xfrm>
                  <a:off x="4252845" y="2920880"/>
                  <a:ext cx="11356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Conector reto 189"/>
                <p:cNvCxnSpPr/>
                <p:nvPr/>
              </p:nvCxnSpPr>
              <p:spPr>
                <a:xfrm>
                  <a:off x="4362385" y="2591522"/>
                  <a:ext cx="0" cy="12134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Conector reto 190"/>
                <p:cNvCxnSpPr/>
                <p:nvPr/>
              </p:nvCxnSpPr>
              <p:spPr>
                <a:xfrm>
                  <a:off x="4080175" y="2813261"/>
                  <a:ext cx="11356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Conector reto 191"/>
                <p:cNvCxnSpPr/>
                <p:nvPr/>
              </p:nvCxnSpPr>
              <p:spPr>
                <a:xfrm>
                  <a:off x="4362320" y="2920880"/>
                  <a:ext cx="0" cy="12134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0" name="CaixaDeTexto 179"/>
              <p:cNvSpPr txBox="1"/>
              <p:nvPr/>
            </p:nvSpPr>
            <p:spPr>
              <a:xfrm>
                <a:off x="4395788" y="2591522"/>
                <a:ext cx="5476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1000" dirty="0">
                    <a:latin typeface="Arial Narrow" panose="020B0606020202030204" pitchFamily="34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81" name="CaixaDeTexto 180"/>
              <p:cNvSpPr txBox="1"/>
              <p:nvPr/>
            </p:nvSpPr>
            <p:spPr>
              <a:xfrm>
                <a:off x="4391025" y="2888335"/>
                <a:ext cx="5476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1000" dirty="0" smtClean="0">
                    <a:latin typeface="Arial Narrow" panose="020B0606020202030204" pitchFamily="34" charset="0"/>
                    <a:cs typeface="Arial" panose="020B0604020202020204" pitchFamily="34" charset="0"/>
                  </a:rPr>
                  <a:t>s</a:t>
                </a:r>
                <a:endParaRPr lang="pt-BR" sz="1000" dirty="0">
                  <a:latin typeface="Arial Narrow" panose="020B0606020202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2" name="CaixaDeTexto 181"/>
              <p:cNvSpPr txBox="1"/>
              <p:nvPr/>
            </p:nvSpPr>
            <p:spPr>
              <a:xfrm>
                <a:off x="4035294" y="2629453"/>
                <a:ext cx="5476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1000" dirty="0" smtClean="0">
                    <a:latin typeface="Arial Narrow" panose="020B0606020202030204" pitchFamily="34" charset="0"/>
                    <a:cs typeface="Arial" panose="020B0604020202020204" pitchFamily="34" charset="0"/>
                  </a:rPr>
                  <a:t>g</a:t>
                </a:r>
                <a:endParaRPr lang="pt-BR" sz="1000" dirty="0">
                  <a:latin typeface="Arial Narrow" panose="020B0606020202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3" name="CaixaDeTexto 182"/>
              <p:cNvSpPr txBox="1"/>
              <p:nvPr/>
            </p:nvSpPr>
            <p:spPr>
              <a:xfrm>
                <a:off x="4088422" y="2738267"/>
                <a:ext cx="5476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r>
                  <a:rPr lang="pt-BR" sz="1000" dirty="0">
                    <a:solidFill>
                      <a:schemeClr val="bg1"/>
                    </a:solidFill>
                    <a:latin typeface="Arial Narrow" panose="020B060602020203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184" name="CaixaDeTexto 183"/>
              <p:cNvSpPr txBox="1"/>
              <p:nvPr/>
            </p:nvSpPr>
            <p:spPr>
              <a:xfrm>
                <a:off x="4309933" y="2598665"/>
                <a:ext cx="5476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r>
                  <a:rPr lang="pt-BR" sz="1000" dirty="0">
                    <a:solidFill>
                      <a:schemeClr val="bg1"/>
                    </a:solidFill>
                    <a:latin typeface="Arial Narrow" panose="020B060602020203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  <p:sp>
            <p:nvSpPr>
              <p:cNvPr id="185" name="CaixaDeTexto 184"/>
              <p:cNvSpPr txBox="1"/>
              <p:nvPr/>
            </p:nvSpPr>
            <p:spPr>
              <a:xfrm>
                <a:off x="4311516" y="2885954"/>
                <a:ext cx="5476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r>
                  <a:rPr lang="pt-BR" sz="1000" dirty="0">
                    <a:solidFill>
                      <a:schemeClr val="bg1"/>
                    </a:solidFill>
                    <a:latin typeface="Arial Narrow" panose="020B060602020203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sp>
          <p:nvSpPr>
            <p:cNvPr id="43" name="Elipse 42"/>
            <p:cNvSpPr/>
            <p:nvPr/>
          </p:nvSpPr>
          <p:spPr>
            <a:xfrm>
              <a:off x="4768732" y="2799239"/>
              <a:ext cx="50554" cy="4571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5617321" y="2640417"/>
            <a:ext cx="215815" cy="211684"/>
            <a:chOff x="5617321" y="2640417"/>
            <a:chExt cx="215815" cy="211684"/>
          </a:xfrm>
        </p:grpSpPr>
        <p:grpSp>
          <p:nvGrpSpPr>
            <p:cNvPr id="62" name="Grupo 61"/>
            <p:cNvGrpSpPr/>
            <p:nvPr/>
          </p:nvGrpSpPr>
          <p:grpSpPr>
            <a:xfrm>
              <a:off x="5617321" y="2640589"/>
              <a:ext cx="215815" cy="211512"/>
              <a:chOff x="5617321" y="2640589"/>
              <a:chExt cx="215815" cy="211512"/>
            </a:xfrm>
          </p:grpSpPr>
          <p:cxnSp>
            <p:nvCxnSpPr>
              <p:cNvPr id="46" name="Conector reto 45"/>
              <p:cNvCxnSpPr/>
              <p:nvPr/>
            </p:nvCxnSpPr>
            <p:spPr>
              <a:xfrm>
                <a:off x="5725740" y="2640589"/>
                <a:ext cx="0" cy="14275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Conector reto 192"/>
              <p:cNvCxnSpPr/>
              <p:nvPr/>
            </p:nvCxnSpPr>
            <p:spPr>
              <a:xfrm>
                <a:off x="5617321" y="2784264"/>
                <a:ext cx="21581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Conector reto 193"/>
              <p:cNvCxnSpPr/>
              <p:nvPr/>
            </p:nvCxnSpPr>
            <p:spPr>
              <a:xfrm>
                <a:off x="5648814" y="2817107"/>
                <a:ext cx="15363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Conector reto 194"/>
              <p:cNvCxnSpPr/>
              <p:nvPr/>
            </p:nvCxnSpPr>
            <p:spPr>
              <a:xfrm>
                <a:off x="5686361" y="2852101"/>
                <a:ext cx="7773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CaixaDeTexto 62"/>
            <p:cNvSpPr txBox="1"/>
            <p:nvPr/>
          </p:nvSpPr>
          <p:spPr>
            <a:xfrm>
              <a:off x="5715297" y="2640417"/>
              <a:ext cx="25648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pt-BR" sz="900" dirty="0" smtClean="0"/>
                <a:t> </a:t>
              </a:r>
              <a:endParaRPr lang="pt-BR" sz="900" dirty="0"/>
            </a:p>
          </p:txBody>
        </p:sp>
      </p:grpSp>
      <p:grpSp>
        <p:nvGrpSpPr>
          <p:cNvPr id="72" name="Grupo 71"/>
          <p:cNvGrpSpPr/>
          <p:nvPr/>
        </p:nvGrpSpPr>
        <p:grpSpPr>
          <a:xfrm>
            <a:off x="6022133" y="2538413"/>
            <a:ext cx="215815" cy="273826"/>
            <a:chOff x="6022133" y="2538413"/>
            <a:chExt cx="215815" cy="273826"/>
          </a:xfrm>
        </p:grpSpPr>
        <p:grpSp>
          <p:nvGrpSpPr>
            <p:cNvPr id="198" name="Grupo 197"/>
            <p:cNvGrpSpPr/>
            <p:nvPr/>
          </p:nvGrpSpPr>
          <p:grpSpPr>
            <a:xfrm flipV="1">
              <a:off x="6022133" y="2668392"/>
              <a:ext cx="215815" cy="143675"/>
              <a:chOff x="5617321" y="2640589"/>
              <a:chExt cx="215815" cy="143675"/>
            </a:xfrm>
          </p:grpSpPr>
          <p:cxnSp>
            <p:nvCxnSpPr>
              <p:cNvPr id="200" name="Conector reto 199"/>
              <p:cNvCxnSpPr/>
              <p:nvPr/>
            </p:nvCxnSpPr>
            <p:spPr>
              <a:xfrm>
                <a:off x="5725740" y="2640589"/>
                <a:ext cx="0" cy="14275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Conector reto 200"/>
              <p:cNvCxnSpPr/>
              <p:nvPr/>
            </p:nvCxnSpPr>
            <p:spPr>
              <a:xfrm>
                <a:off x="5617321" y="2784264"/>
                <a:ext cx="21581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9" name="CaixaDeTexto 198"/>
            <p:cNvSpPr txBox="1"/>
            <p:nvPr/>
          </p:nvSpPr>
          <p:spPr>
            <a:xfrm flipV="1">
              <a:off x="6120109" y="2673740"/>
              <a:ext cx="25648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pt-BR" sz="900" dirty="0" smtClean="0"/>
                <a:t> </a:t>
              </a:r>
              <a:endParaRPr lang="pt-BR" sz="9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6053096" y="2538413"/>
              <a:ext cx="15388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8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vcc</a:t>
              </a:r>
              <a:endParaRPr lang="pt-BR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954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Conector Angulado 197"/>
          <p:cNvCxnSpPr>
            <a:stCxn id="358" idx="3"/>
          </p:cNvCxnSpPr>
          <p:nvPr/>
        </p:nvCxnSpPr>
        <p:spPr bwMode="auto">
          <a:xfrm flipH="1">
            <a:off x="3207811" y="5191288"/>
            <a:ext cx="4979745" cy="29557"/>
          </a:xfrm>
          <a:prstGeom prst="bentConnector5">
            <a:avLst>
              <a:gd name="adj1" fmla="val -4591"/>
              <a:gd name="adj2" fmla="val 5182173"/>
              <a:gd name="adj3" fmla="val 104591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3" name="Rectangle 2"/>
          <p:cNvSpPr txBox="1">
            <a:spLocks noChangeArrowheads="1"/>
          </p:cNvSpPr>
          <p:nvPr/>
        </p:nvSpPr>
        <p:spPr>
          <a:xfrm>
            <a:off x="450089" y="0"/>
            <a:ext cx="82296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pt-BR" sz="2800" dirty="0" smtClean="0"/>
              <a:t>Caminho de Dados UNICICLO – Laboratório incompleto</a:t>
            </a:r>
            <a:endParaRPr lang="pt-BR" altLang="pt-BR" sz="2800" dirty="0" smtClean="0"/>
          </a:p>
        </p:txBody>
      </p:sp>
      <p:grpSp>
        <p:nvGrpSpPr>
          <p:cNvPr id="234" name="Grupo 84"/>
          <p:cNvGrpSpPr/>
          <p:nvPr/>
        </p:nvGrpSpPr>
        <p:grpSpPr>
          <a:xfrm>
            <a:off x="574298" y="3851847"/>
            <a:ext cx="344879" cy="705772"/>
            <a:chOff x="267041" y="3417853"/>
            <a:chExt cx="389475" cy="805017"/>
          </a:xfrm>
        </p:grpSpPr>
        <p:sp>
          <p:nvSpPr>
            <p:cNvPr id="235" name="Retângulo 234"/>
            <p:cNvSpPr/>
            <p:nvPr/>
          </p:nvSpPr>
          <p:spPr bwMode="auto">
            <a:xfrm>
              <a:off x="267041" y="3417853"/>
              <a:ext cx="389475" cy="805017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6" name="CaixaDeTexto 235"/>
            <p:cNvSpPr txBox="1"/>
            <p:nvPr/>
          </p:nvSpPr>
          <p:spPr>
            <a:xfrm>
              <a:off x="373613" y="3676981"/>
              <a:ext cx="17633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pt-BR" sz="1200" dirty="0" smtClean="0">
                  <a:latin typeface="Arial Narrow" panose="020B0606020202030204" pitchFamily="34" charset="0"/>
                </a:rPr>
                <a:t>PC</a:t>
              </a:r>
              <a:endParaRPr lang="pt-BR" sz="1200" dirty="0">
                <a:latin typeface="Arial Narrow" panose="020B0606020202030204" pitchFamily="34" charset="0"/>
              </a:endParaRPr>
            </a:p>
          </p:txBody>
        </p:sp>
      </p:grpSp>
      <p:sp>
        <p:nvSpPr>
          <p:cNvPr id="237" name="CaixaDeTexto 236"/>
          <p:cNvSpPr txBox="1"/>
          <p:nvPr/>
        </p:nvSpPr>
        <p:spPr>
          <a:xfrm>
            <a:off x="3755187" y="5753002"/>
            <a:ext cx="488915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000" dirty="0" smtClean="0"/>
              <a:t>Geração</a:t>
            </a:r>
          </a:p>
          <a:p>
            <a:pPr algn="ctr"/>
            <a:r>
              <a:rPr lang="pt-BR" sz="1000" dirty="0" smtClean="0"/>
              <a:t>Imediato</a:t>
            </a:r>
            <a:endParaRPr lang="pt-BR" sz="1000" dirty="0"/>
          </a:p>
        </p:txBody>
      </p:sp>
      <p:sp>
        <p:nvSpPr>
          <p:cNvPr id="238" name="Elipse 237"/>
          <p:cNvSpPr/>
          <p:nvPr/>
        </p:nvSpPr>
        <p:spPr bwMode="auto">
          <a:xfrm>
            <a:off x="3709412" y="5500545"/>
            <a:ext cx="606128" cy="795891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Straight Connector 28"/>
          <p:cNvCxnSpPr>
            <a:stCxn id="329" idx="3"/>
            <a:endCxn id="337" idx="1"/>
          </p:cNvCxnSpPr>
          <p:nvPr/>
        </p:nvCxnSpPr>
        <p:spPr>
          <a:xfrm>
            <a:off x="4345878" y="4949616"/>
            <a:ext cx="907622" cy="22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9"/>
          <p:cNvCxnSpPr>
            <a:stCxn id="338" idx="3"/>
            <a:endCxn id="284" idx="1"/>
          </p:cNvCxnSpPr>
          <p:nvPr/>
        </p:nvCxnSpPr>
        <p:spPr>
          <a:xfrm flipV="1">
            <a:off x="5493068" y="5064557"/>
            <a:ext cx="193860" cy="91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8"/>
          <p:cNvCxnSpPr>
            <a:stCxn id="348" idx="3"/>
            <a:endCxn id="357" idx="1"/>
          </p:cNvCxnSpPr>
          <p:nvPr/>
        </p:nvCxnSpPr>
        <p:spPr>
          <a:xfrm flipV="1">
            <a:off x="7643530" y="5057550"/>
            <a:ext cx="320005" cy="226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Agrupar 2"/>
          <p:cNvGrpSpPr/>
          <p:nvPr/>
        </p:nvGrpSpPr>
        <p:grpSpPr>
          <a:xfrm>
            <a:off x="1204954" y="3511335"/>
            <a:ext cx="826770" cy="1389551"/>
            <a:chOff x="1665050" y="3247130"/>
            <a:chExt cx="826770" cy="1389551"/>
          </a:xfrm>
        </p:grpSpPr>
        <p:sp>
          <p:nvSpPr>
            <p:cNvPr id="243" name="Retângulo 242"/>
            <p:cNvSpPr/>
            <p:nvPr/>
          </p:nvSpPr>
          <p:spPr bwMode="auto">
            <a:xfrm>
              <a:off x="1665050" y="3247130"/>
              <a:ext cx="826770" cy="138955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4" name="CaixaDeTexto 243"/>
            <p:cNvSpPr txBox="1"/>
            <p:nvPr/>
          </p:nvSpPr>
          <p:spPr>
            <a:xfrm>
              <a:off x="1803360" y="3721032"/>
              <a:ext cx="622378" cy="3539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pt-BR" sz="1200" b="1" dirty="0" smtClean="0">
                  <a:latin typeface="Arial Narrow" panose="020B0606020202030204" pitchFamily="34" charset="0"/>
                </a:rPr>
                <a:t>Memória</a:t>
              </a:r>
              <a:endParaRPr lang="pt-BR" sz="1200" b="1" dirty="0">
                <a:latin typeface="Arial Narrow" panose="020B0606020202030204" pitchFamily="34" charset="0"/>
              </a:endParaRPr>
            </a:p>
            <a:p>
              <a:pPr algn="ctr"/>
              <a:r>
                <a:rPr lang="pt-BR" sz="1100" b="1" dirty="0" smtClean="0">
                  <a:latin typeface="Arial Narrow" panose="020B0606020202030204" pitchFamily="34" charset="0"/>
                </a:rPr>
                <a:t>Instruções</a:t>
              </a:r>
              <a:endParaRPr lang="pt-BR" sz="1100" b="1" dirty="0">
                <a:latin typeface="Arial Narrow" panose="020B0606020202030204" pitchFamily="34" charset="0"/>
              </a:endParaRPr>
            </a:p>
          </p:txBody>
        </p:sp>
        <p:sp>
          <p:nvSpPr>
            <p:cNvPr id="245" name="CaixaDeTexto 244"/>
            <p:cNvSpPr txBox="1"/>
            <p:nvPr/>
          </p:nvSpPr>
          <p:spPr>
            <a:xfrm>
              <a:off x="1703915" y="3457521"/>
              <a:ext cx="44723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Endereço</a:t>
              </a:r>
              <a:endParaRPr lang="pt-BR" sz="900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246" name="Agrupar 40959"/>
          <p:cNvGrpSpPr/>
          <p:nvPr/>
        </p:nvGrpSpPr>
        <p:grpSpPr>
          <a:xfrm>
            <a:off x="2345851" y="2110735"/>
            <a:ext cx="861133" cy="1540976"/>
            <a:chOff x="3093538" y="1743850"/>
            <a:chExt cx="861133" cy="1286894"/>
          </a:xfrm>
        </p:grpSpPr>
        <p:sp>
          <p:nvSpPr>
            <p:cNvPr id="247" name="Elipse 246"/>
            <p:cNvSpPr/>
            <p:nvPr/>
          </p:nvSpPr>
          <p:spPr bwMode="auto">
            <a:xfrm>
              <a:off x="3134921" y="1743850"/>
              <a:ext cx="766960" cy="1286894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00B8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8" name="CaixaDeTexto 247"/>
            <p:cNvSpPr txBox="1"/>
            <p:nvPr/>
          </p:nvSpPr>
          <p:spPr>
            <a:xfrm>
              <a:off x="3093538" y="2195241"/>
              <a:ext cx="861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 smtClean="0">
                  <a:solidFill>
                    <a:srgbClr val="16A6C8"/>
                  </a:solidFill>
                </a:rPr>
                <a:t>Controle</a:t>
              </a:r>
              <a:endParaRPr lang="pt-BR" sz="1400" dirty="0">
                <a:solidFill>
                  <a:srgbClr val="16A6C8"/>
                </a:solidFill>
              </a:endParaRPr>
            </a:p>
          </p:txBody>
        </p:sp>
      </p:grpSp>
      <p:cxnSp>
        <p:nvCxnSpPr>
          <p:cNvPr id="249" name="Conector de Seta Reta 40963"/>
          <p:cNvCxnSpPr>
            <a:stCxn id="235" idx="3"/>
            <a:endCxn id="243" idx="1"/>
          </p:cNvCxnSpPr>
          <p:nvPr/>
        </p:nvCxnSpPr>
        <p:spPr bwMode="auto">
          <a:xfrm>
            <a:off x="919177" y="4204733"/>
            <a:ext cx="285777" cy="137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0" name="Conector reto 249"/>
          <p:cNvCxnSpPr/>
          <p:nvPr/>
        </p:nvCxnSpPr>
        <p:spPr bwMode="auto">
          <a:xfrm flipH="1">
            <a:off x="2182393" y="2880992"/>
            <a:ext cx="16422" cy="30258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1" name="Conector reto 250"/>
          <p:cNvCxnSpPr>
            <a:endCxn id="243" idx="3"/>
          </p:cNvCxnSpPr>
          <p:nvPr/>
        </p:nvCxnSpPr>
        <p:spPr bwMode="auto">
          <a:xfrm flipH="1">
            <a:off x="2031724" y="4204733"/>
            <a:ext cx="167091" cy="137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52" name="Conector de Seta Reta 40980"/>
          <p:cNvCxnSpPr>
            <a:endCxn id="325" idx="1"/>
          </p:cNvCxnSpPr>
          <p:nvPr/>
        </p:nvCxnSpPr>
        <p:spPr bwMode="auto">
          <a:xfrm flipV="1">
            <a:off x="2198815" y="3853075"/>
            <a:ext cx="1009002" cy="600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53" name="Conector de Seta Reta 118"/>
          <p:cNvCxnSpPr>
            <a:endCxn id="326" idx="1"/>
          </p:cNvCxnSpPr>
          <p:nvPr/>
        </p:nvCxnSpPr>
        <p:spPr bwMode="auto">
          <a:xfrm>
            <a:off x="2198815" y="4302829"/>
            <a:ext cx="1008169" cy="304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54" name="Conector de Seta Reta 119"/>
          <p:cNvCxnSpPr>
            <a:endCxn id="327" idx="1"/>
          </p:cNvCxnSpPr>
          <p:nvPr/>
        </p:nvCxnSpPr>
        <p:spPr bwMode="auto">
          <a:xfrm flipV="1">
            <a:off x="2198815" y="4741303"/>
            <a:ext cx="1008843" cy="856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sp>
        <p:nvSpPr>
          <p:cNvPr id="255" name="CaixaDeTexto 254"/>
          <p:cNvSpPr txBox="1"/>
          <p:nvPr/>
        </p:nvSpPr>
        <p:spPr>
          <a:xfrm>
            <a:off x="2761883" y="4545773"/>
            <a:ext cx="31739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[11:7]</a:t>
            </a:r>
            <a:endParaRPr lang="pt-BR" sz="1000" dirty="0"/>
          </a:p>
        </p:txBody>
      </p:sp>
      <p:sp>
        <p:nvSpPr>
          <p:cNvPr id="256" name="CaixaDeTexto 255"/>
          <p:cNvSpPr txBox="1"/>
          <p:nvPr/>
        </p:nvSpPr>
        <p:spPr>
          <a:xfrm>
            <a:off x="2726618" y="4128588"/>
            <a:ext cx="38792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[24:20]</a:t>
            </a:r>
            <a:endParaRPr lang="pt-BR" sz="1000" dirty="0"/>
          </a:p>
        </p:txBody>
      </p:sp>
      <p:sp>
        <p:nvSpPr>
          <p:cNvPr id="257" name="CaixaDeTexto 256"/>
          <p:cNvSpPr txBox="1"/>
          <p:nvPr/>
        </p:nvSpPr>
        <p:spPr>
          <a:xfrm>
            <a:off x="2734827" y="3691991"/>
            <a:ext cx="38792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[19:15]</a:t>
            </a:r>
            <a:endParaRPr lang="pt-BR" sz="1000" dirty="0"/>
          </a:p>
        </p:txBody>
      </p:sp>
      <p:cxnSp>
        <p:nvCxnSpPr>
          <p:cNvPr id="258" name="Conector de Seta Reta 130"/>
          <p:cNvCxnSpPr>
            <a:endCxn id="247" idx="2"/>
          </p:cNvCxnSpPr>
          <p:nvPr/>
        </p:nvCxnSpPr>
        <p:spPr bwMode="auto">
          <a:xfrm>
            <a:off x="2192592" y="2880992"/>
            <a:ext cx="194642" cy="23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9" name="Conector de Seta Reta 132"/>
          <p:cNvCxnSpPr/>
          <p:nvPr/>
        </p:nvCxnSpPr>
        <p:spPr bwMode="auto">
          <a:xfrm flipV="1">
            <a:off x="2182393" y="5895568"/>
            <a:ext cx="1527019" cy="292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60" name="Conector Angulado 112"/>
          <p:cNvCxnSpPr/>
          <p:nvPr/>
        </p:nvCxnSpPr>
        <p:spPr bwMode="auto">
          <a:xfrm flipV="1">
            <a:off x="4318533" y="5238685"/>
            <a:ext cx="938020" cy="643992"/>
          </a:xfrm>
          <a:prstGeom prst="bentConnector3">
            <a:avLst>
              <a:gd name="adj1" fmla="val 82483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1" name="Straight Connector 28"/>
          <p:cNvCxnSpPr>
            <a:stCxn id="287" idx="3"/>
            <a:endCxn id="350" idx="1"/>
          </p:cNvCxnSpPr>
          <p:nvPr/>
        </p:nvCxnSpPr>
        <p:spPr>
          <a:xfrm>
            <a:off x="6387461" y="4638887"/>
            <a:ext cx="437598" cy="142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ector Angulado 133"/>
          <p:cNvCxnSpPr>
            <a:endCxn id="274" idx="1"/>
          </p:cNvCxnSpPr>
          <p:nvPr/>
        </p:nvCxnSpPr>
        <p:spPr bwMode="auto">
          <a:xfrm rot="5400000" flipH="1" flipV="1">
            <a:off x="4068740" y="3355088"/>
            <a:ext cx="2909375" cy="857820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63" name="Conector Angulado 175"/>
          <p:cNvCxnSpPr/>
          <p:nvPr/>
        </p:nvCxnSpPr>
        <p:spPr bwMode="auto">
          <a:xfrm rot="5400000" flipH="1" flipV="1">
            <a:off x="174881" y="2705985"/>
            <a:ext cx="2358057" cy="632088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64" name="Conector de Seta Reta 179"/>
          <p:cNvCxnSpPr>
            <a:stCxn id="265" idx="3"/>
            <a:endCxn id="304" idx="1"/>
          </p:cNvCxnSpPr>
          <p:nvPr/>
        </p:nvCxnSpPr>
        <p:spPr bwMode="auto">
          <a:xfrm flipV="1">
            <a:off x="1176549" y="1351366"/>
            <a:ext cx="487006" cy="173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5" name="CaixaDeTexto 264"/>
          <p:cNvSpPr txBox="1"/>
          <p:nvPr/>
        </p:nvSpPr>
        <p:spPr>
          <a:xfrm>
            <a:off x="906924" y="1214605"/>
            <a:ext cx="269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4</a:t>
            </a:r>
            <a:endParaRPr lang="pt-BR" sz="1200" dirty="0"/>
          </a:p>
        </p:txBody>
      </p:sp>
      <p:cxnSp>
        <p:nvCxnSpPr>
          <p:cNvPr id="266" name="Conector Angulado 150"/>
          <p:cNvCxnSpPr>
            <a:stCxn id="302" idx="3"/>
          </p:cNvCxnSpPr>
          <p:nvPr/>
        </p:nvCxnSpPr>
        <p:spPr bwMode="auto">
          <a:xfrm>
            <a:off x="2028922" y="1578149"/>
            <a:ext cx="5400396" cy="134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7" name="Conector Angulado 160"/>
          <p:cNvCxnSpPr>
            <a:endCxn id="273" idx="1"/>
          </p:cNvCxnSpPr>
          <p:nvPr/>
        </p:nvCxnSpPr>
        <p:spPr bwMode="auto">
          <a:xfrm flipV="1">
            <a:off x="1037863" y="1856726"/>
            <a:ext cx="4908076" cy="502209"/>
          </a:xfrm>
          <a:prstGeom prst="bentConnector3">
            <a:avLst>
              <a:gd name="adj1" fmla="val 2236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68" name="Conector Angulado 218"/>
          <p:cNvCxnSpPr>
            <a:stCxn id="247" idx="6"/>
          </p:cNvCxnSpPr>
          <p:nvPr/>
        </p:nvCxnSpPr>
        <p:spPr bwMode="auto">
          <a:xfrm>
            <a:off x="3154194" y="2881223"/>
            <a:ext cx="2904701" cy="1179265"/>
          </a:xfrm>
          <a:prstGeom prst="bentConnector3">
            <a:avLst>
              <a:gd name="adj1" fmla="val 100007"/>
            </a:avLst>
          </a:prstGeom>
          <a:solidFill>
            <a:schemeClr val="accent1"/>
          </a:solidFill>
          <a:ln w="25400" cap="flat" cmpd="sng" algn="ctr">
            <a:solidFill>
              <a:srgbClr val="00B8FF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69" name="Agrupar 264"/>
          <p:cNvGrpSpPr/>
          <p:nvPr/>
        </p:nvGrpSpPr>
        <p:grpSpPr>
          <a:xfrm>
            <a:off x="5945939" y="1647877"/>
            <a:ext cx="366284" cy="870314"/>
            <a:chOff x="5945939" y="1586917"/>
            <a:chExt cx="366284" cy="870314"/>
          </a:xfrm>
        </p:grpSpPr>
        <p:grpSp>
          <p:nvGrpSpPr>
            <p:cNvPr id="270" name="Agrupar 293"/>
            <p:cNvGrpSpPr/>
            <p:nvPr/>
          </p:nvGrpSpPr>
          <p:grpSpPr>
            <a:xfrm>
              <a:off x="5945939" y="1586917"/>
              <a:ext cx="364038" cy="870314"/>
              <a:chOff x="1663555" y="1035837"/>
              <a:chExt cx="364038" cy="870314"/>
            </a:xfrm>
          </p:grpSpPr>
          <p:grpSp>
            <p:nvGrpSpPr>
              <p:cNvPr id="272" name="Grupo 343"/>
              <p:cNvGrpSpPr/>
              <p:nvPr/>
            </p:nvGrpSpPr>
            <p:grpSpPr>
              <a:xfrm>
                <a:off x="1665050" y="1035837"/>
                <a:ext cx="362543" cy="870314"/>
                <a:chOff x="6325644" y="370747"/>
                <a:chExt cx="322545" cy="829756"/>
              </a:xfrm>
            </p:grpSpPr>
            <p:cxnSp>
              <p:nvCxnSpPr>
                <p:cNvPr id="275" name="Conector reto 274"/>
                <p:cNvCxnSpPr/>
                <p:nvPr/>
              </p:nvCxnSpPr>
              <p:spPr>
                <a:xfrm>
                  <a:off x="6325644" y="370747"/>
                  <a:ext cx="0" cy="3399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Conector reto 275"/>
                <p:cNvCxnSpPr/>
                <p:nvPr/>
              </p:nvCxnSpPr>
              <p:spPr>
                <a:xfrm>
                  <a:off x="6325644" y="373117"/>
                  <a:ext cx="322545" cy="2167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Conector reto 276"/>
                <p:cNvCxnSpPr/>
                <p:nvPr/>
              </p:nvCxnSpPr>
              <p:spPr>
                <a:xfrm flipV="1">
                  <a:off x="6325644" y="983784"/>
                  <a:ext cx="322545" cy="2167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Conector reto 277"/>
                <p:cNvCxnSpPr/>
                <p:nvPr/>
              </p:nvCxnSpPr>
              <p:spPr>
                <a:xfrm>
                  <a:off x="6648189" y="589836"/>
                  <a:ext cx="0" cy="39685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Conector reto 278"/>
                <p:cNvCxnSpPr/>
                <p:nvPr/>
              </p:nvCxnSpPr>
              <p:spPr>
                <a:xfrm>
                  <a:off x="6325644" y="710661"/>
                  <a:ext cx="99164" cy="7067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Conector reto 279"/>
                <p:cNvCxnSpPr/>
                <p:nvPr/>
              </p:nvCxnSpPr>
              <p:spPr>
                <a:xfrm flipV="1">
                  <a:off x="6325644" y="779229"/>
                  <a:ext cx="99164" cy="6144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Conector reto 280"/>
                <p:cNvCxnSpPr/>
                <p:nvPr/>
              </p:nvCxnSpPr>
              <p:spPr>
                <a:xfrm>
                  <a:off x="6325644" y="840677"/>
                  <a:ext cx="0" cy="35742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3" name="CaixaDeTexto 272"/>
              <p:cNvSpPr txBox="1"/>
              <p:nvPr/>
            </p:nvSpPr>
            <p:spPr>
              <a:xfrm>
                <a:off x="1663555" y="1121575"/>
                <a:ext cx="25770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000" dirty="0" smtClean="0">
                    <a:solidFill>
                      <a:schemeClr val="bg1"/>
                    </a:solidFill>
                  </a:rPr>
                  <a:t>A</a:t>
                </a:r>
                <a:endParaRPr lang="pt-BR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4" name="CaixaDeTexto 273"/>
              <p:cNvSpPr txBox="1"/>
              <p:nvPr/>
            </p:nvSpPr>
            <p:spPr>
              <a:xfrm>
                <a:off x="1669953" y="1594159"/>
                <a:ext cx="25770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000" dirty="0" smtClean="0">
                    <a:solidFill>
                      <a:schemeClr val="bg1"/>
                    </a:solidFill>
                  </a:rPr>
                  <a:t>A</a:t>
                </a:r>
                <a:endParaRPr lang="pt-BR" sz="1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1" name="CaixaDeTexto 270"/>
            <p:cNvSpPr txBox="1"/>
            <p:nvPr/>
          </p:nvSpPr>
          <p:spPr>
            <a:xfrm>
              <a:off x="6037789" y="1885071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+</a:t>
              </a:r>
              <a:endParaRPr lang="pt-BR" sz="1050" dirty="0"/>
            </a:p>
          </p:txBody>
        </p:sp>
      </p:grpSp>
      <p:grpSp>
        <p:nvGrpSpPr>
          <p:cNvPr id="282" name="Agrupar 274"/>
          <p:cNvGrpSpPr/>
          <p:nvPr/>
        </p:nvGrpSpPr>
        <p:grpSpPr>
          <a:xfrm>
            <a:off x="5686928" y="3875615"/>
            <a:ext cx="700533" cy="1556803"/>
            <a:chOff x="5429753" y="3426035"/>
            <a:chExt cx="700533" cy="1556803"/>
          </a:xfrm>
        </p:grpSpPr>
        <p:grpSp>
          <p:nvGrpSpPr>
            <p:cNvPr id="283" name="Agrupar 4"/>
            <p:cNvGrpSpPr/>
            <p:nvPr/>
          </p:nvGrpSpPr>
          <p:grpSpPr>
            <a:xfrm>
              <a:off x="5429813" y="3426035"/>
              <a:ext cx="700473" cy="1556803"/>
              <a:chOff x="5323133" y="3319355"/>
              <a:chExt cx="700473" cy="1556803"/>
            </a:xfrm>
          </p:grpSpPr>
          <p:grpSp>
            <p:nvGrpSpPr>
              <p:cNvPr id="286" name="Grupo 343"/>
              <p:cNvGrpSpPr/>
              <p:nvPr/>
            </p:nvGrpSpPr>
            <p:grpSpPr>
              <a:xfrm>
                <a:off x="5323133" y="3319355"/>
                <a:ext cx="693629" cy="1556803"/>
                <a:chOff x="6325644" y="370747"/>
                <a:chExt cx="322545" cy="829756"/>
              </a:xfrm>
            </p:grpSpPr>
            <p:cxnSp>
              <p:nvCxnSpPr>
                <p:cNvPr id="288" name="Conector reto 287"/>
                <p:cNvCxnSpPr/>
                <p:nvPr/>
              </p:nvCxnSpPr>
              <p:spPr>
                <a:xfrm>
                  <a:off x="6325644" y="370747"/>
                  <a:ext cx="0" cy="3399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Conector reto 288"/>
                <p:cNvCxnSpPr/>
                <p:nvPr/>
              </p:nvCxnSpPr>
              <p:spPr>
                <a:xfrm>
                  <a:off x="6325644" y="373117"/>
                  <a:ext cx="322545" cy="2167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Conector reto 289"/>
                <p:cNvCxnSpPr/>
                <p:nvPr/>
              </p:nvCxnSpPr>
              <p:spPr>
                <a:xfrm flipV="1">
                  <a:off x="6325644" y="983784"/>
                  <a:ext cx="322545" cy="2167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Conector reto 290"/>
                <p:cNvCxnSpPr/>
                <p:nvPr/>
              </p:nvCxnSpPr>
              <p:spPr>
                <a:xfrm>
                  <a:off x="6325644" y="710661"/>
                  <a:ext cx="99164" cy="7067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Conector reto 291"/>
                <p:cNvCxnSpPr/>
                <p:nvPr/>
              </p:nvCxnSpPr>
              <p:spPr>
                <a:xfrm flipV="1">
                  <a:off x="6325644" y="779229"/>
                  <a:ext cx="99164" cy="6144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Conector reto 292"/>
                <p:cNvCxnSpPr/>
                <p:nvPr/>
              </p:nvCxnSpPr>
              <p:spPr>
                <a:xfrm>
                  <a:off x="6325644" y="840677"/>
                  <a:ext cx="0" cy="35742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Conector reto 293"/>
                <p:cNvCxnSpPr/>
                <p:nvPr/>
              </p:nvCxnSpPr>
              <p:spPr>
                <a:xfrm>
                  <a:off x="6648189" y="589836"/>
                  <a:ext cx="0" cy="39685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7" name="CaixaDeTexto 286"/>
              <p:cNvSpPr txBox="1"/>
              <p:nvPr/>
            </p:nvSpPr>
            <p:spPr>
              <a:xfrm>
                <a:off x="5618513" y="3990294"/>
                <a:ext cx="405093" cy="184666"/>
              </a:xfrm>
              <a:prstGeom prst="rect">
                <a:avLst/>
              </a:prstGeom>
              <a:noFill/>
            </p:spPr>
            <p:txBody>
              <a:bodyPr wrap="none" lIns="0" tIns="0" rIns="144000" bIns="0" rtlCol="0">
                <a:spAutoFit/>
              </a:bodyPr>
              <a:lstStyle/>
              <a:p>
                <a:pPr algn="l"/>
                <a:r>
                  <a:rPr lang="pt-BR" sz="1200" b="1" dirty="0" smtClean="0">
                    <a:latin typeface="Arial Narrow" panose="020B0606020202030204" pitchFamily="34" charset="0"/>
                  </a:rPr>
                  <a:t>ULA</a:t>
                </a:r>
                <a:endParaRPr lang="pt-BR" sz="1200" b="1" dirty="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284" name="CaixaDeTexto 283"/>
            <p:cNvSpPr txBox="1"/>
            <p:nvPr/>
          </p:nvSpPr>
          <p:spPr>
            <a:xfrm>
              <a:off x="5429753" y="441492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solidFill>
                    <a:schemeClr val="bg1"/>
                  </a:solidFill>
                </a:rPr>
                <a:t>A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285" name="CaixaDeTexto 284"/>
            <p:cNvSpPr txBox="1"/>
            <p:nvPr/>
          </p:nvSpPr>
          <p:spPr>
            <a:xfrm>
              <a:off x="5435793" y="360379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>
                  <a:solidFill>
                    <a:schemeClr val="bg1"/>
                  </a:solidFill>
                </a:rPr>
                <a:t>A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95" name="Conector Angulado 281"/>
          <p:cNvCxnSpPr>
            <a:stCxn id="328" idx="3"/>
          </p:cNvCxnSpPr>
          <p:nvPr/>
        </p:nvCxnSpPr>
        <p:spPr bwMode="auto">
          <a:xfrm flipV="1">
            <a:off x="4300746" y="4101215"/>
            <a:ext cx="1386182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6" name="Conector Angulado 322"/>
          <p:cNvCxnSpPr>
            <a:endCxn id="235" idx="1"/>
          </p:cNvCxnSpPr>
          <p:nvPr/>
        </p:nvCxnSpPr>
        <p:spPr bwMode="auto">
          <a:xfrm rot="10800000" flipV="1">
            <a:off x="574298" y="990599"/>
            <a:ext cx="8026778" cy="3214134"/>
          </a:xfrm>
          <a:prstGeom prst="bentConnector3">
            <a:avLst>
              <a:gd name="adj1" fmla="val 10284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7" name="Conector Angulado 330"/>
          <p:cNvCxnSpPr>
            <a:endCxn id="351" idx="1"/>
          </p:cNvCxnSpPr>
          <p:nvPr/>
        </p:nvCxnSpPr>
        <p:spPr bwMode="auto">
          <a:xfrm>
            <a:off x="4787490" y="4950209"/>
            <a:ext cx="2026591" cy="573811"/>
          </a:xfrm>
          <a:prstGeom prst="bentConnector3">
            <a:avLst>
              <a:gd name="adj1" fmla="val 18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98" name="Conector Angulado 41029"/>
          <p:cNvCxnSpPr>
            <a:endCxn id="360" idx="0"/>
          </p:cNvCxnSpPr>
          <p:nvPr/>
        </p:nvCxnSpPr>
        <p:spPr bwMode="auto">
          <a:xfrm flipV="1">
            <a:off x="6661785" y="5379118"/>
            <a:ext cx="1292975" cy="851126"/>
          </a:xfrm>
          <a:prstGeom prst="bentConnector4">
            <a:avLst>
              <a:gd name="adj1" fmla="val 88307"/>
              <a:gd name="adj2" fmla="val 10082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9" name="Conector reto 298"/>
          <p:cNvCxnSpPr/>
          <p:nvPr/>
        </p:nvCxnSpPr>
        <p:spPr bwMode="auto">
          <a:xfrm flipV="1">
            <a:off x="6661785" y="4638887"/>
            <a:ext cx="0" cy="159135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grpSp>
        <p:nvGrpSpPr>
          <p:cNvPr id="300" name="Agrupar 385"/>
          <p:cNvGrpSpPr/>
          <p:nvPr/>
        </p:nvGrpSpPr>
        <p:grpSpPr>
          <a:xfrm>
            <a:off x="1663555" y="1142517"/>
            <a:ext cx="365367" cy="870314"/>
            <a:chOff x="1663555" y="1035837"/>
            <a:chExt cx="365367" cy="870314"/>
          </a:xfrm>
        </p:grpSpPr>
        <p:grpSp>
          <p:nvGrpSpPr>
            <p:cNvPr id="301" name="Agrupar 41022"/>
            <p:cNvGrpSpPr/>
            <p:nvPr/>
          </p:nvGrpSpPr>
          <p:grpSpPr>
            <a:xfrm>
              <a:off x="1663555" y="1035837"/>
              <a:ext cx="364038" cy="870314"/>
              <a:chOff x="1663555" y="1035837"/>
              <a:chExt cx="364038" cy="870314"/>
            </a:xfrm>
          </p:grpSpPr>
          <p:grpSp>
            <p:nvGrpSpPr>
              <p:cNvPr id="303" name="Grupo 343"/>
              <p:cNvGrpSpPr/>
              <p:nvPr/>
            </p:nvGrpSpPr>
            <p:grpSpPr>
              <a:xfrm>
                <a:off x="1665050" y="1035837"/>
                <a:ext cx="362543" cy="870314"/>
                <a:chOff x="6325644" y="370747"/>
                <a:chExt cx="322545" cy="829756"/>
              </a:xfrm>
            </p:grpSpPr>
            <p:cxnSp>
              <p:nvCxnSpPr>
                <p:cNvPr id="306" name="Conector reto 305"/>
                <p:cNvCxnSpPr/>
                <p:nvPr/>
              </p:nvCxnSpPr>
              <p:spPr>
                <a:xfrm>
                  <a:off x="6325644" y="370747"/>
                  <a:ext cx="0" cy="3399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Conector reto 306"/>
                <p:cNvCxnSpPr/>
                <p:nvPr/>
              </p:nvCxnSpPr>
              <p:spPr>
                <a:xfrm>
                  <a:off x="6325644" y="373117"/>
                  <a:ext cx="322545" cy="2167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Conector reto 307"/>
                <p:cNvCxnSpPr/>
                <p:nvPr/>
              </p:nvCxnSpPr>
              <p:spPr>
                <a:xfrm flipV="1">
                  <a:off x="6325644" y="983784"/>
                  <a:ext cx="322545" cy="2167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Conector reto 308"/>
                <p:cNvCxnSpPr/>
                <p:nvPr/>
              </p:nvCxnSpPr>
              <p:spPr>
                <a:xfrm>
                  <a:off x="6648189" y="589836"/>
                  <a:ext cx="0" cy="39685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Conector reto 309"/>
                <p:cNvCxnSpPr/>
                <p:nvPr/>
              </p:nvCxnSpPr>
              <p:spPr>
                <a:xfrm>
                  <a:off x="6325644" y="710661"/>
                  <a:ext cx="99164" cy="7067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Conector reto 310"/>
                <p:cNvCxnSpPr/>
                <p:nvPr/>
              </p:nvCxnSpPr>
              <p:spPr>
                <a:xfrm flipV="1">
                  <a:off x="6325644" y="779229"/>
                  <a:ext cx="99164" cy="6144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Conector reto 311"/>
                <p:cNvCxnSpPr/>
                <p:nvPr/>
              </p:nvCxnSpPr>
              <p:spPr>
                <a:xfrm>
                  <a:off x="6325644" y="840677"/>
                  <a:ext cx="0" cy="35742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4" name="CaixaDeTexto 303"/>
              <p:cNvSpPr txBox="1"/>
              <p:nvPr/>
            </p:nvSpPr>
            <p:spPr>
              <a:xfrm>
                <a:off x="1663555" y="1121575"/>
                <a:ext cx="25770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000" dirty="0" smtClean="0">
                    <a:solidFill>
                      <a:schemeClr val="bg1"/>
                    </a:solidFill>
                  </a:rPr>
                  <a:t>A</a:t>
                </a:r>
                <a:endParaRPr lang="pt-BR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CaixaDeTexto 304"/>
              <p:cNvSpPr txBox="1"/>
              <p:nvPr/>
            </p:nvSpPr>
            <p:spPr>
              <a:xfrm>
                <a:off x="1669953" y="1594159"/>
                <a:ext cx="25770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000" dirty="0" smtClean="0">
                    <a:solidFill>
                      <a:schemeClr val="bg1"/>
                    </a:solidFill>
                  </a:rPr>
                  <a:t>A</a:t>
                </a:r>
                <a:endParaRPr lang="pt-BR" sz="1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02" name="CaixaDeTexto 301"/>
            <p:cNvSpPr txBox="1"/>
            <p:nvPr/>
          </p:nvSpPr>
          <p:spPr>
            <a:xfrm>
              <a:off x="1866451" y="1379136"/>
              <a:ext cx="162471" cy="184666"/>
            </a:xfrm>
            <a:prstGeom prst="rect">
              <a:avLst/>
            </a:prstGeom>
            <a:noFill/>
          </p:spPr>
          <p:txBody>
            <a:bodyPr wrap="none" lIns="0" tIns="0" rIns="72000" bIns="0" rtlCol="0">
              <a:spAutoFit/>
            </a:bodyPr>
            <a:lstStyle/>
            <a:p>
              <a:pPr algn="r"/>
              <a:r>
                <a:rPr lang="pt-BR" sz="1200" dirty="0" smtClean="0"/>
                <a:t>+</a:t>
              </a:r>
              <a:endParaRPr lang="pt-BR" dirty="0"/>
            </a:p>
          </p:txBody>
        </p:sp>
      </p:grpSp>
      <p:cxnSp>
        <p:nvCxnSpPr>
          <p:cNvPr id="313" name="Conector Angulado 392"/>
          <p:cNvCxnSpPr>
            <a:stCxn id="271" idx="3"/>
            <a:endCxn id="401" idx="1"/>
          </p:cNvCxnSpPr>
          <p:nvPr/>
        </p:nvCxnSpPr>
        <p:spPr bwMode="auto">
          <a:xfrm flipV="1">
            <a:off x="6312223" y="2082646"/>
            <a:ext cx="384834" cy="188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4" name="CaixaDeTexto 313"/>
          <p:cNvSpPr txBox="1"/>
          <p:nvPr/>
        </p:nvSpPr>
        <p:spPr>
          <a:xfrm>
            <a:off x="3035566" y="2980977"/>
            <a:ext cx="70532" cy="153888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noFill/>
              </a:rPr>
              <a:t>1</a:t>
            </a:r>
            <a:endParaRPr lang="pt-BR" sz="1000" dirty="0">
              <a:noFill/>
            </a:endParaRPr>
          </a:p>
        </p:txBody>
      </p:sp>
      <p:sp>
        <p:nvSpPr>
          <p:cNvPr id="315" name="CaixaDeTexto 314"/>
          <p:cNvSpPr txBox="1"/>
          <p:nvPr/>
        </p:nvSpPr>
        <p:spPr>
          <a:xfrm>
            <a:off x="2963802" y="2211741"/>
            <a:ext cx="70532" cy="153888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noFill/>
              </a:rPr>
              <a:t>1</a:t>
            </a:r>
            <a:endParaRPr lang="pt-BR" sz="1000" dirty="0">
              <a:noFill/>
            </a:endParaRPr>
          </a:p>
        </p:txBody>
      </p:sp>
      <p:sp>
        <p:nvSpPr>
          <p:cNvPr id="316" name="CaixaDeTexto 315"/>
          <p:cNvSpPr txBox="1"/>
          <p:nvPr/>
        </p:nvSpPr>
        <p:spPr>
          <a:xfrm>
            <a:off x="3073360" y="2825077"/>
            <a:ext cx="70532" cy="153888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noFill/>
              </a:rPr>
              <a:t>1</a:t>
            </a:r>
            <a:endParaRPr lang="pt-BR" sz="1000" dirty="0">
              <a:noFill/>
            </a:endParaRPr>
          </a:p>
        </p:txBody>
      </p:sp>
      <p:sp>
        <p:nvSpPr>
          <p:cNvPr id="317" name="CaixaDeTexto 316"/>
          <p:cNvSpPr txBox="1"/>
          <p:nvPr/>
        </p:nvSpPr>
        <p:spPr>
          <a:xfrm>
            <a:off x="3036310" y="2364141"/>
            <a:ext cx="70532" cy="153888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noFill/>
              </a:rPr>
              <a:t>1</a:t>
            </a:r>
            <a:endParaRPr lang="pt-BR" sz="1000" dirty="0">
              <a:noFill/>
            </a:endParaRPr>
          </a:p>
        </p:txBody>
      </p:sp>
      <p:sp>
        <p:nvSpPr>
          <p:cNvPr id="318" name="CaixaDeTexto 317"/>
          <p:cNvSpPr txBox="1"/>
          <p:nvPr/>
        </p:nvSpPr>
        <p:spPr>
          <a:xfrm>
            <a:off x="3088099" y="2673377"/>
            <a:ext cx="70532" cy="153888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noFill/>
              </a:rPr>
              <a:t>1</a:t>
            </a:r>
            <a:endParaRPr lang="pt-BR" sz="1000" dirty="0">
              <a:noFill/>
            </a:endParaRPr>
          </a:p>
        </p:txBody>
      </p:sp>
      <p:sp>
        <p:nvSpPr>
          <p:cNvPr id="319" name="CaixaDeTexto 318"/>
          <p:cNvSpPr txBox="1"/>
          <p:nvPr/>
        </p:nvSpPr>
        <p:spPr>
          <a:xfrm>
            <a:off x="3071824" y="2518021"/>
            <a:ext cx="70532" cy="153888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noFill/>
              </a:rPr>
              <a:t>1</a:t>
            </a:r>
            <a:endParaRPr lang="pt-BR" sz="1000" dirty="0">
              <a:noFill/>
            </a:endParaRPr>
          </a:p>
        </p:txBody>
      </p:sp>
      <p:sp>
        <p:nvSpPr>
          <p:cNvPr id="320" name="CaixaDeTexto 319"/>
          <p:cNvSpPr txBox="1"/>
          <p:nvPr/>
        </p:nvSpPr>
        <p:spPr>
          <a:xfrm>
            <a:off x="2971945" y="3400077"/>
            <a:ext cx="70532" cy="153888"/>
          </a:xfrm>
          <a:prstGeom prst="rect">
            <a:avLst/>
          </a:prstGeom>
          <a:noFill/>
          <a:ln w="6350"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noFill/>
              </a:rPr>
              <a:t>1</a:t>
            </a:r>
            <a:endParaRPr lang="pt-BR" sz="1000" dirty="0">
              <a:noFill/>
            </a:endParaRPr>
          </a:p>
        </p:txBody>
      </p:sp>
      <p:grpSp>
        <p:nvGrpSpPr>
          <p:cNvPr id="321" name="Agrupar 408"/>
          <p:cNvGrpSpPr/>
          <p:nvPr/>
        </p:nvGrpSpPr>
        <p:grpSpPr>
          <a:xfrm>
            <a:off x="3199637" y="3624754"/>
            <a:ext cx="1151263" cy="1744095"/>
            <a:chOff x="3199637" y="3358054"/>
            <a:chExt cx="1151263" cy="1744095"/>
          </a:xfrm>
        </p:grpSpPr>
        <p:grpSp>
          <p:nvGrpSpPr>
            <p:cNvPr id="322" name="Agrupar 3"/>
            <p:cNvGrpSpPr/>
            <p:nvPr/>
          </p:nvGrpSpPr>
          <p:grpSpPr>
            <a:xfrm>
              <a:off x="3199637" y="3358054"/>
              <a:ext cx="1151263" cy="1744095"/>
              <a:chOff x="3092957" y="3175174"/>
              <a:chExt cx="1151263" cy="1744095"/>
            </a:xfrm>
          </p:grpSpPr>
          <p:sp>
            <p:nvSpPr>
              <p:cNvPr id="324" name="Retângulo 323"/>
              <p:cNvSpPr/>
              <p:nvPr/>
            </p:nvSpPr>
            <p:spPr bwMode="auto">
              <a:xfrm>
                <a:off x="3092957" y="3175174"/>
                <a:ext cx="1151263" cy="1744095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25" name="CaixaDeTexto 324"/>
              <p:cNvSpPr txBox="1"/>
              <p:nvPr/>
            </p:nvSpPr>
            <p:spPr>
              <a:xfrm>
                <a:off x="3101137" y="3322703"/>
                <a:ext cx="188637" cy="161583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r>
                  <a:rPr lang="pt-BR" sz="1050" dirty="0" smtClean="0">
                    <a:latin typeface="Arial Narrow" panose="020B0606020202030204" pitchFamily="34" charset="0"/>
                  </a:rPr>
                  <a:t>rs1</a:t>
                </a:r>
                <a:endParaRPr lang="pt-BR" sz="105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26" name="CaixaDeTexto 325"/>
              <p:cNvSpPr txBox="1"/>
              <p:nvPr/>
            </p:nvSpPr>
            <p:spPr>
              <a:xfrm>
                <a:off x="3100304" y="3775506"/>
                <a:ext cx="188637" cy="161583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r>
                  <a:rPr lang="pt-BR" sz="1050" dirty="0" smtClean="0">
                    <a:latin typeface="Arial Narrow" panose="020B0606020202030204" pitchFamily="34" charset="0"/>
                  </a:rPr>
                  <a:t>rs2</a:t>
                </a:r>
                <a:endParaRPr lang="pt-BR" sz="105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27" name="CaixaDeTexto 326"/>
              <p:cNvSpPr txBox="1"/>
              <p:nvPr/>
            </p:nvSpPr>
            <p:spPr>
              <a:xfrm>
                <a:off x="3100978" y="4210931"/>
                <a:ext cx="134134" cy="161583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r>
                  <a:rPr lang="pt-BR" sz="1050" dirty="0" smtClean="0">
                    <a:latin typeface="Arial Narrow" panose="020B0606020202030204" pitchFamily="34" charset="0"/>
                  </a:rPr>
                  <a:t>rd</a:t>
                </a:r>
                <a:endParaRPr lang="pt-BR" sz="105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28" name="CaixaDeTexto 327"/>
              <p:cNvSpPr txBox="1"/>
              <p:nvPr/>
            </p:nvSpPr>
            <p:spPr>
              <a:xfrm>
                <a:off x="3870259" y="3570844"/>
                <a:ext cx="32380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pt-BR" sz="1050" dirty="0" smtClean="0">
                    <a:latin typeface="Arial Narrow" panose="020B0606020202030204" pitchFamily="34" charset="0"/>
                  </a:rPr>
                  <a:t>Dado1</a:t>
                </a:r>
                <a:endParaRPr lang="pt-BR" sz="105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29" name="CaixaDeTexto 328"/>
              <p:cNvSpPr txBox="1"/>
              <p:nvPr/>
            </p:nvSpPr>
            <p:spPr>
              <a:xfrm>
                <a:off x="3879039" y="4419244"/>
                <a:ext cx="360159" cy="161583"/>
              </a:xfrm>
              <a:prstGeom prst="rect">
                <a:avLst/>
              </a:prstGeom>
              <a:noFill/>
            </p:spPr>
            <p:txBody>
              <a:bodyPr wrap="none" lIns="0" tIns="0" rIns="36000" bIns="0" rtlCol="0">
                <a:spAutoFit/>
              </a:bodyPr>
              <a:lstStyle/>
              <a:p>
                <a:pPr algn="l"/>
                <a:r>
                  <a:rPr lang="pt-BR" sz="1050" dirty="0" smtClean="0">
                    <a:latin typeface="Arial Narrow" panose="020B0606020202030204" pitchFamily="34" charset="0"/>
                  </a:rPr>
                  <a:t>Dado2</a:t>
                </a:r>
                <a:endParaRPr lang="pt-BR" sz="105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30" name="CaixaDeTexto 329"/>
              <p:cNvSpPr txBox="1"/>
              <p:nvPr/>
            </p:nvSpPr>
            <p:spPr>
              <a:xfrm>
                <a:off x="3101131" y="4690473"/>
                <a:ext cx="664729" cy="161583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r>
                  <a:rPr lang="pt-BR" sz="1050" dirty="0" smtClean="0">
                    <a:latin typeface="Arial Narrow" panose="020B0606020202030204" pitchFamily="34" charset="0"/>
                  </a:rPr>
                  <a:t>Dado Escrita</a:t>
                </a:r>
                <a:endParaRPr lang="pt-BR" sz="105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31" name="CaixaDeTexto 330"/>
              <p:cNvSpPr txBox="1"/>
              <p:nvPr/>
            </p:nvSpPr>
            <p:spPr>
              <a:xfrm>
                <a:off x="3331720" y="3861594"/>
                <a:ext cx="86502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pt-BR" sz="1200" b="1" dirty="0" smtClean="0">
                    <a:latin typeface="Arial Narrow" panose="020B0606020202030204" pitchFamily="34" charset="0"/>
                  </a:rPr>
                  <a:t>Banco de</a:t>
                </a:r>
              </a:p>
              <a:p>
                <a:pPr algn="ctr"/>
                <a:r>
                  <a:rPr lang="pt-BR" sz="1200" b="1" dirty="0" smtClean="0">
                    <a:latin typeface="Arial Narrow" panose="020B0606020202030204" pitchFamily="34" charset="0"/>
                  </a:rPr>
                  <a:t>Registradores</a:t>
                </a:r>
                <a:endParaRPr lang="pt-BR" sz="1100" b="1" dirty="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323" name="CaixaDeTexto 322"/>
            <p:cNvSpPr txBox="1"/>
            <p:nvPr/>
          </p:nvSpPr>
          <p:spPr>
            <a:xfrm>
              <a:off x="3679029" y="3359484"/>
              <a:ext cx="188637" cy="161583"/>
            </a:xfrm>
            <a:prstGeom prst="rect">
              <a:avLst/>
            </a:prstGeom>
            <a:noFill/>
          </p:spPr>
          <p:txBody>
            <a:bodyPr wrap="none" lIns="36000" tIns="0" rIns="0" bIns="0" rtlCol="0">
              <a:spAutoFit/>
            </a:bodyPr>
            <a:lstStyle/>
            <a:p>
              <a:r>
                <a:rPr lang="pt-BR" sz="105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rs1</a:t>
              </a:r>
              <a:endParaRPr lang="pt-BR" sz="105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  <p:cxnSp>
        <p:nvCxnSpPr>
          <p:cNvPr id="332" name="Conector Angulado 410"/>
          <p:cNvCxnSpPr/>
          <p:nvPr/>
        </p:nvCxnSpPr>
        <p:spPr bwMode="auto">
          <a:xfrm>
            <a:off x="3023427" y="3477021"/>
            <a:ext cx="730871" cy="149163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33" name="Agrupar 417"/>
          <p:cNvGrpSpPr/>
          <p:nvPr/>
        </p:nvGrpSpPr>
        <p:grpSpPr>
          <a:xfrm>
            <a:off x="5253500" y="4784569"/>
            <a:ext cx="239568" cy="595188"/>
            <a:chOff x="4996325" y="4517869"/>
            <a:chExt cx="239568" cy="595188"/>
          </a:xfrm>
        </p:grpSpPr>
        <p:grpSp>
          <p:nvGrpSpPr>
            <p:cNvPr id="334" name="Agrupar 40998"/>
            <p:cNvGrpSpPr/>
            <p:nvPr/>
          </p:nvGrpSpPr>
          <p:grpSpPr>
            <a:xfrm>
              <a:off x="4996325" y="4517869"/>
              <a:ext cx="239568" cy="595188"/>
              <a:chOff x="4996325" y="4250081"/>
              <a:chExt cx="239568" cy="595188"/>
            </a:xfrm>
          </p:grpSpPr>
          <p:sp>
            <p:nvSpPr>
              <p:cNvPr id="336" name="CaixaDeTexto 335"/>
              <p:cNvSpPr txBox="1"/>
              <p:nvPr/>
            </p:nvSpPr>
            <p:spPr>
              <a:xfrm>
                <a:off x="4996385" y="4643067"/>
                <a:ext cx="94060" cy="153888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pPr algn="l"/>
                <a:r>
                  <a:rPr lang="pt-BR" sz="1000" dirty="0" smtClean="0">
                    <a:latin typeface="Arial Narrow" panose="020B0606020202030204" pitchFamily="34" charset="0"/>
                  </a:rPr>
                  <a:t>1</a:t>
                </a:r>
                <a:endParaRPr lang="pt-BR" sz="100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37" name="CaixaDeTexto 336"/>
              <p:cNvSpPr txBox="1"/>
              <p:nvPr/>
            </p:nvSpPr>
            <p:spPr>
              <a:xfrm>
                <a:off x="4996325" y="4340402"/>
                <a:ext cx="94060" cy="153888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pPr algn="l"/>
                <a:r>
                  <a:rPr lang="pt-BR" sz="1000" dirty="0">
                    <a:latin typeface="Arial Narrow" panose="020B0606020202030204" pitchFamily="34" charset="0"/>
                  </a:rPr>
                  <a:t>0</a:t>
                </a:r>
              </a:p>
            </p:txBody>
          </p:sp>
          <p:sp>
            <p:nvSpPr>
              <p:cNvPr id="338" name="CaixaDeTexto 337"/>
              <p:cNvSpPr txBox="1"/>
              <p:nvPr/>
            </p:nvSpPr>
            <p:spPr>
              <a:xfrm>
                <a:off x="5071564" y="4355653"/>
                <a:ext cx="164329" cy="350670"/>
              </a:xfrm>
              <a:prstGeom prst="rect">
                <a:avLst/>
              </a:prstGeom>
              <a:noFill/>
            </p:spPr>
            <p:txBody>
              <a:bodyPr vert="wordArtVert" wrap="square" lIns="0" tIns="0" rIns="0" bIns="0" rtlCol="0">
                <a:spAutoFit/>
              </a:bodyPr>
              <a:lstStyle/>
              <a:p>
                <a:r>
                  <a:rPr lang="pt-BR" sz="1000" spc="-600" dirty="0" err="1" smtClean="0">
                    <a:latin typeface="Arial Narrow" panose="020B0606020202030204" pitchFamily="34" charset="0"/>
                  </a:rPr>
                  <a:t>Mux</a:t>
                </a:r>
                <a:endParaRPr lang="pt-BR" sz="1000" spc="-60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39" name="Arco 338"/>
              <p:cNvSpPr/>
              <p:nvPr/>
            </p:nvSpPr>
            <p:spPr>
              <a:xfrm>
                <a:off x="5000327" y="4250081"/>
                <a:ext cx="233819" cy="280907"/>
              </a:xfrm>
              <a:prstGeom prst="arc">
                <a:avLst>
                  <a:gd name="adj1" fmla="val 10791467"/>
                  <a:gd name="adj2" fmla="val 44356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0" name="Arco 339"/>
              <p:cNvSpPr/>
              <p:nvPr/>
            </p:nvSpPr>
            <p:spPr>
              <a:xfrm flipV="1">
                <a:off x="5000325" y="4582917"/>
                <a:ext cx="233821" cy="262352"/>
              </a:xfrm>
              <a:prstGeom prst="arc">
                <a:avLst>
                  <a:gd name="adj1" fmla="val 10791467"/>
                  <a:gd name="adj2" fmla="val 0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341" name="Conector reto 340"/>
              <p:cNvCxnSpPr>
                <a:stCxn id="340" idx="0"/>
                <a:endCxn id="339" idx="0"/>
              </p:cNvCxnSpPr>
              <p:nvPr/>
            </p:nvCxnSpPr>
            <p:spPr>
              <a:xfrm flipV="1">
                <a:off x="5000325" y="4390834"/>
                <a:ext cx="2" cy="3229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Conector reto 341"/>
              <p:cNvCxnSpPr>
                <a:stCxn id="340" idx="2"/>
                <a:endCxn id="339" idx="2"/>
              </p:cNvCxnSpPr>
              <p:nvPr/>
            </p:nvCxnSpPr>
            <p:spPr>
              <a:xfrm flipH="1" flipV="1">
                <a:off x="5233428" y="4406076"/>
                <a:ext cx="718" cy="30801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5" name="CaixaDeTexto 334"/>
            <p:cNvSpPr txBox="1"/>
            <p:nvPr/>
          </p:nvSpPr>
          <p:spPr>
            <a:xfrm>
              <a:off x="5072990" y="4522174"/>
              <a:ext cx="94060" cy="153888"/>
            </a:xfrm>
            <a:prstGeom prst="rect">
              <a:avLst/>
            </a:prstGeom>
            <a:noFill/>
          </p:spPr>
          <p:txBody>
            <a:bodyPr wrap="none" lIns="36000" tIns="0" rIns="0" bIns="0" rtlCol="0">
              <a:spAutoFit/>
            </a:bodyPr>
            <a:lstStyle/>
            <a:p>
              <a:pPr algn="l"/>
              <a:r>
                <a:rPr lang="pt-BR" sz="100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0</a:t>
              </a:r>
            </a:p>
          </p:txBody>
        </p:sp>
      </p:grpSp>
      <p:cxnSp>
        <p:nvCxnSpPr>
          <p:cNvPr id="343" name="Conector Angulado 419"/>
          <p:cNvCxnSpPr>
            <a:endCxn id="335" idx="0"/>
          </p:cNvCxnSpPr>
          <p:nvPr/>
        </p:nvCxnSpPr>
        <p:spPr bwMode="auto">
          <a:xfrm>
            <a:off x="3096573" y="3324621"/>
            <a:ext cx="2280622" cy="1464253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44" name="Agrupar 422"/>
          <p:cNvGrpSpPr/>
          <p:nvPr/>
        </p:nvGrpSpPr>
        <p:grpSpPr>
          <a:xfrm>
            <a:off x="6814081" y="4365035"/>
            <a:ext cx="829449" cy="1389551"/>
            <a:chOff x="6768361" y="4098335"/>
            <a:chExt cx="829449" cy="1389551"/>
          </a:xfrm>
        </p:grpSpPr>
        <p:grpSp>
          <p:nvGrpSpPr>
            <p:cNvPr id="345" name="Agrupar 93"/>
            <p:cNvGrpSpPr/>
            <p:nvPr/>
          </p:nvGrpSpPr>
          <p:grpSpPr>
            <a:xfrm>
              <a:off x="6768361" y="4098335"/>
              <a:ext cx="829449" cy="1389551"/>
              <a:chOff x="6661681" y="3778631"/>
              <a:chExt cx="829449" cy="1389551"/>
            </a:xfrm>
          </p:grpSpPr>
          <p:sp>
            <p:nvSpPr>
              <p:cNvPr id="348" name="Retângulo 347"/>
              <p:cNvSpPr/>
              <p:nvPr/>
            </p:nvSpPr>
            <p:spPr bwMode="auto">
              <a:xfrm>
                <a:off x="6664360" y="3778631"/>
                <a:ext cx="826770" cy="138955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49" name="CaixaDeTexto 348"/>
              <p:cNvSpPr txBox="1"/>
              <p:nvPr/>
            </p:nvSpPr>
            <p:spPr>
              <a:xfrm>
                <a:off x="6832560" y="4254432"/>
                <a:ext cx="622378" cy="3539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pt-BR" sz="1200" b="1" dirty="0" smtClean="0">
                    <a:latin typeface="Arial Narrow" panose="020B0606020202030204" pitchFamily="34" charset="0"/>
                  </a:rPr>
                  <a:t>Memória</a:t>
                </a:r>
                <a:endParaRPr lang="pt-BR" sz="1200" b="1" dirty="0">
                  <a:latin typeface="Arial Narrow" panose="020B0606020202030204" pitchFamily="34" charset="0"/>
                </a:endParaRPr>
              </a:p>
              <a:p>
                <a:pPr algn="ctr"/>
                <a:r>
                  <a:rPr lang="pt-BR" sz="1100" b="1" dirty="0" smtClean="0">
                    <a:latin typeface="Arial Narrow" panose="020B0606020202030204" pitchFamily="34" charset="0"/>
                  </a:rPr>
                  <a:t>Dados</a:t>
                </a:r>
                <a:endParaRPr lang="pt-BR" sz="1100" b="1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50" name="CaixaDeTexto 349"/>
              <p:cNvSpPr txBox="1"/>
              <p:nvPr/>
            </p:nvSpPr>
            <p:spPr>
              <a:xfrm>
                <a:off x="6672659" y="3975681"/>
                <a:ext cx="501766" cy="153888"/>
              </a:xfrm>
              <a:prstGeom prst="rect">
                <a:avLst/>
              </a:prstGeom>
              <a:noFill/>
            </p:spPr>
            <p:txBody>
              <a:bodyPr wrap="none" lIns="54000" tIns="0" rIns="0" bIns="0" rtlCol="0">
                <a:spAutoFit/>
              </a:bodyPr>
              <a:lstStyle/>
              <a:p>
                <a:pPr algn="l"/>
                <a:r>
                  <a:rPr lang="pt-BR" sz="1000" dirty="0" smtClean="0">
                    <a:latin typeface="Arial Narrow" panose="020B0606020202030204" pitchFamily="34" charset="0"/>
                  </a:rPr>
                  <a:t>Endereço</a:t>
                </a:r>
                <a:endParaRPr lang="pt-BR" sz="90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51" name="CaixaDeTexto 350"/>
              <p:cNvSpPr txBox="1"/>
              <p:nvPr/>
            </p:nvSpPr>
            <p:spPr>
              <a:xfrm>
                <a:off x="6661681" y="4860672"/>
                <a:ext cx="321169" cy="153888"/>
              </a:xfrm>
              <a:prstGeom prst="rect">
                <a:avLst/>
              </a:prstGeom>
              <a:noFill/>
            </p:spPr>
            <p:txBody>
              <a:bodyPr wrap="none" lIns="72000" tIns="0" rIns="0" bIns="0" rtlCol="0">
                <a:spAutoFit/>
              </a:bodyPr>
              <a:lstStyle/>
              <a:p>
                <a:pPr algn="l"/>
                <a:r>
                  <a:rPr lang="pt-BR" sz="1000" dirty="0" smtClean="0">
                    <a:latin typeface="Arial Narrow" panose="020B0606020202030204" pitchFamily="34" charset="0"/>
                  </a:rPr>
                  <a:t>Dado</a:t>
                </a:r>
                <a:endParaRPr lang="pt-BR" sz="900" dirty="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346" name="CaixaDeTexto 345"/>
            <p:cNvSpPr txBox="1"/>
            <p:nvPr/>
          </p:nvSpPr>
          <p:spPr>
            <a:xfrm>
              <a:off x="6876710" y="4102120"/>
              <a:ext cx="125059" cy="153888"/>
            </a:xfrm>
            <a:prstGeom prst="rect">
              <a:avLst/>
            </a:prstGeom>
            <a:noFill/>
          </p:spPr>
          <p:txBody>
            <a:bodyPr wrap="none" lIns="54000" tIns="0" rIns="0" bIns="0" rtlCol="0">
              <a:spAutoFit/>
            </a:bodyPr>
            <a:lstStyle/>
            <a:p>
              <a:pPr algn="l"/>
              <a:r>
                <a:rPr lang="pt-BR" sz="10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A</a:t>
              </a:r>
              <a:endParaRPr lang="pt-BR" sz="9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47" name="CaixaDeTexto 346"/>
            <p:cNvSpPr txBox="1"/>
            <p:nvPr/>
          </p:nvSpPr>
          <p:spPr>
            <a:xfrm>
              <a:off x="7293342" y="4098335"/>
              <a:ext cx="125059" cy="153888"/>
            </a:xfrm>
            <a:prstGeom prst="rect">
              <a:avLst/>
            </a:prstGeom>
            <a:noFill/>
          </p:spPr>
          <p:txBody>
            <a:bodyPr wrap="none" lIns="54000" tIns="0" rIns="0" bIns="0" rtlCol="0">
              <a:spAutoFit/>
            </a:bodyPr>
            <a:lstStyle/>
            <a:p>
              <a:pPr algn="l"/>
              <a:r>
                <a:rPr lang="pt-BR" sz="10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A</a:t>
              </a:r>
              <a:endParaRPr lang="pt-BR" sz="9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  <p:cxnSp>
        <p:nvCxnSpPr>
          <p:cNvPr id="352" name="Conector Angulado 424"/>
          <p:cNvCxnSpPr/>
          <p:nvPr/>
        </p:nvCxnSpPr>
        <p:spPr bwMode="auto">
          <a:xfrm>
            <a:off x="3145409" y="3109009"/>
            <a:ext cx="3810976" cy="1259811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53" name="Agrupar 429"/>
          <p:cNvGrpSpPr/>
          <p:nvPr/>
        </p:nvGrpSpPr>
        <p:grpSpPr>
          <a:xfrm>
            <a:off x="7954760" y="4915405"/>
            <a:ext cx="241044" cy="595188"/>
            <a:chOff x="7954760" y="4648705"/>
            <a:chExt cx="241044" cy="595188"/>
          </a:xfrm>
        </p:grpSpPr>
        <p:grpSp>
          <p:nvGrpSpPr>
            <p:cNvPr id="354" name="Agrupar 40993"/>
            <p:cNvGrpSpPr/>
            <p:nvPr/>
          </p:nvGrpSpPr>
          <p:grpSpPr>
            <a:xfrm>
              <a:off x="7954760" y="4648705"/>
              <a:ext cx="241044" cy="595188"/>
              <a:chOff x="7951057" y="4390534"/>
              <a:chExt cx="241044" cy="595188"/>
            </a:xfrm>
          </p:grpSpPr>
          <p:sp>
            <p:nvSpPr>
              <p:cNvPr id="356" name="CaixaDeTexto 355"/>
              <p:cNvSpPr txBox="1"/>
              <p:nvPr/>
            </p:nvSpPr>
            <p:spPr>
              <a:xfrm>
                <a:off x="7959894" y="4783520"/>
                <a:ext cx="94060" cy="153888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r>
                  <a:rPr lang="pt-BR" sz="1000" dirty="0">
                    <a:latin typeface="Arial Narrow" panose="020B0606020202030204" pitchFamily="34" charset="0"/>
                  </a:rPr>
                  <a:t>0</a:t>
                </a:r>
              </a:p>
            </p:txBody>
          </p:sp>
          <p:sp>
            <p:nvSpPr>
              <p:cNvPr id="357" name="CaixaDeTexto 356"/>
              <p:cNvSpPr txBox="1"/>
              <p:nvPr/>
            </p:nvSpPr>
            <p:spPr>
              <a:xfrm>
                <a:off x="7959832" y="4455735"/>
                <a:ext cx="94060" cy="153888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r>
                  <a:rPr lang="pt-BR" sz="1000" dirty="0">
                    <a:latin typeface="Arial Narrow" panose="020B0606020202030204" pitchFamily="34" charset="0"/>
                  </a:rPr>
                  <a:t>1</a:t>
                </a:r>
              </a:p>
            </p:txBody>
          </p:sp>
          <p:sp>
            <p:nvSpPr>
              <p:cNvPr id="358" name="CaixaDeTexto 357"/>
              <p:cNvSpPr txBox="1"/>
              <p:nvPr/>
            </p:nvSpPr>
            <p:spPr>
              <a:xfrm>
                <a:off x="8014448" y="4491082"/>
                <a:ext cx="169405" cy="350670"/>
              </a:xfrm>
              <a:prstGeom prst="rect">
                <a:avLst/>
              </a:prstGeom>
              <a:noFill/>
            </p:spPr>
            <p:txBody>
              <a:bodyPr vert="wordArtVert" wrap="square" lIns="0" tIns="0" rIns="0" bIns="0" rtlCol="0">
                <a:spAutoFit/>
              </a:bodyPr>
              <a:lstStyle/>
              <a:p>
                <a:r>
                  <a:rPr lang="pt-BR" sz="1000" spc="-600" dirty="0" err="1" smtClean="0">
                    <a:latin typeface="Arial Narrow" panose="020B0606020202030204" pitchFamily="34" charset="0"/>
                  </a:rPr>
                  <a:t>Mux</a:t>
                </a:r>
                <a:endParaRPr lang="pt-BR" sz="1000" spc="-60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359" name="Arco 358"/>
              <p:cNvSpPr/>
              <p:nvPr/>
            </p:nvSpPr>
            <p:spPr>
              <a:xfrm>
                <a:off x="7951059" y="4390534"/>
                <a:ext cx="241042" cy="280907"/>
              </a:xfrm>
              <a:prstGeom prst="arc">
                <a:avLst>
                  <a:gd name="adj1" fmla="val 10791467"/>
                  <a:gd name="adj2" fmla="val 44356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60" name="Arco 359"/>
              <p:cNvSpPr/>
              <p:nvPr/>
            </p:nvSpPr>
            <p:spPr>
              <a:xfrm flipV="1">
                <a:off x="7951057" y="4723370"/>
                <a:ext cx="241044" cy="262352"/>
              </a:xfrm>
              <a:prstGeom prst="arc">
                <a:avLst>
                  <a:gd name="adj1" fmla="val 10791467"/>
                  <a:gd name="adj2" fmla="val 0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361" name="Conector reto 360"/>
              <p:cNvCxnSpPr>
                <a:stCxn id="360" idx="0"/>
                <a:endCxn id="359" idx="0"/>
              </p:cNvCxnSpPr>
              <p:nvPr/>
            </p:nvCxnSpPr>
            <p:spPr>
              <a:xfrm flipV="1">
                <a:off x="7951057" y="4531287"/>
                <a:ext cx="2" cy="3229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Conector reto 361"/>
              <p:cNvCxnSpPr>
                <a:stCxn id="360" idx="2"/>
                <a:endCxn id="359" idx="2"/>
              </p:cNvCxnSpPr>
              <p:nvPr/>
            </p:nvCxnSpPr>
            <p:spPr>
              <a:xfrm flipH="1" flipV="1">
                <a:off x="8191361" y="4546529"/>
                <a:ext cx="740" cy="30801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5" name="CaixaDeTexto 354"/>
            <p:cNvSpPr txBox="1"/>
            <p:nvPr/>
          </p:nvSpPr>
          <p:spPr>
            <a:xfrm>
              <a:off x="8028420" y="4649022"/>
              <a:ext cx="94061" cy="153888"/>
            </a:xfrm>
            <a:prstGeom prst="rect">
              <a:avLst/>
            </a:prstGeom>
            <a:noFill/>
          </p:spPr>
          <p:txBody>
            <a:bodyPr wrap="none" lIns="36000" tIns="0" rIns="0" bIns="0" rtlCol="0">
              <a:spAutoFit/>
            </a:bodyPr>
            <a:lstStyle/>
            <a:p>
              <a:r>
                <a:rPr lang="pt-BR" sz="10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0</a:t>
              </a:r>
              <a:endParaRPr lang="pt-BR" sz="10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  <p:cxnSp>
        <p:nvCxnSpPr>
          <p:cNvPr id="363" name="Conector Angulado 440"/>
          <p:cNvCxnSpPr/>
          <p:nvPr/>
        </p:nvCxnSpPr>
        <p:spPr bwMode="auto">
          <a:xfrm rot="10800000">
            <a:off x="3771830" y="1282068"/>
            <a:ext cx="4303452" cy="746833"/>
          </a:xfrm>
          <a:prstGeom prst="bentConnector3">
            <a:avLst>
              <a:gd name="adj1" fmla="val 67"/>
            </a:avLst>
          </a:prstGeom>
          <a:solidFill>
            <a:schemeClr val="accent1"/>
          </a:solidFill>
          <a:ln w="12700" cap="flat" cmpd="sng" algn="ctr">
            <a:solidFill>
              <a:srgbClr val="00B0F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364" name="Conector Angulado 428"/>
          <p:cNvCxnSpPr>
            <a:endCxn id="355" idx="0"/>
          </p:cNvCxnSpPr>
          <p:nvPr/>
        </p:nvCxnSpPr>
        <p:spPr bwMode="auto">
          <a:xfrm rot="5400000">
            <a:off x="6567179" y="3407448"/>
            <a:ext cx="3016547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5" name="Conector Angulado 449"/>
          <p:cNvCxnSpPr>
            <a:endCxn id="315" idx="3"/>
          </p:cNvCxnSpPr>
          <p:nvPr/>
        </p:nvCxnSpPr>
        <p:spPr bwMode="auto">
          <a:xfrm rot="5400000">
            <a:off x="2899527" y="1414865"/>
            <a:ext cx="1008628" cy="739013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rgbClr val="00B0F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366" name="Conector Angulado 472"/>
          <p:cNvCxnSpPr/>
          <p:nvPr/>
        </p:nvCxnSpPr>
        <p:spPr bwMode="auto">
          <a:xfrm>
            <a:off x="3097317" y="2441085"/>
            <a:ext cx="4294750" cy="192395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67" name="CaixaDeTexto 366"/>
          <p:cNvSpPr txBox="1"/>
          <p:nvPr/>
        </p:nvSpPr>
        <p:spPr>
          <a:xfrm>
            <a:off x="3206031" y="3319669"/>
            <a:ext cx="62998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pt-BR" sz="1050" b="1" dirty="0" err="1" smtClean="0">
                <a:solidFill>
                  <a:srgbClr val="0070C0"/>
                </a:solidFill>
                <a:latin typeface="Arial Narrow" panose="020B0606020202030204" pitchFamily="34" charset="0"/>
              </a:rPr>
              <a:t>EscreveReg</a:t>
            </a:r>
            <a:endParaRPr lang="pt-BR" sz="105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68" name="CaixaDeTexto 367"/>
          <p:cNvSpPr txBox="1"/>
          <p:nvPr/>
        </p:nvSpPr>
        <p:spPr>
          <a:xfrm>
            <a:off x="3380759" y="3153915"/>
            <a:ext cx="45525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pt-BR" sz="1050" b="1" dirty="0" err="1" smtClean="0">
                <a:solidFill>
                  <a:srgbClr val="0070C0"/>
                </a:solidFill>
                <a:latin typeface="Arial Narrow" panose="020B0606020202030204" pitchFamily="34" charset="0"/>
              </a:rPr>
              <a:t>OrigULA</a:t>
            </a:r>
            <a:endParaRPr lang="pt-BR" sz="105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69" name="CaixaDeTexto 368"/>
          <p:cNvSpPr txBox="1"/>
          <p:nvPr/>
        </p:nvSpPr>
        <p:spPr>
          <a:xfrm>
            <a:off x="3361869" y="2286625"/>
            <a:ext cx="37830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pt-BR" sz="1050" b="1" dirty="0" err="1" smtClean="0">
                <a:solidFill>
                  <a:srgbClr val="0070C0"/>
                </a:solidFill>
                <a:latin typeface="Arial Narrow" panose="020B0606020202030204" pitchFamily="34" charset="0"/>
              </a:rPr>
              <a:t>LeMem</a:t>
            </a:r>
            <a:endParaRPr lang="pt-BR" sz="105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70" name="CaixaDeTexto 369"/>
          <p:cNvSpPr txBox="1"/>
          <p:nvPr/>
        </p:nvSpPr>
        <p:spPr>
          <a:xfrm>
            <a:off x="3575264" y="2699234"/>
            <a:ext cx="62036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pt-BR" sz="1050" b="1" dirty="0" err="1" smtClean="0">
                <a:solidFill>
                  <a:srgbClr val="0070C0"/>
                </a:solidFill>
                <a:latin typeface="Arial Narrow" panose="020B0606020202030204" pitchFamily="34" charset="0"/>
              </a:rPr>
              <a:t>ALUControl</a:t>
            </a:r>
            <a:endParaRPr lang="pt-BR" sz="105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71" name="CaixaDeTexto 370"/>
          <p:cNvSpPr txBox="1"/>
          <p:nvPr/>
        </p:nvSpPr>
        <p:spPr>
          <a:xfrm>
            <a:off x="3500333" y="2449148"/>
            <a:ext cx="381515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pt-BR" sz="1050" b="1" dirty="0" err="1" smtClean="0">
                <a:solidFill>
                  <a:srgbClr val="0070C0"/>
                </a:solidFill>
                <a:latin typeface="Arial Narrow" panose="020B0606020202030204" pitchFamily="34" charset="0"/>
              </a:rPr>
              <a:t>OrigPC</a:t>
            </a:r>
            <a:endParaRPr lang="pt-BR" sz="105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72" name="CaixaDeTexto 371"/>
          <p:cNvSpPr txBox="1"/>
          <p:nvPr/>
        </p:nvSpPr>
        <p:spPr>
          <a:xfrm>
            <a:off x="3414397" y="2937167"/>
            <a:ext cx="67165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pt-BR" sz="1050" b="1" dirty="0" err="1" smtClean="0">
                <a:solidFill>
                  <a:srgbClr val="0070C0"/>
                </a:solidFill>
                <a:latin typeface="Arial Narrow" panose="020B0606020202030204" pitchFamily="34" charset="0"/>
              </a:rPr>
              <a:t>EscreveMem</a:t>
            </a:r>
            <a:endParaRPr lang="pt-BR" sz="105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73" name="CaixaDeTexto 372"/>
          <p:cNvSpPr txBox="1"/>
          <p:nvPr/>
        </p:nvSpPr>
        <p:spPr>
          <a:xfrm>
            <a:off x="3200694" y="2144787"/>
            <a:ext cx="51937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pt-BR" sz="1050" b="1" dirty="0" smtClean="0">
                <a:solidFill>
                  <a:srgbClr val="0070C0"/>
                </a:solidFill>
                <a:latin typeface="Arial Narrow" panose="020B0606020202030204" pitchFamily="34" charset="0"/>
              </a:rPr>
              <a:t>Mem2Reg</a:t>
            </a:r>
            <a:endParaRPr lang="pt-BR" sz="105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374" name="CaixaDeTexto 373"/>
          <p:cNvSpPr txBox="1"/>
          <p:nvPr/>
        </p:nvSpPr>
        <p:spPr>
          <a:xfrm>
            <a:off x="2063023" y="2558632"/>
            <a:ext cx="31739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[31:0]</a:t>
            </a:r>
            <a:endParaRPr lang="pt-BR" sz="1000" dirty="0"/>
          </a:p>
        </p:txBody>
      </p:sp>
      <p:sp>
        <p:nvSpPr>
          <p:cNvPr id="375" name="CaixaDeTexto 374"/>
          <p:cNvSpPr txBox="1"/>
          <p:nvPr/>
        </p:nvSpPr>
        <p:spPr>
          <a:xfrm>
            <a:off x="3296573" y="5711514"/>
            <a:ext cx="31739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[31:0]</a:t>
            </a:r>
            <a:endParaRPr lang="pt-BR" sz="1000" dirty="0"/>
          </a:p>
        </p:txBody>
      </p:sp>
      <p:sp>
        <p:nvSpPr>
          <p:cNvPr id="376" name="CaixaDeTexto 375"/>
          <p:cNvSpPr txBox="1"/>
          <p:nvPr/>
        </p:nvSpPr>
        <p:spPr>
          <a:xfrm>
            <a:off x="5138046" y="5750916"/>
            <a:ext cx="56425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[30,14:12]</a:t>
            </a:r>
            <a:endParaRPr lang="pt-BR" sz="1000" dirty="0"/>
          </a:p>
        </p:txBody>
      </p:sp>
      <p:sp>
        <p:nvSpPr>
          <p:cNvPr id="377" name="Elipse 376"/>
          <p:cNvSpPr/>
          <p:nvPr/>
        </p:nvSpPr>
        <p:spPr bwMode="auto">
          <a:xfrm>
            <a:off x="4636202" y="4346888"/>
            <a:ext cx="302681" cy="329892"/>
          </a:xfrm>
          <a:prstGeom prst="ellipse">
            <a:avLst/>
          </a:prstGeom>
          <a:noFill/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78" name="Conector reto 377"/>
          <p:cNvCxnSpPr>
            <a:stCxn id="377" idx="0"/>
          </p:cNvCxnSpPr>
          <p:nvPr/>
        </p:nvCxnSpPr>
        <p:spPr bwMode="auto">
          <a:xfrm flipV="1">
            <a:off x="4787543" y="4088296"/>
            <a:ext cx="0" cy="258593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379" name="CaixaDeTexto 378"/>
          <p:cNvSpPr txBox="1"/>
          <p:nvPr/>
        </p:nvSpPr>
        <p:spPr>
          <a:xfrm>
            <a:off x="4642080" y="4424753"/>
            <a:ext cx="293349" cy="18466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600" dirty="0" smtClean="0">
                <a:solidFill>
                  <a:srgbClr val="16A6C8"/>
                </a:solidFill>
                <a:latin typeface="+mn-lt"/>
              </a:rPr>
              <a:t>Controle</a:t>
            </a:r>
          </a:p>
          <a:p>
            <a:pPr algn="ctr"/>
            <a:r>
              <a:rPr lang="pt-BR" sz="600" dirty="0" err="1" smtClean="0">
                <a:solidFill>
                  <a:srgbClr val="16A6C8"/>
                </a:solidFill>
                <a:latin typeface="+mn-lt"/>
              </a:rPr>
              <a:t>Branch</a:t>
            </a:r>
            <a:endParaRPr lang="pt-BR" sz="600" dirty="0" smtClean="0">
              <a:solidFill>
                <a:srgbClr val="16A6C8"/>
              </a:solidFill>
              <a:latin typeface="+mn-lt"/>
            </a:endParaRPr>
          </a:p>
        </p:txBody>
      </p:sp>
      <p:cxnSp>
        <p:nvCxnSpPr>
          <p:cNvPr id="380" name="Conector reto 379"/>
          <p:cNvCxnSpPr/>
          <p:nvPr/>
        </p:nvCxnSpPr>
        <p:spPr bwMode="auto">
          <a:xfrm flipV="1">
            <a:off x="4790454" y="4676781"/>
            <a:ext cx="0" cy="272834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81" name="Elipse 380"/>
          <p:cNvSpPr/>
          <p:nvPr/>
        </p:nvSpPr>
        <p:spPr bwMode="auto">
          <a:xfrm>
            <a:off x="4750310" y="4060488"/>
            <a:ext cx="74361" cy="752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2" name="Elipse 381"/>
          <p:cNvSpPr/>
          <p:nvPr/>
        </p:nvSpPr>
        <p:spPr bwMode="auto">
          <a:xfrm>
            <a:off x="4754307" y="4910790"/>
            <a:ext cx="67601" cy="752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83" name="Conector de Seta Reta 132"/>
          <p:cNvCxnSpPr>
            <a:endCxn id="377" idx="2"/>
          </p:cNvCxnSpPr>
          <p:nvPr/>
        </p:nvCxnSpPr>
        <p:spPr bwMode="auto">
          <a:xfrm flipV="1">
            <a:off x="2192592" y="4511834"/>
            <a:ext cx="2443610" cy="950040"/>
          </a:xfrm>
          <a:prstGeom prst="bentConnector3">
            <a:avLst>
              <a:gd name="adj1" fmla="val 95366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sp>
        <p:nvSpPr>
          <p:cNvPr id="384" name="CaixaDeTexto 383"/>
          <p:cNvSpPr txBox="1"/>
          <p:nvPr/>
        </p:nvSpPr>
        <p:spPr>
          <a:xfrm>
            <a:off x="2350237" y="5293188"/>
            <a:ext cx="3879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[14:12]</a:t>
            </a:r>
            <a:endParaRPr lang="pt-BR" sz="1000" dirty="0"/>
          </a:p>
        </p:txBody>
      </p:sp>
      <p:cxnSp>
        <p:nvCxnSpPr>
          <p:cNvPr id="385" name="Conector Angulado 133"/>
          <p:cNvCxnSpPr>
            <a:stCxn id="377" idx="6"/>
          </p:cNvCxnSpPr>
          <p:nvPr/>
        </p:nvCxnSpPr>
        <p:spPr bwMode="auto">
          <a:xfrm flipV="1">
            <a:off x="4938883" y="2732619"/>
            <a:ext cx="291014" cy="1779215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86" name="Conector Angulado 41044"/>
          <p:cNvCxnSpPr>
            <a:stCxn id="319" idx="3"/>
          </p:cNvCxnSpPr>
          <p:nvPr/>
        </p:nvCxnSpPr>
        <p:spPr bwMode="auto">
          <a:xfrm flipV="1">
            <a:off x="3142356" y="2204171"/>
            <a:ext cx="4413681" cy="390794"/>
          </a:xfrm>
          <a:prstGeom prst="bentConnector3">
            <a:avLst>
              <a:gd name="adj1" fmla="val 100067"/>
            </a:avLst>
          </a:prstGeom>
          <a:solidFill>
            <a:schemeClr val="accent1"/>
          </a:solidFill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7" name="CaixaDeTexto 386"/>
          <p:cNvSpPr txBox="1"/>
          <p:nvPr/>
        </p:nvSpPr>
        <p:spPr>
          <a:xfrm>
            <a:off x="7456331" y="2005891"/>
            <a:ext cx="577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>
                <a:latin typeface="Arial Narrow" panose="020B0606020202030204" pitchFamily="34" charset="0"/>
              </a:rPr>
              <a:t>3</a:t>
            </a:r>
          </a:p>
        </p:txBody>
      </p:sp>
      <p:sp>
        <p:nvSpPr>
          <p:cNvPr id="388" name="CaixaDeTexto 387"/>
          <p:cNvSpPr txBox="1"/>
          <p:nvPr/>
        </p:nvSpPr>
        <p:spPr>
          <a:xfrm>
            <a:off x="7462465" y="1502545"/>
            <a:ext cx="577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389" name="CaixaDeTexto 388"/>
          <p:cNvSpPr txBox="1"/>
          <p:nvPr/>
        </p:nvSpPr>
        <p:spPr>
          <a:xfrm>
            <a:off x="7514039" y="1622855"/>
            <a:ext cx="169405" cy="350670"/>
          </a:xfrm>
          <a:prstGeom prst="rect">
            <a:avLst/>
          </a:prstGeom>
          <a:noFill/>
        </p:spPr>
        <p:txBody>
          <a:bodyPr vert="wordArtVert" wrap="square" lIns="0" tIns="0" rIns="0" bIns="0" rtlCol="0">
            <a:spAutoFit/>
          </a:bodyPr>
          <a:lstStyle/>
          <a:p>
            <a:r>
              <a:rPr lang="pt-BR" sz="1000" spc="-600" dirty="0" err="1" smtClean="0">
                <a:latin typeface="Arial Narrow" panose="020B0606020202030204" pitchFamily="34" charset="0"/>
              </a:rPr>
              <a:t>Mux</a:t>
            </a:r>
            <a:endParaRPr lang="pt-BR" sz="1000" spc="-600" dirty="0">
              <a:latin typeface="Arial Narrow" panose="020B0606020202030204" pitchFamily="34" charset="0"/>
            </a:endParaRPr>
          </a:p>
        </p:txBody>
      </p:sp>
      <p:sp>
        <p:nvSpPr>
          <p:cNvPr id="390" name="Arco 389"/>
          <p:cNvSpPr/>
          <p:nvPr/>
        </p:nvSpPr>
        <p:spPr>
          <a:xfrm>
            <a:off x="7435516" y="1437344"/>
            <a:ext cx="241042" cy="280907"/>
          </a:xfrm>
          <a:prstGeom prst="arc">
            <a:avLst>
              <a:gd name="adj1" fmla="val 10791467"/>
              <a:gd name="adj2" fmla="val 44356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1" name="Arco 390"/>
          <p:cNvSpPr/>
          <p:nvPr/>
        </p:nvSpPr>
        <p:spPr>
          <a:xfrm flipV="1">
            <a:off x="7429318" y="1945741"/>
            <a:ext cx="241044" cy="262352"/>
          </a:xfrm>
          <a:prstGeom prst="arc">
            <a:avLst>
              <a:gd name="adj1" fmla="val 10791467"/>
              <a:gd name="adj2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2" name="Conector reto 391"/>
          <p:cNvCxnSpPr>
            <a:stCxn id="391" idx="0"/>
            <a:endCxn id="390" idx="0"/>
          </p:cNvCxnSpPr>
          <p:nvPr/>
        </p:nvCxnSpPr>
        <p:spPr>
          <a:xfrm flipV="1">
            <a:off x="7429318" y="1578097"/>
            <a:ext cx="6198" cy="4985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onector reto 392"/>
          <p:cNvCxnSpPr>
            <a:stCxn id="391" idx="2"/>
            <a:endCxn id="390" idx="2"/>
          </p:cNvCxnSpPr>
          <p:nvPr/>
        </p:nvCxnSpPr>
        <p:spPr>
          <a:xfrm flipV="1">
            <a:off x="7670362" y="1593339"/>
            <a:ext cx="5456" cy="4835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CaixaDeTexto 393"/>
          <p:cNvSpPr txBox="1"/>
          <p:nvPr/>
        </p:nvSpPr>
        <p:spPr>
          <a:xfrm>
            <a:off x="7456331" y="1676330"/>
            <a:ext cx="577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latin typeface="Arial Narrow" panose="020B0606020202030204" pitchFamily="34" charset="0"/>
              </a:rPr>
              <a:t>1</a:t>
            </a:r>
            <a:endParaRPr lang="pt-BR" sz="1000" dirty="0">
              <a:latin typeface="Arial Narrow" panose="020B0606020202030204" pitchFamily="34" charset="0"/>
            </a:endParaRPr>
          </a:p>
        </p:txBody>
      </p:sp>
      <p:sp>
        <p:nvSpPr>
          <p:cNvPr id="395" name="CaixaDeTexto 394"/>
          <p:cNvSpPr txBox="1"/>
          <p:nvPr/>
        </p:nvSpPr>
        <p:spPr>
          <a:xfrm>
            <a:off x="7456331" y="1843951"/>
            <a:ext cx="577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latin typeface="Arial Narrow" panose="020B0606020202030204" pitchFamily="34" charset="0"/>
              </a:rPr>
              <a:t>2</a:t>
            </a:r>
            <a:endParaRPr lang="pt-BR" sz="1000" dirty="0">
              <a:latin typeface="Arial Narrow" panose="020B0606020202030204" pitchFamily="34" charset="0"/>
            </a:endParaRPr>
          </a:p>
        </p:txBody>
      </p:sp>
      <p:cxnSp>
        <p:nvCxnSpPr>
          <p:cNvPr id="396" name="Conector reto 395"/>
          <p:cNvCxnSpPr/>
          <p:nvPr/>
        </p:nvCxnSpPr>
        <p:spPr bwMode="auto">
          <a:xfrm>
            <a:off x="8601076" y="990599"/>
            <a:ext cx="0" cy="8075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7" name="Conector reto 396"/>
          <p:cNvCxnSpPr>
            <a:stCxn id="389" idx="3"/>
          </p:cNvCxnSpPr>
          <p:nvPr/>
        </p:nvCxnSpPr>
        <p:spPr bwMode="auto">
          <a:xfrm>
            <a:off x="7683444" y="1798190"/>
            <a:ext cx="91763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98" name="Agrupar 417"/>
          <p:cNvGrpSpPr/>
          <p:nvPr/>
        </p:nvGrpSpPr>
        <p:grpSpPr>
          <a:xfrm>
            <a:off x="6696997" y="1612716"/>
            <a:ext cx="241146" cy="595188"/>
            <a:chOff x="4996325" y="4517869"/>
            <a:chExt cx="241146" cy="595188"/>
          </a:xfrm>
        </p:grpSpPr>
        <p:grpSp>
          <p:nvGrpSpPr>
            <p:cNvPr id="399" name="Agrupar 40998"/>
            <p:cNvGrpSpPr/>
            <p:nvPr/>
          </p:nvGrpSpPr>
          <p:grpSpPr>
            <a:xfrm>
              <a:off x="4996325" y="4517869"/>
              <a:ext cx="241146" cy="595188"/>
              <a:chOff x="4996325" y="4250081"/>
              <a:chExt cx="241146" cy="595188"/>
            </a:xfrm>
          </p:grpSpPr>
          <p:sp>
            <p:nvSpPr>
              <p:cNvPr id="401" name="CaixaDeTexto 400"/>
              <p:cNvSpPr txBox="1"/>
              <p:nvPr/>
            </p:nvSpPr>
            <p:spPr>
              <a:xfrm>
                <a:off x="4996385" y="4643067"/>
                <a:ext cx="94060" cy="153888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pPr algn="l"/>
                <a:r>
                  <a:rPr lang="pt-BR" sz="1000" dirty="0" smtClean="0">
                    <a:latin typeface="Arial Narrow" panose="020B0606020202030204" pitchFamily="34" charset="0"/>
                  </a:rPr>
                  <a:t>1</a:t>
                </a:r>
                <a:endParaRPr lang="pt-BR" sz="100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402" name="CaixaDeTexto 401"/>
              <p:cNvSpPr txBox="1"/>
              <p:nvPr/>
            </p:nvSpPr>
            <p:spPr>
              <a:xfrm>
                <a:off x="4996325" y="4340402"/>
                <a:ext cx="94060" cy="153888"/>
              </a:xfrm>
              <a:prstGeom prst="rect">
                <a:avLst/>
              </a:prstGeom>
              <a:noFill/>
            </p:spPr>
            <p:txBody>
              <a:bodyPr wrap="none" lIns="36000" tIns="0" rIns="0" bIns="0" rtlCol="0">
                <a:spAutoFit/>
              </a:bodyPr>
              <a:lstStyle/>
              <a:p>
                <a:pPr algn="l"/>
                <a:r>
                  <a:rPr lang="pt-BR" sz="1000" dirty="0">
                    <a:latin typeface="Arial Narrow" panose="020B0606020202030204" pitchFamily="34" charset="0"/>
                  </a:rPr>
                  <a:t>0</a:t>
                </a:r>
              </a:p>
            </p:txBody>
          </p:sp>
          <p:sp>
            <p:nvSpPr>
              <p:cNvPr id="403" name="CaixaDeTexto 402"/>
              <p:cNvSpPr txBox="1"/>
              <p:nvPr/>
            </p:nvSpPr>
            <p:spPr>
              <a:xfrm>
                <a:off x="5071564" y="4355653"/>
                <a:ext cx="164329" cy="350670"/>
              </a:xfrm>
              <a:prstGeom prst="rect">
                <a:avLst/>
              </a:prstGeom>
              <a:noFill/>
            </p:spPr>
            <p:txBody>
              <a:bodyPr vert="wordArtVert" wrap="square" lIns="0" tIns="0" rIns="0" bIns="0" rtlCol="0">
                <a:spAutoFit/>
              </a:bodyPr>
              <a:lstStyle/>
              <a:p>
                <a:r>
                  <a:rPr lang="pt-BR" sz="1000" spc="-600" dirty="0" err="1" smtClean="0">
                    <a:latin typeface="Arial Narrow" panose="020B0606020202030204" pitchFamily="34" charset="0"/>
                  </a:rPr>
                  <a:t>Mux</a:t>
                </a:r>
                <a:endParaRPr lang="pt-BR" sz="1000" spc="-60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404" name="Arco 403"/>
              <p:cNvSpPr/>
              <p:nvPr/>
            </p:nvSpPr>
            <p:spPr>
              <a:xfrm>
                <a:off x="5000327" y="4250081"/>
                <a:ext cx="233819" cy="280907"/>
              </a:xfrm>
              <a:prstGeom prst="arc">
                <a:avLst>
                  <a:gd name="adj1" fmla="val 10791467"/>
                  <a:gd name="adj2" fmla="val 44356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05" name="Arco 404"/>
              <p:cNvSpPr/>
              <p:nvPr/>
            </p:nvSpPr>
            <p:spPr>
              <a:xfrm flipV="1">
                <a:off x="5000325" y="4582917"/>
                <a:ext cx="233821" cy="262352"/>
              </a:xfrm>
              <a:prstGeom prst="arc">
                <a:avLst>
                  <a:gd name="adj1" fmla="val 10791467"/>
                  <a:gd name="adj2" fmla="val 0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406" name="Conector reto 405"/>
              <p:cNvCxnSpPr>
                <a:stCxn id="405" idx="0"/>
                <a:endCxn id="404" idx="0"/>
              </p:cNvCxnSpPr>
              <p:nvPr/>
            </p:nvCxnSpPr>
            <p:spPr>
              <a:xfrm flipV="1">
                <a:off x="5000325" y="4390834"/>
                <a:ext cx="2" cy="3229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Conector reto 406"/>
              <p:cNvCxnSpPr/>
              <p:nvPr/>
            </p:nvCxnSpPr>
            <p:spPr>
              <a:xfrm flipH="1" flipV="1">
                <a:off x="5236753" y="4406076"/>
                <a:ext cx="718" cy="30801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0" name="CaixaDeTexto 399"/>
            <p:cNvSpPr txBox="1"/>
            <p:nvPr/>
          </p:nvSpPr>
          <p:spPr>
            <a:xfrm>
              <a:off x="5072990" y="4522174"/>
              <a:ext cx="94060" cy="153888"/>
            </a:xfrm>
            <a:prstGeom prst="rect">
              <a:avLst/>
            </a:prstGeom>
            <a:noFill/>
          </p:spPr>
          <p:txBody>
            <a:bodyPr wrap="none" lIns="36000" tIns="0" rIns="0" bIns="0" rtlCol="0">
              <a:spAutoFit/>
            </a:bodyPr>
            <a:lstStyle/>
            <a:p>
              <a:pPr algn="l"/>
              <a:r>
                <a:rPr lang="pt-BR" sz="100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0</a:t>
              </a:r>
            </a:p>
          </p:txBody>
        </p:sp>
      </p:grpSp>
      <p:cxnSp>
        <p:nvCxnSpPr>
          <p:cNvPr id="408" name="Conector reto 407"/>
          <p:cNvCxnSpPr/>
          <p:nvPr/>
        </p:nvCxnSpPr>
        <p:spPr bwMode="auto">
          <a:xfrm flipH="1">
            <a:off x="6357434" y="1569146"/>
            <a:ext cx="6844" cy="20253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" name="Conector reto 408"/>
          <p:cNvCxnSpPr/>
          <p:nvPr/>
        </p:nvCxnSpPr>
        <p:spPr bwMode="auto">
          <a:xfrm>
            <a:off x="6353770" y="1769586"/>
            <a:ext cx="343287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10" name="Conector Angulado 133"/>
          <p:cNvCxnSpPr/>
          <p:nvPr/>
        </p:nvCxnSpPr>
        <p:spPr bwMode="auto">
          <a:xfrm flipV="1">
            <a:off x="5222117" y="2208093"/>
            <a:ext cx="1596898" cy="522392"/>
          </a:xfrm>
          <a:prstGeom prst="bentConnector3">
            <a:avLst>
              <a:gd name="adj1" fmla="val 100103"/>
            </a:avLst>
          </a:prstGeom>
          <a:solidFill>
            <a:schemeClr val="accent1"/>
          </a:solidFill>
          <a:ln w="12700" cap="flat" cmpd="sng" algn="ctr">
            <a:solidFill>
              <a:srgbClr val="00B8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1" name="Conector reto 410"/>
          <p:cNvCxnSpPr>
            <a:stCxn id="403" idx="3"/>
          </p:cNvCxnSpPr>
          <p:nvPr/>
        </p:nvCxnSpPr>
        <p:spPr bwMode="auto">
          <a:xfrm>
            <a:off x="6936565" y="1893623"/>
            <a:ext cx="15632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2" name="Conector reto 411"/>
          <p:cNvCxnSpPr/>
          <p:nvPr/>
        </p:nvCxnSpPr>
        <p:spPr bwMode="auto">
          <a:xfrm>
            <a:off x="7089559" y="1753469"/>
            <a:ext cx="343287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13" name="Conector reto 412"/>
          <p:cNvCxnSpPr/>
          <p:nvPr/>
        </p:nvCxnSpPr>
        <p:spPr bwMode="auto">
          <a:xfrm flipH="1">
            <a:off x="7092888" y="1758202"/>
            <a:ext cx="3422" cy="1385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4" name="Conector reto 413"/>
          <p:cNvCxnSpPr/>
          <p:nvPr/>
        </p:nvCxnSpPr>
        <p:spPr bwMode="auto">
          <a:xfrm>
            <a:off x="6462062" y="2085803"/>
            <a:ext cx="0" cy="2620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" name="Conector reto 414"/>
          <p:cNvCxnSpPr/>
          <p:nvPr/>
        </p:nvCxnSpPr>
        <p:spPr bwMode="auto">
          <a:xfrm>
            <a:off x="6458398" y="2345760"/>
            <a:ext cx="744217" cy="20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6" name="Conector reto 415"/>
          <p:cNvCxnSpPr/>
          <p:nvPr/>
        </p:nvCxnSpPr>
        <p:spPr bwMode="auto">
          <a:xfrm>
            <a:off x="7202615" y="1925809"/>
            <a:ext cx="0" cy="4220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7" name="Conector reto 416"/>
          <p:cNvCxnSpPr/>
          <p:nvPr/>
        </p:nvCxnSpPr>
        <p:spPr bwMode="auto">
          <a:xfrm>
            <a:off x="7199790" y="1925809"/>
            <a:ext cx="22952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18" name="Elipse 417"/>
          <p:cNvSpPr/>
          <p:nvPr/>
        </p:nvSpPr>
        <p:spPr bwMode="auto">
          <a:xfrm>
            <a:off x="6426710" y="2050713"/>
            <a:ext cx="74361" cy="752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9" name="Elipse 418"/>
          <p:cNvSpPr/>
          <p:nvPr/>
        </p:nvSpPr>
        <p:spPr bwMode="auto">
          <a:xfrm>
            <a:off x="6323675" y="1533357"/>
            <a:ext cx="74361" cy="752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60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4774" y="18669"/>
            <a:ext cx="8460625" cy="381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pt-BR" sz="2800" dirty="0" smtClean="0"/>
              <a:t>Caminho de Dados MULTICICLO – Laboratório incompleto</a:t>
            </a:r>
            <a:endParaRPr lang="pt-BR" altLang="pt-BR" sz="2800" dirty="0" smtClean="0"/>
          </a:p>
        </p:txBody>
      </p:sp>
      <p:cxnSp>
        <p:nvCxnSpPr>
          <p:cNvPr id="3" name="Conector reto 2"/>
          <p:cNvCxnSpPr/>
          <p:nvPr/>
        </p:nvCxnSpPr>
        <p:spPr bwMode="auto">
          <a:xfrm flipV="1">
            <a:off x="8613529" y="1386538"/>
            <a:ext cx="1622" cy="1287143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Conector reto 3"/>
          <p:cNvCxnSpPr/>
          <p:nvPr/>
        </p:nvCxnSpPr>
        <p:spPr bwMode="auto">
          <a:xfrm flipH="1" flipV="1">
            <a:off x="6364232" y="1052018"/>
            <a:ext cx="6352" cy="2882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Conector reto 4"/>
          <p:cNvCxnSpPr/>
          <p:nvPr/>
        </p:nvCxnSpPr>
        <p:spPr bwMode="auto">
          <a:xfrm flipV="1">
            <a:off x="6545165" y="1715133"/>
            <a:ext cx="700" cy="138285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Conector reto 5"/>
          <p:cNvCxnSpPr>
            <a:stCxn id="82" idx="0"/>
          </p:cNvCxnSpPr>
          <p:nvPr/>
        </p:nvCxnSpPr>
        <p:spPr bwMode="auto">
          <a:xfrm flipH="1" flipV="1">
            <a:off x="2891732" y="2260357"/>
            <a:ext cx="598" cy="101789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Conector de seta reta 6"/>
          <p:cNvCxnSpPr>
            <a:endCxn id="188" idx="1"/>
          </p:cNvCxnSpPr>
          <p:nvPr/>
        </p:nvCxnSpPr>
        <p:spPr bwMode="auto">
          <a:xfrm flipV="1">
            <a:off x="7613946" y="3915991"/>
            <a:ext cx="371521" cy="1224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tângulo 7"/>
          <p:cNvSpPr/>
          <p:nvPr/>
        </p:nvSpPr>
        <p:spPr bwMode="auto">
          <a:xfrm>
            <a:off x="1432561" y="3179406"/>
            <a:ext cx="826770" cy="138955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4375717" y="5433540"/>
            <a:ext cx="488915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Geração</a:t>
            </a:r>
          </a:p>
          <a:p>
            <a:r>
              <a:rPr lang="pt-BR" sz="1000" dirty="0" smtClean="0"/>
              <a:t>Imediato</a:t>
            </a:r>
            <a:endParaRPr lang="pt-BR" sz="10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2841146" y="3317921"/>
            <a:ext cx="395942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[19-15]</a:t>
            </a:r>
            <a:endParaRPr lang="pt-BR" sz="10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2853438" y="3728419"/>
            <a:ext cx="395942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[24-20]</a:t>
            </a:r>
            <a:endParaRPr lang="pt-BR" sz="10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908366" y="4146290"/>
            <a:ext cx="32541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[11-7]</a:t>
            </a:r>
            <a:endParaRPr lang="pt-BR" sz="1000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3872918" y="5375117"/>
            <a:ext cx="317395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[31:0]</a:t>
            </a:r>
            <a:endParaRPr lang="pt-BR" sz="1000" dirty="0"/>
          </a:p>
        </p:txBody>
      </p:sp>
      <p:sp>
        <p:nvSpPr>
          <p:cNvPr id="14" name="Elipse 13"/>
          <p:cNvSpPr/>
          <p:nvPr/>
        </p:nvSpPr>
        <p:spPr bwMode="auto">
          <a:xfrm>
            <a:off x="3360661" y="4158104"/>
            <a:ext cx="65584" cy="61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" name="Conector reto 14"/>
          <p:cNvCxnSpPr/>
          <p:nvPr/>
        </p:nvCxnSpPr>
        <p:spPr bwMode="auto">
          <a:xfrm flipH="1" flipV="1">
            <a:off x="668302" y="1412424"/>
            <a:ext cx="2258" cy="139815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Conector reto 15"/>
          <p:cNvCxnSpPr/>
          <p:nvPr/>
        </p:nvCxnSpPr>
        <p:spPr bwMode="auto">
          <a:xfrm flipV="1">
            <a:off x="1661160" y="1881344"/>
            <a:ext cx="0" cy="129806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Conector reto 16"/>
          <p:cNvCxnSpPr/>
          <p:nvPr/>
        </p:nvCxnSpPr>
        <p:spPr bwMode="auto">
          <a:xfrm flipV="1">
            <a:off x="2118359" y="2060534"/>
            <a:ext cx="1" cy="11188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Conector reto 17"/>
          <p:cNvCxnSpPr/>
          <p:nvPr/>
        </p:nvCxnSpPr>
        <p:spPr bwMode="auto">
          <a:xfrm flipV="1">
            <a:off x="5015109" y="2165304"/>
            <a:ext cx="0" cy="96820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CaixaDeTexto 18"/>
          <p:cNvSpPr txBox="1"/>
          <p:nvPr/>
        </p:nvSpPr>
        <p:spPr>
          <a:xfrm>
            <a:off x="2695427" y="1366722"/>
            <a:ext cx="57708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EscrevePC</a:t>
            </a:r>
            <a:endParaRPr lang="pt-BR" sz="900" dirty="0">
              <a:solidFill>
                <a:srgbClr val="16A6C8"/>
              </a:solidFill>
              <a:latin typeface="+mn-lt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2498701" y="1742845"/>
            <a:ext cx="79541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EscreveMem</a:t>
            </a:r>
            <a:endParaRPr lang="pt-BR" sz="900" dirty="0">
              <a:solidFill>
                <a:srgbClr val="16A6C8"/>
              </a:solidFill>
              <a:latin typeface="+mn-lt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2732571" y="1917387"/>
            <a:ext cx="38472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LeMem</a:t>
            </a:r>
            <a:endParaRPr lang="pt-BR" sz="900" dirty="0">
              <a:solidFill>
                <a:srgbClr val="16A6C8"/>
              </a:solidFill>
              <a:latin typeface="+mn-lt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788783" y="2119476"/>
            <a:ext cx="53219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EscreveIR</a:t>
            </a:r>
            <a:endParaRPr lang="pt-BR" sz="900" dirty="0" smtClean="0">
              <a:solidFill>
                <a:srgbClr val="16A6C8"/>
              </a:solidFill>
              <a:latin typeface="+mn-lt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4123626" y="2214624"/>
            <a:ext cx="53219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smtClean="0">
                <a:solidFill>
                  <a:srgbClr val="16A6C8"/>
                </a:solidFill>
                <a:latin typeface="+mn-lt"/>
              </a:rPr>
              <a:t>Mem2Reg</a:t>
            </a:r>
            <a:endParaRPr lang="pt-BR" sz="900" dirty="0">
              <a:solidFill>
                <a:srgbClr val="16A6C8"/>
              </a:solidFill>
              <a:latin typeface="+mn-lt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4155340" y="2030130"/>
            <a:ext cx="62837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EscreveReg</a:t>
            </a:r>
            <a:endParaRPr lang="pt-BR" sz="900" dirty="0" smtClean="0">
              <a:solidFill>
                <a:srgbClr val="16A6C8"/>
              </a:solidFill>
              <a:latin typeface="+mn-lt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4193786" y="1735587"/>
            <a:ext cx="519374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OrigBULA</a:t>
            </a:r>
            <a:endParaRPr lang="pt-BR" sz="900" dirty="0" smtClean="0">
              <a:solidFill>
                <a:srgbClr val="16A6C8"/>
              </a:solidFill>
              <a:latin typeface="+mn-lt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4113091" y="1572687"/>
            <a:ext cx="62837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OrigAULA</a:t>
            </a:r>
            <a:endParaRPr lang="pt-BR" sz="900" dirty="0" smtClean="0">
              <a:solidFill>
                <a:srgbClr val="16A6C8"/>
              </a:solidFill>
              <a:latin typeface="+mn-lt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4107313" y="1398895"/>
            <a:ext cx="59631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ALUControl</a:t>
            </a:r>
            <a:endParaRPr lang="pt-BR" sz="900" dirty="0" smtClean="0">
              <a:solidFill>
                <a:srgbClr val="16A6C8"/>
              </a:solidFill>
              <a:latin typeface="+mn-lt"/>
            </a:endParaRPr>
          </a:p>
        </p:txBody>
      </p:sp>
      <p:cxnSp>
        <p:nvCxnSpPr>
          <p:cNvPr id="28" name="Conector reto 27"/>
          <p:cNvCxnSpPr/>
          <p:nvPr/>
        </p:nvCxnSpPr>
        <p:spPr bwMode="auto">
          <a:xfrm flipV="1">
            <a:off x="1186032" y="1703702"/>
            <a:ext cx="1" cy="136245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CaixaDeTexto 28"/>
          <p:cNvSpPr txBox="1"/>
          <p:nvPr/>
        </p:nvSpPr>
        <p:spPr>
          <a:xfrm>
            <a:off x="2856911" y="1565203"/>
            <a:ext cx="24365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IouD</a:t>
            </a:r>
            <a:endParaRPr lang="pt-BR" sz="900" dirty="0">
              <a:solidFill>
                <a:srgbClr val="16A6C8"/>
              </a:solidFill>
              <a:latin typeface="+mn-lt"/>
            </a:endParaRPr>
          </a:p>
        </p:txBody>
      </p:sp>
      <p:cxnSp>
        <p:nvCxnSpPr>
          <p:cNvPr id="30" name="Conector reto 29"/>
          <p:cNvCxnSpPr/>
          <p:nvPr/>
        </p:nvCxnSpPr>
        <p:spPr bwMode="auto">
          <a:xfrm>
            <a:off x="3902417" y="2252663"/>
            <a:ext cx="185631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Conector reto 30"/>
          <p:cNvCxnSpPr/>
          <p:nvPr/>
        </p:nvCxnSpPr>
        <p:spPr bwMode="auto">
          <a:xfrm>
            <a:off x="3949666" y="2173326"/>
            <a:ext cx="1065443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Conector reto 31"/>
          <p:cNvCxnSpPr/>
          <p:nvPr/>
        </p:nvCxnSpPr>
        <p:spPr bwMode="auto">
          <a:xfrm flipV="1">
            <a:off x="4089610" y="1881344"/>
            <a:ext cx="2709280" cy="46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Conector reto 32"/>
          <p:cNvCxnSpPr/>
          <p:nvPr/>
        </p:nvCxnSpPr>
        <p:spPr bwMode="auto">
          <a:xfrm>
            <a:off x="4028130" y="1718450"/>
            <a:ext cx="251512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Conector reto 33"/>
          <p:cNvCxnSpPr/>
          <p:nvPr/>
        </p:nvCxnSpPr>
        <p:spPr bwMode="auto">
          <a:xfrm flipV="1">
            <a:off x="6537060" y="3988021"/>
            <a:ext cx="274830" cy="28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Conector reto 34"/>
          <p:cNvCxnSpPr/>
          <p:nvPr/>
        </p:nvCxnSpPr>
        <p:spPr bwMode="auto">
          <a:xfrm flipV="1">
            <a:off x="6798890" y="1884862"/>
            <a:ext cx="0" cy="210605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Conector reto 35"/>
          <p:cNvCxnSpPr/>
          <p:nvPr/>
        </p:nvCxnSpPr>
        <p:spPr bwMode="auto">
          <a:xfrm>
            <a:off x="4048205" y="1550294"/>
            <a:ext cx="321892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Conector reto 36"/>
          <p:cNvCxnSpPr/>
          <p:nvPr/>
        </p:nvCxnSpPr>
        <p:spPr bwMode="auto">
          <a:xfrm flipV="1">
            <a:off x="8724420" y="3531663"/>
            <a:ext cx="0" cy="381131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Elipse 37"/>
          <p:cNvSpPr/>
          <p:nvPr/>
        </p:nvSpPr>
        <p:spPr bwMode="auto">
          <a:xfrm>
            <a:off x="7812337" y="3896914"/>
            <a:ext cx="45719" cy="45719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9" name="Conector reto 38"/>
          <p:cNvCxnSpPr/>
          <p:nvPr/>
        </p:nvCxnSpPr>
        <p:spPr bwMode="auto">
          <a:xfrm flipH="1">
            <a:off x="354351" y="2543062"/>
            <a:ext cx="8456009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Conector reto 39"/>
          <p:cNvCxnSpPr/>
          <p:nvPr/>
        </p:nvCxnSpPr>
        <p:spPr bwMode="auto">
          <a:xfrm flipV="1">
            <a:off x="8810360" y="2543061"/>
            <a:ext cx="0" cy="437632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Conector reto 40"/>
          <p:cNvCxnSpPr/>
          <p:nvPr/>
        </p:nvCxnSpPr>
        <p:spPr bwMode="auto">
          <a:xfrm flipH="1">
            <a:off x="8309608" y="3530173"/>
            <a:ext cx="414814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Conector reto 41"/>
          <p:cNvCxnSpPr/>
          <p:nvPr/>
        </p:nvCxnSpPr>
        <p:spPr bwMode="auto">
          <a:xfrm flipV="1">
            <a:off x="8309608" y="3146279"/>
            <a:ext cx="0" cy="389812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Conector reto 42"/>
          <p:cNvCxnSpPr/>
          <p:nvPr/>
        </p:nvCxnSpPr>
        <p:spPr bwMode="auto">
          <a:xfrm flipV="1">
            <a:off x="7267131" y="1550294"/>
            <a:ext cx="0" cy="1807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Conector reto 43"/>
          <p:cNvCxnSpPr/>
          <p:nvPr/>
        </p:nvCxnSpPr>
        <p:spPr bwMode="auto">
          <a:xfrm flipV="1">
            <a:off x="3987074" y="1386080"/>
            <a:ext cx="4628077" cy="45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CaixaDeTexto 44"/>
          <p:cNvSpPr txBox="1"/>
          <p:nvPr/>
        </p:nvSpPr>
        <p:spPr>
          <a:xfrm>
            <a:off x="4082443" y="1240838"/>
            <a:ext cx="37831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OrigPC</a:t>
            </a:r>
            <a:endParaRPr lang="pt-BR" sz="900" dirty="0" smtClean="0">
              <a:solidFill>
                <a:srgbClr val="16A6C8"/>
              </a:solidFill>
              <a:latin typeface="+mn-lt"/>
            </a:endParaRPr>
          </a:p>
        </p:txBody>
      </p:sp>
      <p:cxnSp>
        <p:nvCxnSpPr>
          <p:cNvPr id="46" name="Conector reto 45"/>
          <p:cNvCxnSpPr/>
          <p:nvPr/>
        </p:nvCxnSpPr>
        <p:spPr bwMode="auto">
          <a:xfrm flipV="1">
            <a:off x="2889610" y="2263876"/>
            <a:ext cx="564436" cy="352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Conector reto 46"/>
          <p:cNvCxnSpPr/>
          <p:nvPr/>
        </p:nvCxnSpPr>
        <p:spPr bwMode="auto">
          <a:xfrm flipV="1">
            <a:off x="2118359" y="2055886"/>
            <a:ext cx="1228425" cy="929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Conector reto 47"/>
          <p:cNvCxnSpPr/>
          <p:nvPr/>
        </p:nvCxnSpPr>
        <p:spPr bwMode="auto">
          <a:xfrm>
            <a:off x="1661160" y="1881344"/>
            <a:ext cx="1676400" cy="351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Conector reto 48"/>
          <p:cNvCxnSpPr/>
          <p:nvPr/>
        </p:nvCxnSpPr>
        <p:spPr bwMode="auto">
          <a:xfrm>
            <a:off x="1186033" y="1703702"/>
            <a:ext cx="2151527" cy="1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Conector reto 49"/>
          <p:cNvCxnSpPr/>
          <p:nvPr/>
        </p:nvCxnSpPr>
        <p:spPr bwMode="auto">
          <a:xfrm flipV="1">
            <a:off x="1248232" y="1505575"/>
            <a:ext cx="2139642" cy="2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CaixaDeTexto 50"/>
          <p:cNvSpPr txBox="1"/>
          <p:nvPr/>
        </p:nvSpPr>
        <p:spPr>
          <a:xfrm>
            <a:off x="2544831" y="1165028"/>
            <a:ext cx="85279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EscrevePCCond</a:t>
            </a:r>
            <a:endParaRPr lang="pt-BR" sz="900" dirty="0">
              <a:solidFill>
                <a:srgbClr val="16A6C8"/>
              </a:solidFill>
              <a:latin typeface="+mn-lt"/>
            </a:endParaRPr>
          </a:p>
        </p:txBody>
      </p:sp>
      <p:cxnSp>
        <p:nvCxnSpPr>
          <p:cNvPr id="52" name="Conector reto 51"/>
          <p:cNvCxnSpPr/>
          <p:nvPr/>
        </p:nvCxnSpPr>
        <p:spPr bwMode="auto">
          <a:xfrm>
            <a:off x="1637010" y="1303488"/>
            <a:ext cx="1830370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3" name="Group 69"/>
          <p:cNvGrpSpPr/>
          <p:nvPr/>
        </p:nvGrpSpPr>
        <p:grpSpPr>
          <a:xfrm flipH="1">
            <a:off x="1246788" y="1111123"/>
            <a:ext cx="457911" cy="258910"/>
            <a:chOff x="4042896" y="1715660"/>
            <a:chExt cx="1566676" cy="741118"/>
          </a:xfrm>
        </p:grpSpPr>
        <p:cxnSp>
          <p:nvCxnSpPr>
            <p:cNvPr id="54" name="Straight Connector 27"/>
            <p:cNvCxnSpPr/>
            <p:nvPr/>
          </p:nvCxnSpPr>
          <p:spPr>
            <a:xfrm flipV="1">
              <a:off x="4042896" y="2266408"/>
              <a:ext cx="415106" cy="0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28"/>
            <p:cNvCxnSpPr/>
            <p:nvPr/>
          </p:nvCxnSpPr>
          <p:spPr>
            <a:xfrm flipV="1">
              <a:off x="4042896" y="1903059"/>
              <a:ext cx="415106" cy="0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29"/>
            <p:cNvCxnSpPr/>
            <p:nvPr/>
          </p:nvCxnSpPr>
          <p:spPr>
            <a:xfrm flipV="1">
              <a:off x="5346319" y="2086963"/>
              <a:ext cx="263253" cy="0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Delay 68"/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158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8" name="Group 2"/>
          <p:cNvGrpSpPr/>
          <p:nvPr/>
        </p:nvGrpSpPr>
        <p:grpSpPr>
          <a:xfrm flipH="1">
            <a:off x="668302" y="1231524"/>
            <a:ext cx="579930" cy="361800"/>
            <a:chOff x="3675121" y="3048834"/>
            <a:chExt cx="1599238" cy="723601"/>
          </a:xfrm>
        </p:grpSpPr>
        <p:cxnSp>
          <p:nvCxnSpPr>
            <p:cNvPr id="59" name="Straight Connector 86"/>
            <p:cNvCxnSpPr/>
            <p:nvPr/>
          </p:nvCxnSpPr>
          <p:spPr>
            <a:xfrm flipV="1">
              <a:off x="3675121" y="3596937"/>
              <a:ext cx="415108" cy="0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87"/>
            <p:cNvCxnSpPr/>
            <p:nvPr/>
          </p:nvCxnSpPr>
          <p:spPr>
            <a:xfrm flipV="1">
              <a:off x="3675121" y="3233588"/>
              <a:ext cx="415108" cy="0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88"/>
            <p:cNvCxnSpPr/>
            <p:nvPr/>
          </p:nvCxnSpPr>
          <p:spPr>
            <a:xfrm flipV="1">
              <a:off x="5010436" y="3412939"/>
              <a:ext cx="263923" cy="906"/>
            </a:xfrm>
            <a:prstGeom prst="line">
              <a:avLst/>
            </a:prstGeom>
            <a:ln w="158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1"/>
            <p:cNvGrpSpPr/>
            <p:nvPr/>
          </p:nvGrpSpPr>
          <p:grpSpPr>
            <a:xfrm>
              <a:off x="3990333" y="3048834"/>
              <a:ext cx="1016929" cy="723601"/>
              <a:chOff x="3990333" y="3048834"/>
              <a:chExt cx="1016928" cy="723601"/>
            </a:xfrm>
          </p:grpSpPr>
          <p:sp>
            <p:nvSpPr>
              <p:cNvPr id="63" name="Stored Data 71"/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15875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Stored Data 71"/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15875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65" name="Conector reto 64"/>
          <p:cNvCxnSpPr/>
          <p:nvPr/>
        </p:nvCxnSpPr>
        <p:spPr bwMode="auto">
          <a:xfrm>
            <a:off x="1697441" y="1052018"/>
            <a:ext cx="4661542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Conector reto 65"/>
          <p:cNvCxnSpPr/>
          <p:nvPr/>
        </p:nvCxnSpPr>
        <p:spPr bwMode="auto">
          <a:xfrm flipV="1">
            <a:off x="1697441" y="1049262"/>
            <a:ext cx="0" cy="12589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Conector de seta reta 66"/>
          <p:cNvCxnSpPr/>
          <p:nvPr/>
        </p:nvCxnSpPr>
        <p:spPr bwMode="auto">
          <a:xfrm>
            <a:off x="6244019" y="3930292"/>
            <a:ext cx="126565" cy="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CaixaDeTexto 67"/>
          <p:cNvSpPr txBox="1"/>
          <p:nvPr/>
        </p:nvSpPr>
        <p:spPr>
          <a:xfrm>
            <a:off x="3660278" y="3145745"/>
            <a:ext cx="387927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[19:15]</a:t>
            </a:r>
            <a:endParaRPr lang="pt-BR" sz="1000" dirty="0"/>
          </a:p>
        </p:txBody>
      </p:sp>
      <p:sp>
        <p:nvSpPr>
          <p:cNvPr id="69" name="CaixaDeTexto 68"/>
          <p:cNvSpPr txBox="1"/>
          <p:nvPr/>
        </p:nvSpPr>
        <p:spPr>
          <a:xfrm>
            <a:off x="3643154" y="3582870"/>
            <a:ext cx="387927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[24:20]</a:t>
            </a:r>
            <a:endParaRPr lang="pt-BR" sz="1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3699848" y="4016255"/>
            <a:ext cx="317395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[11:7]</a:t>
            </a:r>
            <a:endParaRPr lang="pt-BR" sz="1000" dirty="0"/>
          </a:p>
        </p:txBody>
      </p:sp>
      <p:sp>
        <p:nvSpPr>
          <p:cNvPr id="71" name="Retângulo 70"/>
          <p:cNvSpPr/>
          <p:nvPr/>
        </p:nvSpPr>
        <p:spPr bwMode="auto">
          <a:xfrm>
            <a:off x="2571521" y="3457607"/>
            <a:ext cx="652422" cy="553998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Registrador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latin typeface="Arial Narrow" panose="020B0606020202030204" pitchFamily="34" charset="0"/>
              </a:rPr>
              <a:t>d</a:t>
            </a:r>
            <a:r>
              <a:rPr lang="pt-BR" sz="1200" dirty="0" smtClean="0">
                <a:latin typeface="Arial Narrow" panose="020B0606020202030204" pitchFamily="34" charset="0"/>
              </a:rPr>
              <a:t>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Instrução</a:t>
            </a:r>
          </a:p>
        </p:txBody>
      </p:sp>
      <p:cxnSp>
        <p:nvCxnSpPr>
          <p:cNvPr id="72" name="Conector reto 71"/>
          <p:cNvCxnSpPr/>
          <p:nvPr/>
        </p:nvCxnSpPr>
        <p:spPr bwMode="auto">
          <a:xfrm>
            <a:off x="3389276" y="2673681"/>
            <a:ext cx="313799" cy="1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Conector reto 72"/>
          <p:cNvCxnSpPr>
            <a:endCxn id="92" idx="4"/>
          </p:cNvCxnSpPr>
          <p:nvPr/>
        </p:nvCxnSpPr>
        <p:spPr bwMode="auto">
          <a:xfrm flipV="1">
            <a:off x="3703075" y="2430529"/>
            <a:ext cx="0" cy="24169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4" name="Retângulo 73"/>
          <p:cNvSpPr/>
          <p:nvPr/>
        </p:nvSpPr>
        <p:spPr bwMode="auto">
          <a:xfrm>
            <a:off x="4454074" y="3108500"/>
            <a:ext cx="1151263" cy="17440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5" name="CaixaDeTexto 74"/>
          <p:cNvSpPr txBox="1"/>
          <p:nvPr/>
        </p:nvSpPr>
        <p:spPr>
          <a:xfrm>
            <a:off x="4525303" y="3207011"/>
            <a:ext cx="152286" cy="16158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50" dirty="0" smtClean="0">
                <a:latin typeface="Arial Narrow" panose="020B0606020202030204" pitchFamily="34" charset="0"/>
              </a:rPr>
              <a:t>rs1</a:t>
            </a:r>
            <a:endParaRPr lang="pt-BR" sz="1050" dirty="0">
              <a:latin typeface="Arial Narrow" panose="020B0606020202030204" pitchFamily="34" charset="0"/>
            </a:endParaRPr>
          </a:p>
        </p:txBody>
      </p:sp>
      <p:sp>
        <p:nvSpPr>
          <p:cNvPr id="76" name="CaixaDeTexto 75"/>
          <p:cNvSpPr txBox="1"/>
          <p:nvPr/>
        </p:nvSpPr>
        <p:spPr>
          <a:xfrm>
            <a:off x="4524470" y="3659814"/>
            <a:ext cx="152286" cy="16158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50" dirty="0" smtClean="0">
                <a:latin typeface="Arial Narrow" panose="020B0606020202030204" pitchFamily="34" charset="0"/>
              </a:rPr>
              <a:t>rs2</a:t>
            </a:r>
            <a:endParaRPr lang="pt-BR" sz="1050" dirty="0">
              <a:latin typeface="Arial Narrow" panose="020B0606020202030204" pitchFamily="34" charset="0"/>
            </a:endParaRPr>
          </a:p>
        </p:txBody>
      </p:sp>
      <p:sp>
        <p:nvSpPr>
          <p:cNvPr id="77" name="CaixaDeTexto 76"/>
          <p:cNvSpPr txBox="1"/>
          <p:nvPr/>
        </p:nvSpPr>
        <p:spPr>
          <a:xfrm>
            <a:off x="4520684" y="4095239"/>
            <a:ext cx="97783" cy="16158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50" dirty="0" smtClean="0">
                <a:latin typeface="Arial Narrow" panose="020B0606020202030204" pitchFamily="34" charset="0"/>
              </a:rPr>
              <a:t>rd</a:t>
            </a:r>
            <a:endParaRPr lang="pt-BR" sz="1050" dirty="0">
              <a:latin typeface="Arial Narrow" panose="020B0606020202030204" pitchFamily="34" charset="0"/>
            </a:endParaRPr>
          </a:p>
        </p:txBody>
      </p:sp>
      <p:sp>
        <p:nvSpPr>
          <p:cNvPr id="78" name="CaixaDeTexto 77"/>
          <p:cNvSpPr txBox="1"/>
          <p:nvPr/>
        </p:nvSpPr>
        <p:spPr>
          <a:xfrm>
            <a:off x="5237524" y="3485167"/>
            <a:ext cx="323807" cy="16158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50" dirty="0" smtClean="0">
                <a:latin typeface="Arial Narrow" panose="020B0606020202030204" pitchFamily="34" charset="0"/>
              </a:rPr>
              <a:t>Dado1</a:t>
            </a:r>
            <a:endParaRPr lang="pt-BR" sz="1050" dirty="0">
              <a:latin typeface="Arial Narrow" panose="020B0606020202030204" pitchFamily="34" charset="0"/>
            </a:endParaRPr>
          </a:p>
        </p:txBody>
      </p:sp>
      <p:sp>
        <p:nvSpPr>
          <p:cNvPr id="79" name="CaixaDeTexto 78"/>
          <p:cNvSpPr txBox="1"/>
          <p:nvPr/>
        </p:nvSpPr>
        <p:spPr>
          <a:xfrm>
            <a:off x="5237524" y="4262185"/>
            <a:ext cx="323807" cy="16158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50" dirty="0" smtClean="0">
                <a:latin typeface="Arial Narrow" panose="020B0606020202030204" pitchFamily="34" charset="0"/>
              </a:rPr>
              <a:t>Dado2</a:t>
            </a:r>
            <a:endParaRPr lang="pt-BR" sz="1050" dirty="0">
              <a:latin typeface="Arial Narrow" panose="020B0606020202030204" pitchFamily="34" charset="0"/>
            </a:endParaRPr>
          </a:p>
        </p:txBody>
      </p:sp>
      <p:sp>
        <p:nvSpPr>
          <p:cNvPr id="80" name="CaixaDeTexto 79"/>
          <p:cNvSpPr txBox="1"/>
          <p:nvPr/>
        </p:nvSpPr>
        <p:spPr>
          <a:xfrm>
            <a:off x="4513777" y="4574781"/>
            <a:ext cx="628377" cy="16158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50" dirty="0" smtClean="0">
                <a:latin typeface="Arial Narrow" panose="020B0606020202030204" pitchFamily="34" charset="0"/>
              </a:rPr>
              <a:t>Dado Escrita</a:t>
            </a:r>
            <a:endParaRPr lang="pt-BR" sz="1050" dirty="0">
              <a:latin typeface="Arial Narrow" panose="020B0606020202030204" pitchFamily="34" charset="0"/>
            </a:endParaRPr>
          </a:p>
        </p:txBody>
      </p:sp>
      <p:sp>
        <p:nvSpPr>
          <p:cNvPr id="81" name="CaixaDeTexto 80"/>
          <p:cNvSpPr txBox="1"/>
          <p:nvPr/>
        </p:nvSpPr>
        <p:spPr>
          <a:xfrm>
            <a:off x="1570871" y="3574860"/>
            <a:ext cx="622378" cy="52322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200" dirty="0" smtClean="0">
                <a:latin typeface="Arial Narrow" panose="020B0606020202030204" pitchFamily="34" charset="0"/>
              </a:rPr>
              <a:t>Memória</a:t>
            </a:r>
            <a:endParaRPr lang="pt-BR" sz="1200" dirty="0">
              <a:latin typeface="Arial Narrow" panose="020B0606020202030204" pitchFamily="34" charset="0"/>
            </a:endParaRPr>
          </a:p>
          <a:p>
            <a:r>
              <a:rPr lang="pt-BR" sz="1100" dirty="0" smtClean="0">
                <a:latin typeface="Arial Narrow" panose="020B0606020202030204" pitchFamily="34" charset="0"/>
              </a:rPr>
              <a:t>Dados e</a:t>
            </a:r>
          </a:p>
          <a:p>
            <a:r>
              <a:rPr lang="pt-BR" sz="1100" dirty="0" smtClean="0">
                <a:latin typeface="Arial Narrow" panose="020B0606020202030204" pitchFamily="34" charset="0"/>
              </a:rPr>
              <a:t>Instruções</a:t>
            </a:r>
            <a:endParaRPr lang="pt-BR" sz="1100" dirty="0">
              <a:latin typeface="Arial Narrow" panose="020B0606020202030204" pitchFamily="34" charset="0"/>
            </a:endParaRPr>
          </a:p>
        </p:txBody>
      </p:sp>
      <p:sp>
        <p:nvSpPr>
          <p:cNvPr id="82" name="Retângulo 81"/>
          <p:cNvSpPr/>
          <p:nvPr/>
        </p:nvSpPr>
        <p:spPr bwMode="auto">
          <a:xfrm>
            <a:off x="2502855" y="3278254"/>
            <a:ext cx="778950" cy="11918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Retângulo 82"/>
          <p:cNvSpPr/>
          <p:nvPr/>
        </p:nvSpPr>
        <p:spPr bwMode="auto">
          <a:xfrm>
            <a:off x="2518990" y="4719647"/>
            <a:ext cx="778207" cy="117562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4" name="Conector reto 83"/>
          <p:cNvCxnSpPr/>
          <p:nvPr/>
        </p:nvCxnSpPr>
        <p:spPr bwMode="auto">
          <a:xfrm flipH="1">
            <a:off x="3300413" y="5303478"/>
            <a:ext cx="441663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Conector de seta reta 84"/>
          <p:cNvCxnSpPr/>
          <p:nvPr/>
        </p:nvCxnSpPr>
        <p:spPr bwMode="auto">
          <a:xfrm>
            <a:off x="2351694" y="5303478"/>
            <a:ext cx="172030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6" name="Elipse 85"/>
          <p:cNvSpPr/>
          <p:nvPr/>
        </p:nvSpPr>
        <p:spPr bwMode="auto">
          <a:xfrm>
            <a:off x="3356484" y="3296109"/>
            <a:ext cx="65584" cy="61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7" name="Elipse 86"/>
          <p:cNvSpPr/>
          <p:nvPr/>
        </p:nvSpPr>
        <p:spPr bwMode="auto">
          <a:xfrm>
            <a:off x="3360661" y="3731206"/>
            <a:ext cx="65584" cy="61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CaixaDeTexto 87"/>
          <p:cNvSpPr txBox="1"/>
          <p:nvPr/>
        </p:nvSpPr>
        <p:spPr>
          <a:xfrm>
            <a:off x="7211715" y="3822259"/>
            <a:ext cx="246862" cy="1846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200" dirty="0" smtClean="0">
                <a:latin typeface="Arial Narrow" panose="020B0606020202030204" pitchFamily="34" charset="0"/>
              </a:rPr>
              <a:t>ULA</a:t>
            </a:r>
            <a:endParaRPr lang="pt-BR" sz="1200" dirty="0">
              <a:latin typeface="Arial Narrow" panose="020B0606020202030204" pitchFamily="34" charset="0"/>
            </a:endParaRPr>
          </a:p>
        </p:txBody>
      </p:sp>
      <p:sp>
        <p:nvSpPr>
          <p:cNvPr id="89" name="CaixaDeTexto 88"/>
          <p:cNvSpPr txBox="1"/>
          <p:nvPr/>
        </p:nvSpPr>
        <p:spPr>
          <a:xfrm>
            <a:off x="2536346" y="3545260"/>
            <a:ext cx="736162" cy="5539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200" dirty="0" smtClean="0">
                <a:latin typeface="Arial Narrow" panose="020B0606020202030204" pitchFamily="34" charset="0"/>
              </a:rPr>
              <a:t>Registrador</a:t>
            </a:r>
          </a:p>
          <a:p>
            <a:r>
              <a:rPr lang="pt-BR" sz="1200" dirty="0">
                <a:latin typeface="Arial Narrow" panose="020B0606020202030204" pitchFamily="34" charset="0"/>
              </a:rPr>
              <a:t>d</a:t>
            </a:r>
            <a:r>
              <a:rPr lang="pt-BR" sz="1200" dirty="0" smtClean="0">
                <a:latin typeface="Arial Narrow" panose="020B0606020202030204" pitchFamily="34" charset="0"/>
              </a:rPr>
              <a:t>e</a:t>
            </a:r>
          </a:p>
          <a:p>
            <a:r>
              <a:rPr lang="pt-BR" sz="1200" dirty="0" smtClean="0">
                <a:latin typeface="Arial Narrow" panose="020B0606020202030204" pitchFamily="34" charset="0"/>
              </a:rPr>
              <a:t>Instrução</a:t>
            </a:r>
            <a:endParaRPr lang="pt-BR" sz="1100" dirty="0">
              <a:latin typeface="Arial Narrow" panose="020B0606020202030204" pitchFamily="34" charset="0"/>
            </a:endParaRPr>
          </a:p>
        </p:txBody>
      </p:sp>
      <p:sp>
        <p:nvSpPr>
          <p:cNvPr id="90" name="CaixaDeTexto 89"/>
          <p:cNvSpPr txBox="1"/>
          <p:nvPr/>
        </p:nvSpPr>
        <p:spPr>
          <a:xfrm>
            <a:off x="2544831" y="4937760"/>
            <a:ext cx="736162" cy="73866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200" dirty="0" smtClean="0">
                <a:latin typeface="Arial Narrow" panose="020B0606020202030204" pitchFamily="34" charset="0"/>
              </a:rPr>
              <a:t>Registrador</a:t>
            </a:r>
          </a:p>
          <a:p>
            <a:r>
              <a:rPr lang="pt-BR" sz="1200" dirty="0">
                <a:latin typeface="Arial Narrow" panose="020B0606020202030204" pitchFamily="34" charset="0"/>
              </a:rPr>
              <a:t>d</a:t>
            </a:r>
            <a:r>
              <a:rPr lang="pt-BR" sz="1200" dirty="0" smtClean="0">
                <a:latin typeface="Arial Narrow" panose="020B0606020202030204" pitchFamily="34" charset="0"/>
              </a:rPr>
              <a:t>e</a:t>
            </a:r>
          </a:p>
          <a:p>
            <a:r>
              <a:rPr lang="pt-BR" sz="1200" dirty="0" smtClean="0">
                <a:latin typeface="Arial Narrow" panose="020B0606020202030204" pitchFamily="34" charset="0"/>
              </a:rPr>
              <a:t>Dado da</a:t>
            </a:r>
          </a:p>
          <a:p>
            <a:r>
              <a:rPr lang="pt-BR" sz="1200" dirty="0" smtClean="0">
                <a:latin typeface="Arial Narrow" panose="020B0606020202030204" pitchFamily="34" charset="0"/>
              </a:rPr>
              <a:t>Memória</a:t>
            </a:r>
            <a:endParaRPr lang="pt-BR" sz="1100" dirty="0">
              <a:latin typeface="Arial Narrow" panose="020B0606020202030204" pitchFamily="34" charset="0"/>
            </a:endParaRPr>
          </a:p>
        </p:txBody>
      </p:sp>
      <p:sp>
        <p:nvSpPr>
          <p:cNvPr id="91" name="CaixaDeTexto 90"/>
          <p:cNvSpPr txBox="1"/>
          <p:nvPr/>
        </p:nvSpPr>
        <p:spPr>
          <a:xfrm>
            <a:off x="4684191" y="3745902"/>
            <a:ext cx="865027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200" dirty="0" smtClean="0">
                <a:latin typeface="Arial Narrow" panose="020B0606020202030204" pitchFamily="34" charset="0"/>
              </a:rPr>
              <a:t>Banco de</a:t>
            </a:r>
          </a:p>
          <a:p>
            <a:r>
              <a:rPr lang="pt-BR" sz="1200" dirty="0" smtClean="0">
                <a:latin typeface="Arial Narrow" panose="020B0606020202030204" pitchFamily="34" charset="0"/>
              </a:rPr>
              <a:t>Registradores</a:t>
            </a:r>
            <a:endParaRPr lang="pt-BR" sz="1100" dirty="0">
              <a:latin typeface="Arial Narrow" panose="020B0606020202030204" pitchFamily="34" charset="0"/>
            </a:endParaRPr>
          </a:p>
        </p:txBody>
      </p:sp>
      <p:sp>
        <p:nvSpPr>
          <p:cNvPr id="92" name="Elipse 91"/>
          <p:cNvSpPr/>
          <p:nvPr/>
        </p:nvSpPr>
        <p:spPr bwMode="auto">
          <a:xfrm>
            <a:off x="3319595" y="1143635"/>
            <a:ext cx="766960" cy="128689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00B8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CaixaDeTexto 92"/>
          <p:cNvSpPr txBox="1"/>
          <p:nvPr/>
        </p:nvSpPr>
        <p:spPr>
          <a:xfrm>
            <a:off x="3272508" y="1589899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smtClean="0">
                <a:solidFill>
                  <a:srgbClr val="16A6C8"/>
                </a:solidFill>
              </a:rPr>
              <a:t>Controle</a:t>
            </a:r>
            <a:endParaRPr lang="pt-BR" sz="1400" dirty="0">
              <a:solidFill>
                <a:srgbClr val="16A6C8"/>
              </a:solidFill>
            </a:endParaRPr>
          </a:p>
        </p:txBody>
      </p:sp>
      <p:cxnSp>
        <p:nvCxnSpPr>
          <p:cNvPr id="94" name="Conector reto 93"/>
          <p:cNvCxnSpPr/>
          <p:nvPr/>
        </p:nvCxnSpPr>
        <p:spPr bwMode="auto">
          <a:xfrm flipV="1">
            <a:off x="1242493" y="1232752"/>
            <a:ext cx="0" cy="9276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Conector reto 94"/>
          <p:cNvCxnSpPr/>
          <p:nvPr/>
        </p:nvCxnSpPr>
        <p:spPr bwMode="auto">
          <a:xfrm flipH="1">
            <a:off x="3399718" y="2673682"/>
            <a:ext cx="2089" cy="291375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Conector reto 95"/>
          <p:cNvCxnSpPr/>
          <p:nvPr/>
        </p:nvCxnSpPr>
        <p:spPr bwMode="auto">
          <a:xfrm flipV="1">
            <a:off x="924217" y="2856169"/>
            <a:ext cx="0" cy="180931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7" name="Conector reto 96"/>
          <p:cNvCxnSpPr/>
          <p:nvPr/>
        </p:nvCxnSpPr>
        <p:spPr bwMode="auto">
          <a:xfrm>
            <a:off x="924217" y="4662764"/>
            <a:ext cx="3042776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98" name="Conector de seta reta 97"/>
          <p:cNvCxnSpPr/>
          <p:nvPr/>
        </p:nvCxnSpPr>
        <p:spPr bwMode="auto">
          <a:xfrm>
            <a:off x="690598" y="3535486"/>
            <a:ext cx="374911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Conector reto 98"/>
          <p:cNvCxnSpPr/>
          <p:nvPr/>
        </p:nvCxnSpPr>
        <p:spPr bwMode="auto">
          <a:xfrm>
            <a:off x="690598" y="3531663"/>
            <a:ext cx="0" cy="280242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0" name="Conector reto 99"/>
          <p:cNvCxnSpPr>
            <a:stCxn id="214" idx="0"/>
          </p:cNvCxnSpPr>
          <p:nvPr/>
        </p:nvCxnSpPr>
        <p:spPr bwMode="auto">
          <a:xfrm flipH="1" flipV="1">
            <a:off x="7832391" y="2813099"/>
            <a:ext cx="5715" cy="107053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Conector reto 100"/>
          <p:cNvCxnSpPr/>
          <p:nvPr/>
        </p:nvCxnSpPr>
        <p:spPr bwMode="auto">
          <a:xfrm flipH="1" flipV="1">
            <a:off x="4084416" y="2252663"/>
            <a:ext cx="3632" cy="200758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Conector reto 101"/>
          <p:cNvCxnSpPr/>
          <p:nvPr/>
        </p:nvCxnSpPr>
        <p:spPr bwMode="auto">
          <a:xfrm>
            <a:off x="3412472" y="3761785"/>
            <a:ext cx="1027190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3" name="Conector reto 102"/>
          <p:cNvCxnSpPr/>
          <p:nvPr/>
        </p:nvCxnSpPr>
        <p:spPr bwMode="auto">
          <a:xfrm>
            <a:off x="3413760" y="4189060"/>
            <a:ext cx="1027190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4" name="Conector reto 103"/>
          <p:cNvCxnSpPr/>
          <p:nvPr/>
        </p:nvCxnSpPr>
        <p:spPr bwMode="auto">
          <a:xfrm>
            <a:off x="3414016" y="3324260"/>
            <a:ext cx="1027190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5" name="Conector reto 104"/>
          <p:cNvCxnSpPr/>
          <p:nvPr/>
        </p:nvCxnSpPr>
        <p:spPr bwMode="auto">
          <a:xfrm flipV="1">
            <a:off x="2355380" y="3881687"/>
            <a:ext cx="0" cy="1423463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6" name="Conector de seta reta 105"/>
          <p:cNvCxnSpPr>
            <a:stCxn id="8" idx="3"/>
            <a:endCxn id="82" idx="1"/>
          </p:cNvCxnSpPr>
          <p:nvPr/>
        </p:nvCxnSpPr>
        <p:spPr bwMode="auto">
          <a:xfrm>
            <a:off x="2259331" y="3874182"/>
            <a:ext cx="243524" cy="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7" name="Elipse 106"/>
          <p:cNvSpPr/>
          <p:nvPr/>
        </p:nvSpPr>
        <p:spPr bwMode="auto">
          <a:xfrm>
            <a:off x="2319227" y="3841786"/>
            <a:ext cx="65584" cy="61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8" name="CaixaDeTexto 107"/>
          <p:cNvSpPr txBox="1"/>
          <p:nvPr/>
        </p:nvSpPr>
        <p:spPr>
          <a:xfrm>
            <a:off x="1456186" y="3296109"/>
            <a:ext cx="44723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latin typeface="Arial Narrow" panose="020B0606020202030204" pitchFamily="34" charset="0"/>
              </a:rPr>
              <a:t>Endereço</a:t>
            </a:r>
            <a:endParaRPr lang="pt-BR" sz="900" dirty="0">
              <a:latin typeface="Arial Narrow" panose="020B0606020202030204" pitchFamily="34" charset="0"/>
            </a:endParaRPr>
          </a:p>
        </p:txBody>
      </p:sp>
      <p:sp>
        <p:nvSpPr>
          <p:cNvPr id="109" name="CaixaDeTexto 108"/>
          <p:cNvSpPr txBox="1"/>
          <p:nvPr/>
        </p:nvSpPr>
        <p:spPr>
          <a:xfrm>
            <a:off x="1460952" y="4318260"/>
            <a:ext cx="2484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>
                <a:latin typeface="Arial Narrow" panose="020B0606020202030204" pitchFamily="34" charset="0"/>
              </a:rPr>
              <a:t>Dado</a:t>
            </a:r>
            <a:endParaRPr lang="pt-BR" sz="900" dirty="0">
              <a:latin typeface="Arial Narrow" panose="020B0606020202030204" pitchFamily="34" charset="0"/>
            </a:endParaRPr>
          </a:p>
        </p:txBody>
      </p:sp>
      <p:grpSp>
        <p:nvGrpSpPr>
          <p:cNvPr id="110" name="Grupo 109"/>
          <p:cNvGrpSpPr/>
          <p:nvPr/>
        </p:nvGrpSpPr>
        <p:grpSpPr>
          <a:xfrm>
            <a:off x="709727" y="3066161"/>
            <a:ext cx="722834" cy="595188"/>
            <a:chOff x="1755985" y="370747"/>
            <a:chExt cx="722834" cy="595188"/>
          </a:xfrm>
        </p:grpSpPr>
        <p:cxnSp>
          <p:nvCxnSpPr>
            <p:cNvPr id="111" name="Straight Connector 28"/>
            <p:cNvCxnSpPr/>
            <p:nvPr/>
          </p:nvCxnSpPr>
          <p:spPr>
            <a:xfrm>
              <a:off x="1755985" y="523725"/>
              <a:ext cx="355782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29"/>
            <p:cNvCxnSpPr/>
            <p:nvPr/>
          </p:nvCxnSpPr>
          <p:spPr>
            <a:xfrm flipV="1">
              <a:off x="2352072" y="672980"/>
              <a:ext cx="126747" cy="2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CaixaDeTexto 112"/>
            <p:cNvSpPr txBox="1"/>
            <p:nvPr/>
          </p:nvSpPr>
          <p:spPr>
            <a:xfrm>
              <a:off x="2138781" y="763733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1</a:t>
              </a:r>
              <a:endParaRPr lang="pt-BR" sz="1000" dirty="0">
                <a:latin typeface="Arial Narrow" panose="020B0606020202030204" pitchFamily="34" charset="0"/>
              </a:endParaRPr>
            </a:p>
          </p:txBody>
        </p:sp>
        <p:sp>
          <p:nvSpPr>
            <p:cNvPr id="114" name="CaixaDeTexto 113"/>
            <p:cNvSpPr txBox="1"/>
            <p:nvPr/>
          </p:nvSpPr>
          <p:spPr>
            <a:xfrm>
              <a:off x="2138719" y="435948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115" name="CaixaDeTexto 114"/>
            <p:cNvSpPr txBox="1"/>
            <p:nvPr/>
          </p:nvSpPr>
          <p:spPr>
            <a:xfrm>
              <a:off x="2185207" y="476319"/>
              <a:ext cx="169405" cy="350670"/>
            </a:xfrm>
            <a:prstGeom prst="rect">
              <a:avLst/>
            </a:prstGeom>
            <a:noFill/>
          </p:spPr>
          <p:txBody>
            <a:bodyPr vert="wordArtVert" wrap="square" lIns="0" tIns="0" rIns="0" bIns="0" rtlCol="0">
              <a:spAutoFit/>
            </a:bodyPr>
            <a:lstStyle/>
            <a:p>
              <a:r>
                <a:rPr lang="pt-BR" sz="1000" spc="-600" dirty="0" err="1" smtClean="0">
                  <a:latin typeface="Arial Narrow" panose="020B0606020202030204" pitchFamily="34" charset="0"/>
                </a:rPr>
                <a:t>Mux</a:t>
              </a:r>
              <a:endParaRPr lang="pt-BR" sz="1000" spc="-600" dirty="0">
                <a:latin typeface="Arial Narrow" panose="020B0606020202030204" pitchFamily="34" charset="0"/>
              </a:endParaRPr>
            </a:p>
          </p:txBody>
        </p:sp>
        <p:sp>
          <p:nvSpPr>
            <p:cNvPr id="116" name="Arco 115"/>
            <p:cNvSpPr/>
            <p:nvPr/>
          </p:nvSpPr>
          <p:spPr>
            <a:xfrm>
              <a:off x="2111770" y="370747"/>
              <a:ext cx="241042" cy="280907"/>
            </a:xfrm>
            <a:prstGeom prst="arc">
              <a:avLst>
                <a:gd name="adj1" fmla="val 10791467"/>
                <a:gd name="adj2" fmla="val 44356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7" name="Arco 116"/>
            <p:cNvSpPr/>
            <p:nvPr/>
          </p:nvSpPr>
          <p:spPr>
            <a:xfrm flipV="1">
              <a:off x="2111768" y="703583"/>
              <a:ext cx="241044" cy="262352"/>
            </a:xfrm>
            <a:prstGeom prst="arc">
              <a:avLst>
                <a:gd name="adj1" fmla="val 10791467"/>
                <a:gd name="adj2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8" name="Conector reto 117"/>
            <p:cNvCxnSpPr>
              <a:stCxn id="117" idx="0"/>
              <a:endCxn id="116" idx="0"/>
            </p:cNvCxnSpPr>
            <p:nvPr/>
          </p:nvCxnSpPr>
          <p:spPr>
            <a:xfrm flipV="1">
              <a:off x="2111768" y="511500"/>
              <a:ext cx="2" cy="3229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ector reto 118"/>
            <p:cNvCxnSpPr>
              <a:stCxn id="117" idx="2"/>
              <a:endCxn id="116" idx="2"/>
            </p:cNvCxnSpPr>
            <p:nvPr/>
          </p:nvCxnSpPr>
          <p:spPr>
            <a:xfrm flipH="1" flipV="1">
              <a:off x="2352072" y="526742"/>
              <a:ext cx="740" cy="308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upo 119"/>
          <p:cNvGrpSpPr/>
          <p:nvPr/>
        </p:nvGrpSpPr>
        <p:grpSpPr>
          <a:xfrm>
            <a:off x="518159" y="2778476"/>
            <a:ext cx="344879" cy="705772"/>
            <a:chOff x="267041" y="3417853"/>
            <a:chExt cx="389475" cy="805017"/>
          </a:xfrm>
        </p:grpSpPr>
        <p:sp>
          <p:nvSpPr>
            <p:cNvPr id="121" name="Retângulo 120"/>
            <p:cNvSpPr/>
            <p:nvPr/>
          </p:nvSpPr>
          <p:spPr bwMode="auto">
            <a:xfrm>
              <a:off x="267041" y="3417853"/>
              <a:ext cx="389475" cy="805017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2" name="CaixaDeTexto 121"/>
            <p:cNvSpPr txBox="1"/>
            <p:nvPr/>
          </p:nvSpPr>
          <p:spPr>
            <a:xfrm>
              <a:off x="373613" y="3676981"/>
              <a:ext cx="17633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pt-BR" sz="1200" dirty="0" smtClean="0">
                  <a:latin typeface="Arial Narrow" panose="020B0606020202030204" pitchFamily="34" charset="0"/>
                </a:rPr>
                <a:t>PC</a:t>
              </a:r>
              <a:endParaRPr lang="pt-BR" sz="1200" dirty="0">
                <a:latin typeface="Arial Narrow" panose="020B0606020202030204" pitchFamily="34" charset="0"/>
              </a:endParaRPr>
            </a:p>
          </p:txBody>
        </p:sp>
      </p:grpSp>
      <p:sp>
        <p:nvSpPr>
          <p:cNvPr id="123" name="Elipse 122"/>
          <p:cNvSpPr/>
          <p:nvPr/>
        </p:nvSpPr>
        <p:spPr bwMode="auto">
          <a:xfrm>
            <a:off x="891425" y="3188183"/>
            <a:ext cx="65584" cy="61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4" name="Elipse 123"/>
          <p:cNvSpPr/>
          <p:nvPr/>
        </p:nvSpPr>
        <p:spPr bwMode="auto">
          <a:xfrm>
            <a:off x="4329942" y="5181083"/>
            <a:ext cx="606128" cy="795891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5" name="Conector de seta reta 124"/>
          <p:cNvCxnSpPr>
            <a:endCxn id="124" idx="2"/>
          </p:cNvCxnSpPr>
          <p:nvPr/>
        </p:nvCxnSpPr>
        <p:spPr bwMode="auto">
          <a:xfrm>
            <a:off x="3397629" y="5579028"/>
            <a:ext cx="932313" cy="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6" name="Conector de seta reta 125"/>
          <p:cNvCxnSpPr>
            <a:stCxn id="124" idx="6"/>
          </p:cNvCxnSpPr>
          <p:nvPr/>
        </p:nvCxnSpPr>
        <p:spPr bwMode="auto">
          <a:xfrm flipV="1">
            <a:off x="4936070" y="5579028"/>
            <a:ext cx="180634" cy="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grpSp>
        <p:nvGrpSpPr>
          <p:cNvPr id="127" name="Grupo 126"/>
          <p:cNvGrpSpPr/>
          <p:nvPr/>
        </p:nvGrpSpPr>
        <p:grpSpPr>
          <a:xfrm>
            <a:off x="3554985" y="4262185"/>
            <a:ext cx="899089" cy="770749"/>
            <a:chOff x="4436345" y="458937"/>
            <a:chExt cx="899089" cy="770749"/>
          </a:xfrm>
        </p:grpSpPr>
        <p:cxnSp>
          <p:nvCxnSpPr>
            <p:cNvPr id="128" name="Straight Connector 27"/>
            <p:cNvCxnSpPr/>
            <p:nvPr/>
          </p:nvCxnSpPr>
          <p:spPr>
            <a:xfrm>
              <a:off x="4623436" y="1114953"/>
              <a:ext cx="221817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28"/>
            <p:cNvCxnSpPr/>
            <p:nvPr/>
          </p:nvCxnSpPr>
          <p:spPr>
            <a:xfrm flipV="1">
              <a:off x="4436345" y="607437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29"/>
            <p:cNvCxnSpPr/>
            <p:nvPr/>
          </p:nvCxnSpPr>
          <p:spPr>
            <a:xfrm>
              <a:off x="5089026" y="856174"/>
              <a:ext cx="246408" cy="60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CaixaDeTexto 130"/>
            <p:cNvSpPr txBox="1"/>
            <p:nvPr/>
          </p:nvSpPr>
          <p:spPr>
            <a:xfrm>
              <a:off x="4872267" y="1027484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2</a:t>
              </a:r>
              <a:endParaRPr lang="pt-BR" sz="1000" dirty="0">
                <a:latin typeface="Arial Narrow" panose="020B0606020202030204" pitchFamily="34" charset="0"/>
              </a:endParaRPr>
            </a:p>
          </p:txBody>
        </p:sp>
        <p:sp>
          <p:nvSpPr>
            <p:cNvPr id="132" name="CaixaDeTexto 131"/>
            <p:cNvSpPr txBox="1"/>
            <p:nvPr/>
          </p:nvSpPr>
          <p:spPr>
            <a:xfrm>
              <a:off x="4878401" y="524138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133" name="CaixaDeTexto 132"/>
            <p:cNvSpPr txBox="1"/>
            <p:nvPr/>
          </p:nvSpPr>
          <p:spPr>
            <a:xfrm>
              <a:off x="4921560" y="644448"/>
              <a:ext cx="169405" cy="350670"/>
            </a:xfrm>
            <a:prstGeom prst="rect">
              <a:avLst/>
            </a:prstGeom>
            <a:noFill/>
          </p:spPr>
          <p:txBody>
            <a:bodyPr vert="wordArtVert" wrap="square" lIns="0" tIns="0" rIns="0" bIns="0" rtlCol="0">
              <a:spAutoFit/>
            </a:bodyPr>
            <a:lstStyle/>
            <a:p>
              <a:r>
                <a:rPr lang="pt-BR" sz="1000" spc="-600" dirty="0" err="1" smtClean="0">
                  <a:latin typeface="Arial Narrow" panose="020B0606020202030204" pitchFamily="34" charset="0"/>
                </a:rPr>
                <a:t>Mux</a:t>
              </a:r>
              <a:endParaRPr lang="pt-BR" sz="1000" spc="-600" dirty="0">
                <a:latin typeface="Arial Narrow" panose="020B0606020202030204" pitchFamily="34" charset="0"/>
              </a:endParaRPr>
            </a:p>
          </p:txBody>
        </p:sp>
        <p:sp>
          <p:nvSpPr>
            <p:cNvPr id="134" name="Arco 133"/>
            <p:cNvSpPr/>
            <p:nvPr/>
          </p:nvSpPr>
          <p:spPr>
            <a:xfrm>
              <a:off x="4851452" y="458937"/>
              <a:ext cx="241042" cy="280907"/>
            </a:xfrm>
            <a:prstGeom prst="arc">
              <a:avLst>
                <a:gd name="adj1" fmla="val 10791467"/>
                <a:gd name="adj2" fmla="val 44356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5" name="Arco 134"/>
            <p:cNvSpPr/>
            <p:nvPr/>
          </p:nvSpPr>
          <p:spPr>
            <a:xfrm flipV="1">
              <a:off x="4845254" y="967334"/>
              <a:ext cx="241044" cy="262352"/>
            </a:xfrm>
            <a:prstGeom prst="arc">
              <a:avLst>
                <a:gd name="adj1" fmla="val 10791467"/>
                <a:gd name="adj2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6" name="Conector reto 135"/>
            <p:cNvCxnSpPr>
              <a:stCxn id="135" idx="0"/>
              <a:endCxn id="134" idx="0"/>
            </p:cNvCxnSpPr>
            <p:nvPr/>
          </p:nvCxnSpPr>
          <p:spPr>
            <a:xfrm flipV="1">
              <a:off x="4845254" y="599690"/>
              <a:ext cx="6198" cy="4985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ector reto 136"/>
            <p:cNvCxnSpPr>
              <a:stCxn id="135" idx="2"/>
              <a:endCxn id="134" idx="2"/>
            </p:cNvCxnSpPr>
            <p:nvPr/>
          </p:nvCxnSpPr>
          <p:spPr>
            <a:xfrm flipV="1">
              <a:off x="5086298" y="614932"/>
              <a:ext cx="5456" cy="4835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CaixaDeTexto 137"/>
            <p:cNvSpPr txBox="1"/>
            <p:nvPr/>
          </p:nvSpPr>
          <p:spPr>
            <a:xfrm>
              <a:off x="4872267" y="779228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1</a:t>
              </a:r>
            </a:p>
          </p:txBody>
        </p:sp>
      </p:grpSp>
      <p:cxnSp>
        <p:nvCxnSpPr>
          <p:cNvPr id="139" name="Conector reto 138"/>
          <p:cNvCxnSpPr/>
          <p:nvPr/>
        </p:nvCxnSpPr>
        <p:spPr bwMode="auto">
          <a:xfrm flipV="1">
            <a:off x="3742076" y="4918201"/>
            <a:ext cx="0" cy="38527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grpSp>
        <p:nvGrpSpPr>
          <p:cNvPr id="140" name="Grupo 139"/>
          <p:cNvGrpSpPr/>
          <p:nvPr/>
        </p:nvGrpSpPr>
        <p:grpSpPr>
          <a:xfrm>
            <a:off x="6920317" y="3145629"/>
            <a:ext cx="693629" cy="1556803"/>
            <a:chOff x="6325644" y="370747"/>
            <a:chExt cx="322545" cy="829756"/>
          </a:xfrm>
        </p:grpSpPr>
        <p:cxnSp>
          <p:nvCxnSpPr>
            <p:cNvPr id="141" name="Conector reto 140"/>
            <p:cNvCxnSpPr/>
            <p:nvPr/>
          </p:nvCxnSpPr>
          <p:spPr>
            <a:xfrm>
              <a:off x="6325644" y="370747"/>
              <a:ext cx="0" cy="339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reto 141"/>
            <p:cNvCxnSpPr/>
            <p:nvPr/>
          </p:nvCxnSpPr>
          <p:spPr>
            <a:xfrm>
              <a:off x="6325644" y="373117"/>
              <a:ext cx="322545" cy="2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ector reto 142"/>
            <p:cNvCxnSpPr/>
            <p:nvPr/>
          </p:nvCxnSpPr>
          <p:spPr>
            <a:xfrm flipV="1">
              <a:off x="6325644" y="983784"/>
              <a:ext cx="322545" cy="2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to 143"/>
            <p:cNvCxnSpPr/>
            <p:nvPr/>
          </p:nvCxnSpPr>
          <p:spPr>
            <a:xfrm>
              <a:off x="6648189" y="589836"/>
              <a:ext cx="0" cy="3968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ector reto 144"/>
            <p:cNvCxnSpPr/>
            <p:nvPr/>
          </p:nvCxnSpPr>
          <p:spPr>
            <a:xfrm>
              <a:off x="6325644" y="710661"/>
              <a:ext cx="99164" cy="7067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ector reto 145"/>
            <p:cNvCxnSpPr/>
            <p:nvPr/>
          </p:nvCxnSpPr>
          <p:spPr>
            <a:xfrm flipV="1">
              <a:off x="6325644" y="779229"/>
              <a:ext cx="99164" cy="61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ector reto 146"/>
            <p:cNvCxnSpPr/>
            <p:nvPr/>
          </p:nvCxnSpPr>
          <p:spPr>
            <a:xfrm>
              <a:off x="6325644" y="840677"/>
              <a:ext cx="0" cy="357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Conector de seta reta 147"/>
          <p:cNvCxnSpPr>
            <a:endCxn id="175" idx="1"/>
          </p:cNvCxnSpPr>
          <p:nvPr/>
        </p:nvCxnSpPr>
        <p:spPr bwMode="auto">
          <a:xfrm>
            <a:off x="5605337" y="3582870"/>
            <a:ext cx="141246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49" name="Grupo 148"/>
          <p:cNvGrpSpPr/>
          <p:nvPr/>
        </p:nvGrpSpPr>
        <p:grpSpPr>
          <a:xfrm>
            <a:off x="6004852" y="3100794"/>
            <a:ext cx="926762" cy="595188"/>
            <a:chOff x="1688563" y="370747"/>
            <a:chExt cx="926762" cy="595188"/>
          </a:xfrm>
        </p:grpSpPr>
        <p:cxnSp>
          <p:nvCxnSpPr>
            <p:cNvPr id="150" name="Straight Connector 27"/>
            <p:cNvCxnSpPr>
              <a:stCxn id="175" idx="3"/>
            </p:cNvCxnSpPr>
            <p:nvPr/>
          </p:nvCxnSpPr>
          <p:spPr>
            <a:xfrm flipV="1">
              <a:off x="1688563" y="851205"/>
              <a:ext cx="423204" cy="1618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28"/>
            <p:cNvCxnSpPr/>
            <p:nvPr/>
          </p:nvCxnSpPr>
          <p:spPr>
            <a:xfrm>
              <a:off x="1996821" y="519248"/>
              <a:ext cx="114949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29"/>
            <p:cNvCxnSpPr/>
            <p:nvPr/>
          </p:nvCxnSpPr>
          <p:spPr>
            <a:xfrm flipV="1">
              <a:off x="2352072" y="722448"/>
              <a:ext cx="263253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CaixaDeTexto 152"/>
            <p:cNvSpPr txBox="1"/>
            <p:nvPr/>
          </p:nvSpPr>
          <p:spPr>
            <a:xfrm>
              <a:off x="2138781" y="763733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154" name="CaixaDeTexto 153"/>
            <p:cNvSpPr txBox="1"/>
            <p:nvPr/>
          </p:nvSpPr>
          <p:spPr>
            <a:xfrm>
              <a:off x="2138719" y="435948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2</a:t>
              </a:r>
            </a:p>
          </p:txBody>
        </p:sp>
        <p:sp>
          <p:nvSpPr>
            <p:cNvPr id="155" name="CaixaDeTexto 154"/>
            <p:cNvSpPr txBox="1"/>
            <p:nvPr/>
          </p:nvSpPr>
          <p:spPr>
            <a:xfrm>
              <a:off x="2180245" y="476319"/>
              <a:ext cx="169405" cy="350670"/>
            </a:xfrm>
            <a:prstGeom prst="rect">
              <a:avLst/>
            </a:prstGeom>
            <a:noFill/>
          </p:spPr>
          <p:txBody>
            <a:bodyPr vert="wordArtVert" wrap="square" lIns="0" tIns="0" rIns="0" bIns="0" rtlCol="0">
              <a:spAutoFit/>
            </a:bodyPr>
            <a:lstStyle/>
            <a:p>
              <a:r>
                <a:rPr lang="pt-BR" sz="1000" spc="-600" dirty="0" err="1" smtClean="0">
                  <a:latin typeface="Arial Narrow" panose="020B0606020202030204" pitchFamily="34" charset="0"/>
                </a:rPr>
                <a:t>Mux</a:t>
              </a:r>
              <a:endParaRPr lang="pt-BR" sz="1000" spc="-600" dirty="0">
                <a:latin typeface="Arial Narrow" panose="020B0606020202030204" pitchFamily="34" charset="0"/>
              </a:endParaRPr>
            </a:p>
          </p:txBody>
        </p:sp>
        <p:sp>
          <p:nvSpPr>
            <p:cNvPr id="156" name="Arco 155"/>
            <p:cNvSpPr/>
            <p:nvPr/>
          </p:nvSpPr>
          <p:spPr>
            <a:xfrm>
              <a:off x="2111770" y="370747"/>
              <a:ext cx="241042" cy="280907"/>
            </a:xfrm>
            <a:prstGeom prst="arc">
              <a:avLst>
                <a:gd name="adj1" fmla="val 10791467"/>
                <a:gd name="adj2" fmla="val 44356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7" name="Arco 156"/>
            <p:cNvSpPr/>
            <p:nvPr/>
          </p:nvSpPr>
          <p:spPr>
            <a:xfrm flipV="1">
              <a:off x="2111768" y="703583"/>
              <a:ext cx="241044" cy="262352"/>
            </a:xfrm>
            <a:prstGeom prst="arc">
              <a:avLst>
                <a:gd name="adj1" fmla="val 10791467"/>
                <a:gd name="adj2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8" name="Conector reto 157"/>
            <p:cNvCxnSpPr>
              <a:stCxn id="157" idx="0"/>
              <a:endCxn id="156" idx="0"/>
            </p:cNvCxnSpPr>
            <p:nvPr/>
          </p:nvCxnSpPr>
          <p:spPr>
            <a:xfrm flipV="1">
              <a:off x="2111768" y="511500"/>
              <a:ext cx="2" cy="3229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to 158"/>
            <p:cNvCxnSpPr/>
            <p:nvPr/>
          </p:nvCxnSpPr>
          <p:spPr>
            <a:xfrm flipH="1" flipV="1">
              <a:off x="2352524" y="526742"/>
              <a:ext cx="740" cy="308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upo 159"/>
          <p:cNvGrpSpPr/>
          <p:nvPr/>
        </p:nvGrpSpPr>
        <p:grpSpPr>
          <a:xfrm>
            <a:off x="5746583" y="4130428"/>
            <a:ext cx="1181058" cy="837159"/>
            <a:chOff x="2852372" y="363344"/>
            <a:chExt cx="1181058" cy="837159"/>
          </a:xfrm>
        </p:grpSpPr>
        <p:cxnSp>
          <p:nvCxnSpPr>
            <p:cNvPr id="161" name="Straight Connector 28"/>
            <p:cNvCxnSpPr/>
            <p:nvPr/>
          </p:nvCxnSpPr>
          <p:spPr>
            <a:xfrm flipV="1">
              <a:off x="3113418" y="578254"/>
              <a:ext cx="415107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29"/>
            <p:cNvCxnSpPr/>
            <p:nvPr/>
          </p:nvCxnSpPr>
          <p:spPr>
            <a:xfrm flipV="1">
              <a:off x="3770177" y="596441"/>
              <a:ext cx="263253" cy="1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29"/>
            <p:cNvCxnSpPr/>
            <p:nvPr/>
          </p:nvCxnSpPr>
          <p:spPr>
            <a:xfrm flipV="1">
              <a:off x="3649048" y="363344"/>
              <a:ext cx="0" cy="687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CaixaDeTexto 163"/>
            <p:cNvSpPr txBox="1"/>
            <p:nvPr/>
          </p:nvSpPr>
          <p:spPr>
            <a:xfrm>
              <a:off x="3549340" y="998301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3</a:t>
              </a:r>
            </a:p>
          </p:txBody>
        </p:sp>
        <p:sp>
          <p:nvSpPr>
            <p:cNvPr id="165" name="CaixaDeTexto 164"/>
            <p:cNvSpPr txBox="1"/>
            <p:nvPr/>
          </p:nvSpPr>
          <p:spPr>
            <a:xfrm>
              <a:off x="3555474" y="494955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166" name="CaixaDeTexto 165"/>
            <p:cNvSpPr txBox="1"/>
            <p:nvPr/>
          </p:nvSpPr>
          <p:spPr>
            <a:xfrm>
              <a:off x="3595828" y="615265"/>
              <a:ext cx="169405" cy="350670"/>
            </a:xfrm>
            <a:prstGeom prst="rect">
              <a:avLst/>
            </a:prstGeom>
            <a:noFill/>
          </p:spPr>
          <p:txBody>
            <a:bodyPr vert="wordArtVert" wrap="square" lIns="0" tIns="0" rIns="0" bIns="0" rtlCol="0">
              <a:spAutoFit/>
            </a:bodyPr>
            <a:lstStyle/>
            <a:p>
              <a:r>
                <a:rPr lang="pt-BR" sz="1000" spc="-600" dirty="0" err="1" smtClean="0">
                  <a:latin typeface="Arial Narrow" panose="020B0606020202030204" pitchFamily="34" charset="0"/>
                </a:rPr>
                <a:t>Mux</a:t>
              </a:r>
              <a:endParaRPr lang="pt-BR" sz="1000" spc="-600" dirty="0">
                <a:latin typeface="Arial Narrow" panose="020B0606020202030204" pitchFamily="34" charset="0"/>
              </a:endParaRPr>
            </a:p>
          </p:txBody>
        </p:sp>
        <p:sp>
          <p:nvSpPr>
            <p:cNvPr id="167" name="Arco 166"/>
            <p:cNvSpPr/>
            <p:nvPr/>
          </p:nvSpPr>
          <p:spPr>
            <a:xfrm>
              <a:off x="3528525" y="429754"/>
              <a:ext cx="241042" cy="280907"/>
            </a:xfrm>
            <a:prstGeom prst="arc">
              <a:avLst>
                <a:gd name="adj1" fmla="val 10791467"/>
                <a:gd name="adj2" fmla="val 44356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8" name="Arco 167"/>
            <p:cNvSpPr/>
            <p:nvPr/>
          </p:nvSpPr>
          <p:spPr>
            <a:xfrm flipV="1">
              <a:off x="3522327" y="938151"/>
              <a:ext cx="241044" cy="262352"/>
            </a:xfrm>
            <a:prstGeom prst="arc">
              <a:avLst>
                <a:gd name="adj1" fmla="val 10791467"/>
                <a:gd name="adj2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9" name="Conector reto 168"/>
            <p:cNvCxnSpPr>
              <a:stCxn id="168" idx="0"/>
              <a:endCxn id="167" idx="0"/>
            </p:cNvCxnSpPr>
            <p:nvPr/>
          </p:nvCxnSpPr>
          <p:spPr>
            <a:xfrm flipV="1">
              <a:off x="3522327" y="570507"/>
              <a:ext cx="6198" cy="4985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to 169"/>
            <p:cNvCxnSpPr>
              <a:stCxn id="168" idx="2"/>
              <a:endCxn id="167" idx="2"/>
            </p:cNvCxnSpPr>
            <p:nvPr/>
          </p:nvCxnSpPr>
          <p:spPr>
            <a:xfrm flipV="1">
              <a:off x="3763371" y="585749"/>
              <a:ext cx="5456" cy="4835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27"/>
            <p:cNvCxnSpPr/>
            <p:nvPr/>
          </p:nvCxnSpPr>
          <p:spPr>
            <a:xfrm>
              <a:off x="3406901" y="745684"/>
              <a:ext cx="122093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27"/>
            <p:cNvCxnSpPr/>
            <p:nvPr/>
          </p:nvCxnSpPr>
          <p:spPr>
            <a:xfrm>
              <a:off x="2852372" y="913305"/>
              <a:ext cx="67305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CaixaDeTexto 172"/>
            <p:cNvSpPr txBox="1"/>
            <p:nvPr/>
          </p:nvSpPr>
          <p:spPr>
            <a:xfrm>
              <a:off x="3549340" y="668740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1</a:t>
              </a:r>
              <a:endParaRPr lang="pt-BR" sz="1000" dirty="0">
                <a:latin typeface="Arial Narrow" panose="020B0606020202030204" pitchFamily="34" charset="0"/>
              </a:endParaRPr>
            </a:p>
          </p:txBody>
        </p:sp>
        <p:sp>
          <p:nvSpPr>
            <p:cNvPr id="174" name="CaixaDeTexto 173"/>
            <p:cNvSpPr txBox="1"/>
            <p:nvPr/>
          </p:nvSpPr>
          <p:spPr>
            <a:xfrm>
              <a:off x="3549340" y="836361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2</a:t>
              </a:r>
              <a:endParaRPr lang="pt-BR" sz="1000" dirty="0">
                <a:latin typeface="Arial Narrow" panose="020B0606020202030204" pitchFamily="34" charset="0"/>
              </a:endParaRPr>
            </a:p>
          </p:txBody>
        </p:sp>
      </p:grpSp>
      <p:sp>
        <p:nvSpPr>
          <p:cNvPr id="175" name="Retângulo 174"/>
          <p:cNvSpPr/>
          <p:nvPr/>
        </p:nvSpPr>
        <p:spPr bwMode="auto">
          <a:xfrm>
            <a:off x="5746583" y="3403577"/>
            <a:ext cx="258269" cy="35858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6" name="Conector de seta reta 175"/>
          <p:cNvCxnSpPr>
            <a:endCxn id="177" idx="1"/>
          </p:cNvCxnSpPr>
          <p:nvPr/>
        </p:nvCxnSpPr>
        <p:spPr bwMode="auto">
          <a:xfrm>
            <a:off x="5605337" y="4355324"/>
            <a:ext cx="141246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7" name="Retângulo 176"/>
          <p:cNvSpPr/>
          <p:nvPr/>
        </p:nvSpPr>
        <p:spPr bwMode="auto">
          <a:xfrm>
            <a:off x="5746583" y="4176031"/>
            <a:ext cx="258269" cy="35858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8" name="Conector reto 177"/>
          <p:cNvCxnSpPr/>
          <p:nvPr/>
        </p:nvCxnSpPr>
        <p:spPr bwMode="auto">
          <a:xfrm flipV="1">
            <a:off x="6544363" y="3980547"/>
            <a:ext cx="0" cy="21256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9" name="CaixaDeTexto 178"/>
          <p:cNvSpPr txBox="1"/>
          <p:nvPr/>
        </p:nvSpPr>
        <p:spPr>
          <a:xfrm>
            <a:off x="6184819" y="4423541"/>
            <a:ext cx="70532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/>
              <a:t>4</a:t>
            </a:r>
          </a:p>
        </p:txBody>
      </p:sp>
      <p:sp>
        <p:nvSpPr>
          <p:cNvPr id="180" name="CaixaDeTexto 179"/>
          <p:cNvSpPr txBox="1"/>
          <p:nvPr/>
        </p:nvSpPr>
        <p:spPr>
          <a:xfrm>
            <a:off x="5835691" y="3491379"/>
            <a:ext cx="8496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A</a:t>
            </a:r>
            <a:endParaRPr lang="pt-BR" sz="1000" dirty="0"/>
          </a:p>
        </p:txBody>
      </p:sp>
      <p:sp>
        <p:nvSpPr>
          <p:cNvPr id="181" name="CaixaDeTexto 180"/>
          <p:cNvSpPr txBox="1"/>
          <p:nvPr/>
        </p:nvSpPr>
        <p:spPr>
          <a:xfrm>
            <a:off x="5837293" y="4278379"/>
            <a:ext cx="8496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/>
              <a:t>B</a:t>
            </a:r>
          </a:p>
        </p:txBody>
      </p:sp>
      <p:cxnSp>
        <p:nvCxnSpPr>
          <p:cNvPr id="182" name="Conector reto 181"/>
          <p:cNvCxnSpPr/>
          <p:nvPr/>
        </p:nvCxnSpPr>
        <p:spPr bwMode="auto">
          <a:xfrm flipH="1" flipV="1">
            <a:off x="5107182" y="5578511"/>
            <a:ext cx="651792" cy="51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Conector reto 182"/>
          <p:cNvCxnSpPr/>
          <p:nvPr/>
        </p:nvCxnSpPr>
        <p:spPr bwMode="auto">
          <a:xfrm flipV="1">
            <a:off x="5753787" y="4682963"/>
            <a:ext cx="0" cy="896066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84" name="Conector de seta reta 183"/>
          <p:cNvCxnSpPr/>
          <p:nvPr/>
        </p:nvCxnSpPr>
        <p:spPr bwMode="auto">
          <a:xfrm flipV="1">
            <a:off x="5981045" y="2856168"/>
            <a:ext cx="332065" cy="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85" name="Conector reto 184"/>
          <p:cNvCxnSpPr/>
          <p:nvPr/>
        </p:nvCxnSpPr>
        <p:spPr bwMode="auto">
          <a:xfrm flipV="1">
            <a:off x="6313110" y="2852902"/>
            <a:ext cx="0" cy="398229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86" name="CaixaDeTexto 185"/>
          <p:cNvSpPr txBox="1"/>
          <p:nvPr/>
        </p:nvSpPr>
        <p:spPr>
          <a:xfrm>
            <a:off x="5504294" y="2725363"/>
            <a:ext cx="588623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050" dirty="0" err="1" smtClean="0">
                <a:latin typeface="Arial Narrow" panose="020B0606020202030204" pitchFamily="34" charset="0"/>
              </a:rPr>
              <a:t>PCback</a:t>
            </a:r>
            <a:endParaRPr lang="pt-BR" sz="1050" dirty="0">
              <a:latin typeface="Arial Narrow" panose="020B0606020202030204" pitchFamily="34" charset="0"/>
            </a:endParaRPr>
          </a:p>
        </p:txBody>
      </p:sp>
      <p:cxnSp>
        <p:nvCxnSpPr>
          <p:cNvPr id="187" name="Conector reto 186"/>
          <p:cNvCxnSpPr>
            <a:endCxn id="186" idx="1"/>
          </p:cNvCxnSpPr>
          <p:nvPr/>
        </p:nvCxnSpPr>
        <p:spPr bwMode="auto">
          <a:xfrm flipV="1">
            <a:off x="924217" y="2856168"/>
            <a:ext cx="4580077" cy="1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88" name="CaixaDeTexto 187"/>
          <p:cNvSpPr txBox="1"/>
          <p:nvPr/>
        </p:nvSpPr>
        <p:spPr>
          <a:xfrm>
            <a:off x="7985467" y="3789033"/>
            <a:ext cx="568031" cy="2539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lIns="36000" rIns="36000" rtlCol="0">
            <a:spAutoFit/>
          </a:bodyPr>
          <a:lstStyle/>
          <a:p>
            <a:r>
              <a:rPr lang="pt-BR" sz="1050" dirty="0" err="1" smtClean="0">
                <a:latin typeface="Arial Narrow" panose="020B0606020202030204" pitchFamily="34" charset="0"/>
              </a:rPr>
              <a:t>SaidaULA</a:t>
            </a:r>
            <a:endParaRPr lang="pt-BR" sz="1050" dirty="0">
              <a:latin typeface="Arial Narrow" panose="020B0606020202030204" pitchFamily="34" charset="0"/>
            </a:endParaRPr>
          </a:p>
        </p:txBody>
      </p:sp>
      <p:grpSp>
        <p:nvGrpSpPr>
          <p:cNvPr id="189" name="Grupo 188"/>
          <p:cNvGrpSpPr/>
          <p:nvPr/>
        </p:nvGrpSpPr>
        <p:grpSpPr>
          <a:xfrm>
            <a:off x="7835196" y="2672346"/>
            <a:ext cx="975164" cy="595188"/>
            <a:chOff x="1456326" y="370747"/>
            <a:chExt cx="975164" cy="595188"/>
          </a:xfrm>
        </p:grpSpPr>
        <p:cxnSp>
          <p:nvCxnSpPr>
            <p:cNvPr id="190" name="Straight Connector 27"/>
            <p:cNvCxnSpPr/>
            <p:nvPr/>
          </p:nvCxnSpPr>
          <p:spPr>
            <a:xfrm>
              <a:off x="1930738" y="851202"/>
              <a:ext cx="181029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28"/>
            <p:cNvCxnSpPr/>
            <p:nvPr/>
          </p:nvCxnSpPr>
          <p:spPr>
            <a:xfrm>
              <a:off x="1456326" y="519248"/>
              <a:ext cx="65544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29"/>
            <p:cNvCxnSpPr/>
            <p:nvPr/>
          </p:nvCxnSpPr>
          <p:spPr>
            <a:xfrm flipV="1">
              <a:off x="2352072" y="672980"/>
              <a:ext cx="79418" cy="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CaixaDeTexto 192"/>
            <p:cNvSpPr txBox="1"/>
            <p:nvPr/>
          </p:nvSpPr>
          <p:spPr>
            <a:xfrm>
              <a:off x="2138781" y="763733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 smtClean="0">
                  <a:latin typeface="Arial Narrow" panose="020B0606020202030204" pitchFamily="34" charset="0"/>
                </a:rPr>
                <a:t>1</a:t>
              </a:r>
              <a:endParaRPr lang="pt-BR" sz="1000" dirty="0">
                <a:latin typeface="Arial Narrow" panose="020B0606020202030204" pitchFamily="34" charset="0"/>
              </a:endParaRPr>
            </a:p>
          </p:txBody>
        </p:sp>
        <p:sp>
          <p:nvSpPr>
            <p:cNvPr id="194" name="CaixaDeTexto 193"/>
            <p:cNvSpPr txBox="1"/>
            <p:nvPr/>
          </p:nvSpPr>
          <p:spPr>
            <a:xfrm>
              <a:off x="2138719" y="435948"/>
              <a:ext cx="57708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000" dirty="0">
                  <a:latin typeface="Arial Narrow" panose="020B0606020202030204" pitchFamily="34" charset="0"/>
                </a:rPr>
                <a:t>0</a:t>
              </a:r>
            </a:p>
          </p:txBody>
        </p:sp>
        <p:sp>
          <p:nvSpPr>
            <p:cNvPr id="195" name="CaixaDeTexto 194"/>
            <p:cNvSpPr txBox="1"/>
            <p:nvPr/>
          </p:nvSpPr>
          <p:spPr>
            <a:xfrm>
              <a:off x="2177926" y="512962"/>
              <a:ext cx="169405" cy="277384"/>
            </a:xfrm>
            <a:prstGeom prst="rect">
              <a:avLst/>
            </a:prstGeom>
            <a:noFill/>
          </p:spPr>
          <p:txBody>
            <a:bodyPr vert="wordArtVert" wrap="none" lIns="0" tIns="0" rIns="0" bIns="0" rtlCol="0" anchor="ctr">
              <a:spAutoFit/>
            </a:bodyPr>
            <a:lstStyle/>
            <a:p>
              <a:r>
                <a:rPr lang="pt-BR" sz="1000" spc="-600" dirty="0" err="1" smtClean="0">
                  <a:latin typeface="Arial Narrow" panose="020B0606020202030204" pitchFamily="34" charset="0"/>
                </a:rPr>
                <a:t>Mux</a:t>
              </a:r>
              <a:endParaRPr lang="pt-BR" sz="1000" spc="-600" dirty="0">
                <a:latin typeface="Arial Narrow" panose="020B0606020202030204" pitchFamily="34" charset="0"/>
              </a:endParaRPr>
            </a:p>
          </p:txBody>
        </p:sp>
        <p:sp>
          <p:nvSpPr>
            <p:cNvPr id="196" name="Arco 195"/>
            <p:cNvSpPr/>
            <p:nvPr/>
          </p:nvSpPr>
          <p:spPr>
            <a:xfrm>
              <a:off x="2111770" y="370747"/>
              <a:ext cx="241042" cy="280907"/>
            </a:xfrm>
            <a:prstGeom prst="arc">
              <a:avLst>
                <a:gd name="adj1" fmla="val 10791467"/>
                <a:gd name="adj2" fmla="val 44356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7" name="Arco 196"/>
            <p:cNvSpPr/>
            <p:nvPr/>
          </p:nvSpPr>
          <p:spPr>
            <a:xfrm flipV="1">
              <a:off x="2111768" y="703583"/>
              <a:ext cx="241044" cy="262352"/>
            </a:xfrm>
            <a:prstGeom prst="arc">
              <a:avLst>
                <a:gd name="adj1" fmla="val 10791467"/>
                <a:gd name="adj2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98" name="Conector reto 197"/>
            <p:cNvCxnSpPr>
              <a:stCxn id="197" idx="0"/>
              <a:endCxn id="196" idx="0"/>
            </p:cNvCxnSpPr>
            <p:nvPr/>
          </p:nvCxnSpPr>
          <p:spPr>
            <a:xfrm flipV="1">
              <a:off x="2111768" y="511500"/>
              <a:ext cx="2" cy="3229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ector reto 198"/>
            <p:cNvCxnSpPr>
              <a:stCxn id="197" idx="2"/>
              <a:endCxn id="196" idx="2"/>
            </p:cNvCxnSpPr>
            <p:nvPr/>
          </p:nvCxnSpPr>
          <p:spPr>
            <a:xfrm flipH="1" flipV="1">
              <a:off x="2352072" y="526742"/>
              <a:ext cx="740" cy="308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0" name="Conector de seta reta 199"/>
          <p:cNvCxnSpPr>
            <a:stCxn id="188" idx="3"/>
          </p:cNvCxnSpPr>
          <p:nvPr/>
        </p:nvCxnSpPr>
        <p:spPr bwMode="auto">
          <a:xfrm>
            <a:off x="8553498" y="3915991"/>
            <a:ext cx="177377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01" name="CaixaDeTexto 200"/>
          <p:cNvSpPr txBox="1"/>
          <p:nvPr/>
        </p:nvSpPr>
        <p:spPr>
          <a:xfrm>
            <a:off x="3579643" y="2208298"/>
            <a:ext cx="246863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[6:0]</a:t>
            </a:r>
            <a:endParaRPr lang="pt-BR" sz="1000" dirty="0"/>
          </a:p>
        </p:txBody>
      </p:sp>
      <p:cxnSp>
        <p:nvCxnSpPr>
          <p:cNvPr id="202" name="Conector de seta reta 201"/>
          <p:cNvCxnSpPr>
            <a:endCxn id="121" idx="1"/>
          </p:cNvCxnSpPr>
          <p:nvPr/>
        </p:nvCxnSpPr>
        <p:spPr bwMode="auto">
          <a:xfrm>
            <a:off x="354350" y="3131362"/>
            <a:ext cx="163809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3" name="Conector reto 202"/>
          <p:cNvCxnSpPr/>
          <p:nvPr/>
        </p:nvCxnSpPr>
        <p:spPr bwMode="auto">
          <a:xfrm flipV="1">
            <a:off x="358472" y="2539265"/>
            <a:ext cx="0" cy="59209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4" name="Conector reto 203"/>
          <p:cNvCxnSpPr/>
          <p:nvPr/>
        </p:nvCxnSpPr>
        <p:spPr bwMode="auto">
          <a:xfrm flipH="1">
            <a:off x="681808" y="6334090"/>
            <a:ext cx="8049134" cy="1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5" name="Conector reto 204"/>
          <p:cNvCxnSpPr/>
          <p:nvPr/>
        </p:nvCxnSpPr>
        <p:spPr bwMode="auto">
          <a:xfrm flipV="1">
            <a:off x="3557932" y="4402939"/>
            <a:ext cx="0" cy="1931152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06" name="Elipse 205"/>
          <p:cNvSpPr/>
          <p:nvPr/>
        </p:nvSpPr>
        <p:spPr bwMode="auto">
          <a:xfrm>
            <a:off x="3525140" y="6302825"/>
            <a:ext cx="65584" cy="62531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7" name="Conector reto 206"/>
          <p:cNvCxnSpPr/>
          <p:nvPr/>
        </p:nvCxnSpPr>
        <p:spPr bwMode="auto">
          <a:xfrm>
            <a:off x="3277629" y="3762580"/>
            <a:ext cx="107471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08" name="Conector reto 207"/>
          <p:cNvCxnSpPr/>
          <p:nvPr/>
        </p:nvCxnSpPr>
        <p:spPr bwMode="auto">
          <a:xfrm flipV="1">
            <a:off x="6108371" y="4344019"/>
            <a:ext cx="0" cy="1857174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09" name="Conector reto 208"/>
          <p:cNvCxnSpPr/>
          <p:nvPr/>
        </p:nvCxnSpPr>
        <p:spPr bwMode="auto">
          <a:xfrm>
            <a:off x="1134772" y="6201082"/>
            <a:ext cx="4973599" cy="111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0" name="Conector de seta reta 209"/>
          <p:cNvCxnSpPr/>
          <p:nvPr/>
        </p:nvCxnSpPr>
        <p:spPr bwMode="auto">
          <a:xfrm>
            <a:off x="1150169" y="4396054"/>
            <a:ext cx="287108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1" name="Conector reto 210"/>
          <p:cNvCxnSpPr/>
          <p:nvPr/>
        </p:nvCxnSpPr>
        <p:spPr bwMode="auto">
          <a:xfrm flipV="1">
            <a:off x="1143215" y="4389716"/>
            <a:ext cx="62" cy="181147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2" name="Elipse 211"/>
          <p:cNvSpPr/>
          <p:nvPr/>
        </p:nvSpPr>
        <p:spPr bwMode="auto">
          <a:xfrm>
            <a:off x="6075579" y="4314383"/>
            <a:ext cx="65584" cy="61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13" name="Conector reto 212"/>
          <p:cNvCxnSpPr/>
          <p:nvPr/>
        </p:nvCxnSpPr>
        <p:spPr bwMode="auto">
          <a:xfrm flipV="1">
            <a:off x="8724420" y="3919775"/>
            <a:ext cx="2" cy="2414316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4" name="Elipse 213"/>
          <p:cNvSpPr/>
          <p:nvPr/>
        </p:nvSpPr>
        <p:spPr bwMode="auto">
          <a:xfrm>
            <a:off x="7805314" y="3883636"/>
            <a:ext cx="65584" cy="61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5" name="Elipse 214"/>
          <p:cNvSpPr/>
          <p:nvPr/>
        </p:nvSpPr>
        <p:spPr bwMode="auto">
          <a:xfrm>
            <a:off x="8691628" y="3883636"/>
            <a:ext cx="65584" cy="61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16" name="Conector reto 215"/>
          <p:cNvCxnSpPr/>
          <p:nvPr/>
        </p:nvCxnSpPr>
        <p:spPr bwMode="auto">
          <a:xfrm flipH="1" flipV="1">
            <a:off x="5807384" y="2031615"/>
            <a:ext cx="2938" cy="70633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7" name="Conector reto 216"/>
          <p:cNvCxnSpPr/>
          <p:nvPr/>
        </p:nvCxnSpPr>
        <p:spPr bwMode="auto">
          <a:xfrm>
            <a:off x="4058937" y="2031018"/>
            <a:ext cx="1751385" cy="345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B8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8" name="CaixaDeTexto 217"/>
          <p:cNvSpPr txBox="1"/>
          <p:nvPr/>
        </p:nvSpPr>
        <p:spPr>
          <a:xfrm>
            <a:off x="4251960" y="1894320"/>
            <a:ext cx="65402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900" dirty="0" err="1" smtClean="0">
                <a:solidFill>
                  <a:srgbClr val="16A6C8"/>
                </a:solidFill>
                <a:latin typeface="+mn-lt"/>
              </a:rPr>
              <a:t>EscrevePCB</a:t>
            </a:r>
            <a:endParaRPr lang="pt-BR" sz="900" dirty="0" smtClean="0">
              <a:solidFill>
                <a:srgbClr val="16A6C8"/>
              </a:solidFill>
              <a:latin typeface="+mn-lt"/>
            </a:endParaRPr>
          </a:p>
        </p:txBody>
      </p:sp>
      <p:sp>
        <p:nvSpPr>
          <p:cNvPr id="219" name="CaixaDeTexto 218"/>
          <p:cNvSpPr txBox="1"/>
          <p:nvPr/>
        </p:nvSpPr>
        <p:spPr>
          <a:xfrm>
            <a:off x="6456693" y="3285680"/>
            <a:ext cx="577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>
                <a:latin typeface="Arial Narrow" panose="020B0606020202030204" pitchFamily="34" charset="0"/>
              </a:rPr>
              <a:t>1</a:t>
            </a:r>
          </a:p>
        </p:txBody>
      </p:sp>
      <p:cxnSp>
        <p:nvCxnSpPr>
          <p:cNvPr id="220" name="Conector Angulado 5"/>
          <p:cNvCxnSpPr/>
          <p:nvPr/>
        </p:nvCxnSpPr>
        <p:spPr bwMode="auto">
          <a:xfrm>
            <a:off x="5737232" y="3045651"/>
            <a:ext cx="679305" cy="31114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1" name="Conector Angulado 13"/>
          <p:cNvCxnSpPr/>
          <p:nvPr/>
        </p:nvCxnSpPr>
        <p:spPr bwMode="auto">
          <a:xfrm>
            <a:off x="5170693" y="2855745"/>
            <a:ext cx="588281" cy="189669"/>
          </a:xfrm>
          <a:prstGeom prst="bentConnector3">
            <a:avLst>
              <a:gd name="adj1" fmla="val 393"/>
            </a:avLst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22" name="Elipse 221"/>
          <p:cNvSpPr/>
          <p:nvPr/>
        </p:nvSpPr>
        <p:spPr bwMode="auto">
          <a:xfrm>
            <a:off x="5149496" y="2835439"/>
            <a:ext cx="45719" cy="4571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3" name="Grupo 222"/>
          <p:cNvGrpSpPr/>
          <p:nvPr/>
        </p:nvGrpSpPr>
        <p:grpSpPr>
          <a:xfrm>
            <a:off x="5952670" y="3765347"/>
            <a:ext cx="302681" cy="329892"/>
            <a:chOff x="5812668" y="3793118"/>
            <a:chExt cx="302681" cy="329892"/>
          </a:xfrm>
        </p:grpSpPr>
        <p:sp>
          <p:nvSpPr>
            <p:cNvPr id="224" name="Elipse 223"/>
            <p:cNvSpPr/>
            <p:nvPr/>
          </p:nvSpPr>
          <p:spPr bwMode="auto">
            <a:xfrm>
              <a:off x="5812668" y="3793118"/>
              <a:ext cx="302681" cy="329892"/>
            </a:xfrm>
            <a:prstGeom prst="ellipse">
              <a:avLst/>
            </a:prstGeom>
            <a:noFill/>
            <a:ln w="15875" cap="flat" cmpd="sng" algn="ctr">
              <a:solidFill>
                <a:srgbClr val="00B8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5" name="CaixaDeTexto 224"/>
            <p:cNvSpPr txBox="1"/>
            <p:nvPr/>
          </p:nvSpPr>
          <p:spPr>
            <a:xfrm>
              <a:off x="5818546" y="3870983"/>
              <a:ext cx="293349" cy="18466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pt-BR" sz="600" dirty="0" smtClean="0">
                  <a:solidFill>
                    <a:srgbClr val="16A6C8"/>
                  </a:solidFill>
                  <a:latin typeface="+mn-lt"/>
                </a:rPr>
                <a:t>Controle</a:t>
              </a:r>
            </a:p>
            <a:p>
              <a:pPr algn="ctr"/>
              <a:r>
                <a:rPr lang="pt-BR" sz="600" dirty="0" err="1" smtClean="0">
                  <a:solidFill>
                    <a:srgbClr val="16A6C8"/>
                  </a:solidFill>
                  <a:latin typeface="+mn-lt"/>
                </a:rPr>
                <a:t>Branch</a:t>
              </a:r>
              <a:endParaRPr lang="pt-BR" sz="600" dirty="0" smtClean="0">
                <a:solidFill>
                  <a:srgbClr val="16A6C8"/>
                </a:solidFill>
                <a:latin typeface="+mn-lt"/>
              </a:endParaRPr>
            </a:p>
          </p:txBody>
        </p:sp>
      </p:grpSp>
      <p:cxnSp>
        <p:nvCxnSpPr>
          <p:cNvPr id="226" name="Conector reto 225"/>
          <p:cNvCxnSpPr/>
          <p:nvPr/>
        </p:nvCxnSpPr>
        <p:spPr bwMode="auto">
          <a:xfrm flipV="1">
            <a:off x="6106771" y="3577687"/>
            <a:ext cx="0" cy="186496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27" name="Conector reto 226"/>
          <p:cNvCxnSpPr>
            <a:stCxn id="212" idx="4"/>
            <a:endCxn id="224" idx="4"/>
          </p:cNvCxnSpPr>
          <p:nvPr/>
        </p:nvCxnSpPr>
        <p:spPr bwMode="auto">
          <a:xfrm flipH="1" flipV="1">
            <a:off x="6104011" y="4095239"/>
            <a:ext cx="4360" cy="281056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28" name="Elipse 227"/>
          <p:cNvSpPr/>
          <p:nvPr/>
        </p:nvSpPr>
        <p:spPr bwMode="auto">
          <a:xfrm>
            <a:off x="6072030" y="3548723"/>
            <a:ext cx="65584" cy="61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29" name="Conector de Seta Reta 132"/>
          <p:cNvCxnSpPr/>
          <p:nvPr/>
        </p:nvCxnSpPr>
        <p:spPr bwMode="auto">
          <a:xfrm flipV="1">
            <a:off x="3412472" y="3923621"/>
            <a:ext cx="2540198" cy="1207375"/>
          </a:xfrm>
          <a:prstGeom prst="bentConnector3">
            <a:avLst>
              <a:gd name="adj1" fmla="val 8815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sp>
        <p:nvSpPr>
          <p:cNvPr id="230" name="CaixaDeTexto 229"/>
          <p:cNvSpPr txBox="1"/>
          <p:nvPr/>
        </p:nvSpPr>
        <p:spPr>
          <a:xfrm>
            <a:off x="4296263" y="4966332"/>
            <a:ext cx="3879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1000" dirty="0" smtClean="0"/>
              <a:t>[14:12]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41558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2"/>
          <p:cNvSpPr txBox="1">
            <a:spLocks/>
          </p:cNvSpPr>
          <p:nvPr/>
        </p:nvSpPr>
        <p:spPr>
          <a:xfrm>
            <a:off x="480746" y="485013"/>
            <a:ext cx="8229600" cy="400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Esperando por uma boa alma ....</a:t>
            </a:r>
            <a:endParaRPr lang="pt-BR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36254" y="0"/>
            <a:ext cx="8229600" cy="381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pt-BR" sz="2800" dirty="0" smtClean="0"/>
              <a:t>Caminho de Dados PIPELINE – Laboratório incompleto</a:t>
            </a:r>
            <a:endParaRPr lang="pt-BR" altLang="pt-BR" sz="2800" dirty="0" smtClean="0"/>
          </a:p>
        </p:txBody>
      </p:sp>
      <p:pic>
        <p:nvPicPr>
          <p:cNvPr id="626" name="Imagem 625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45" y="1200465"/>
            <a:ext cx="6931660" cy="428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7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279842" y="1143000"/>
            <a:ext cx="6584315" cy="457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" name="Line 10966"/>
          <p:cNvCxnSpPr/>
          <p:nvPr/>
        </p:nvCxnSpPr>
        <p:spPr bwMode="auto">
          <a:xfrm>
            <a:off x="5675312" y="4025900"/>
            <a:ext cx="635" cy="9334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Freeform 10967"/>
          <p:cNvSpPr>
            <a:spLocks/>
          </p:cNvSpPr>
          <p:nvPr/>
        </p:nvSpPr>
        <p:spPr bwMode="auto">
          <a:xfrm>
            <a:off x="5031422" y="4297680"/>
            <a:ext cx="39370" cy="39370"/>
          </a:xfrm>
          <a:custGeom>
            <a:avLst/>
            <a:gdLst>
              <a:gd name="T0" fmla="*/ 0 w 62"/>
              <a:gd name="T1" fmla="*/ 57 h 62"/>
              <a:gd name="T2" fmla="*/ 62 w 62"/>
              <a:gd name="T3" fmla="*/ 62 h 62"/>
              <a:gd name="T4" fmla="*/ 33 w 62"/>
              <a:gd name="T5" fmla="*/ 0 h 62"/>
              <a:gd name="T6" fmla="*/ 5 w 62"/>
              <a:gd name="T7" fmla="*/ 62 h 62"/>
              <a:gd name="T8" fmla="*/ 5 w 62"/>
              <a:gd name="T9" fmla="*/ 62 h 62"/>
              <a:gd name="T10" fmla="*/ 0 w 62"/>
              <a:gd name="T11" fmla="*/ 5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57"/>
                </a:moveTo>
                <a:lnTo>
                  <a:pt x="62" y="62"/>
                </a:lnTo>
                <a:lnTo>
                  <a:pt x="33" y="0"/>
                </a:lnTo>
                <a:lnTo>
                  <a:pt x="5" y="62"/>
                </a:lnTo>
                <a:lnTo>
                  <a:pt x="5" y="62"/>
                </a:lnTo>
                <a:lnTo>
                  <a:pt x="0" y="57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6" name="Freeform 10968"/>
          <p:cNvSpPr>
            <a:spLocks/>
          </p:cNvSpPr>
          <p:nvPr/>
        </p:nvSpPr>
        <p:spPr bwMode="auto">
          <a:xfrm>
            <a:off x="5040312" y="4790440"/>
            <a:ext cx="36195" cy="36195"/>
          </a:xfrm>
          <a:custGeom>
            <a:avLst/>
            <a:gdLst>
              <a:gd name="T0" fmla="*/ 57 w 57"/>
              <a:gd name="T1" fmla="*/ 0 h 57"/>
              <a:gd name="T2" fmla="*/ 0 w 57"/>
              <a:gd name="T3" fmla="*/ 0 h 57"/>
              <a:gd name="T4" fmla="*/ 29 w 57"/>
              <a:gd name="T5" fmla="*/ 57 h 57"/>
              <a:gd name="T6" fmla="*/ 57 w 57"/>
              <a:gd name="T7" fmla="*/ 0 h 57"/>
              <a:gd name="T8" fmla="*/ 57 w 57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57">
                <a:moveTo>
                  <a:pt x="57" y="0"/>
                </a:moveTo>
                <a:lnTo>
                  <a:pt x="0" y="0"/>
                </a:lnTo>
                <a:lnTo>
                  <a:pt x="29" y="57"/>
                </a:lnTo>
                <a:lnTo>
                  <a:pt x="57" y="0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7" name="Freeform 10969"/>
          <p:cNvSpPr>
            <a:spLocks/>
          </p:cNvSpPr>
          <p:nvPr/>
        </p:nvSpPr>
        <p:spPr bwMode="auto">
          <a:xfrm>
            <a:off x="5541962" y="437642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3 h 62"/>
              <a:gd name="T6" fmla="*/ 5 w 62"/>
              <a:gd name="T7" fmla="*/ 5 h 62"/>
              <a:gd name="T8" fmla="*/ 5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3"/>
                </a:lnTo>
                <a:lnTo>
                  <a:pt x="5" y="5"/>
                </a:lnTo>
                <a:lnTo>
                  <a:pt x="5" y="5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8" name="Freeform 10970"/>
          <p:cNvSpPr>
            <a:spLocks/>
          </p:cNvSpPr>
          <p:nvPr/>
        </p:nvSpPr>
        <p:spPr bwMode="auto">
          <a:xfrm>
            <a:off x="5028247" y="3711575"/>
            <a:ext cx="39370" cy="39370"/>
          </a:xfrm>
          <a:custGeom>
            <a:avLst/>
            <a:gdLst>
              <a:gd name="T0" fmla="*/ 0 w 62"/>
              <a:gd name="T1" fmla="*/ 57 h 62"/>
              <a:gd name="T2" fmla="*/ 62 w 62"/>
              <a:gd name="T3" fmla="*/ 62 h 62"/>
              <a:gd name="T4" fmla="*/ 33 w 62"/>
              <a:gd name="T5" fmla="*/ 0 h 62"/>
              <a:gd name="T6" fmla="*/ 5 w 62"/>
              <a:gd name="T7" fmla="*/ 62 h 62"/>
              <a:gd name="T8" fmla="*/ 5 w 62"/>
              <a:gd name="T9" fmla="*/ 62 h 62"/>
              <a:gd name="T10" fmla="*/ 0 w 62"/>
              <a:gd name="T11" fmla="*/ 5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57"/>
                </a:moveTo>
                <a:lnTo>
                  <a:pt x="62" y="62"/>
                </a:lnTo>
                <a:lnTo>
                  <a:pt x="33" y="0"/>
                </a:lnTo>
                <a:lnTo>
                  <a:pt x="5" y="62"/>
                </a:lnTo>
                <a:lnTo>
                  <a:pt x="5" y="62"/>
                </a:lnTo>
                <a:lnTo>
                  <a:pt x="0" y="57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9" name="Freeform 10971"/>
          <p:cNvSpPr>
            <a:spLocks/>
          </p:cNvSpPr>
          <p:nvPr/>
        </p:nvSpPr>
        <p:spPr bwMode="auto">
          <a:xfrm>
            <a:off x="5348922" y="3898900"/>
            <a:ext cx="39370" cy="39370"/>
          </a:xfrm>
          <a:custGeom>
            <a:avLst/>
            <a:gdLst>
              <a:gd name="T0" fmla="*/ 57 w 62"/>
              <a:gd name="T1" fmla="*/ 0 h 62"/>
              <a:gd name="T2" fmla="*/ 0 w 62"/>
              <a:gd name="T3" fmla="*/ 0 h 62"/>
              <a:gd name="T4" fmla="*/ 28 w 62"/>
              <a:gd name="T5" fmla="*/ 62 h 62"/>
              <a:gd name="T6" fmla="*/ 62 w 62"/>
              <a:gd name="T7" fmla="*/ 0 h 62"/>
              <a:gd name="T8" fmla="*/ 62 w 62"/>
              <a:gd name="T9" fmla="*/ 0 h 62"/>
              <a:gd name="T10" fmla="*/ 57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57" y="0"/>
                </a:moveTo>
                <a:lnTo>
                  <a:pt x="0" y="0"/>
                </a:lnTo>
                <a:lnTo>
                  <a:pt x="28" y="62"/>
                </a:lnTo>
                <a:lnTo>
                  <a:pt x="62" y="0"/>
                </a:lnTo>
                <a:lnTo>
                  <a:pt x="62" y="0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0" name="Freeform 10972"/>
          <p:cNvSpPr>
            <a:spLocks/>
          </p:cNvSpPr>
          <p:nvPr/>
        </p:nvSpPr>
        <p:spPr bwMode="auto">
          <a:xfrm>
            <a:off x="5656897" y="4007485"/>
            <a:ext cx="36195" cy="39370"/>
          </a:xfrm>
          <a:custGeom>
            <a:avLst/>
            <a:gdLst>
              <a:gd name="T0" fmla="*/ 0 w 57"/>
              <a:gd name="T1" fmla="*/ 57 h 62"/>
              <a:gd name="T2" fmla="*/ 57 w 57"/>
              <a:gd name="T3" fmla="*/ 62 h 62"/>
              <a:gd name="T4" fmla="*/ 29 w 57"/>
              <a:gd name="T5" fmla="*/ 0 h 62"/>
              <a:gd name="T6" fmla="*/ 0 w 57"/>
              <a:gd name="T7" fmla="*/ 62 h 62"/>
              <a:gd name="T8" fmla="*/ 0 w 57"/>
              <a:gd name="T9" fmla="*/ 62 h 62"/>
              <a:gd name="T10" fmla="*/ 0 w 57"/>
              <a:gd name="T11" fmla="*/ 5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2">
                <a:moveTo>
                  <a:pt x="0" y="57"/>
                </a:moveTo>
                <a:lnTo>
                  <a:pt x="57" y="62"/>
                </a:lnTo>
                <a:lnTo>
                  <a:pt x="29" y="0"/>
                </a:lnTo>
                <a:lnTo>
                  <a:pt x="0" y="62"/>
                </a:lnTo>
                <a:lnTo>
                  <a:pt x="0" y="62"/>
                </a:lnTo>
                <a:lnTo>
                  <a:pt x="0" y="57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1" name="Freeform 10973"/>
          <p:cNvSpPr>
            <a:spLocks/>
          </p:cNvSpPr>
          <p:nvPr/>
        </p:nvSpPr>
        <p:spPr bwMode="auto">
          <a:xfrm>
            <a:off x="5832157" y="5376545"/>
            <a:ext cx="39370" cy="39370"/>
          </a:xfrm>
          <a:custGeom>
            <a:avLst/>
            <a:gdLst>
              <a:gd name="T0" fmla="*/ 57 w 62"/>
              <a:gd name="T1" fmla="*/ 0 h 62"/>
              <a:gd name="T2" fmla="*/ 62 w 62"/>
              <a:gd name="T3" fmla="*/ 62 h 62"/>
              <a:gd name="T4" fmla="*/ 0 w 62"/>
              <a:gd name="T5" fmla="*/ 33 h 62"/>
              <a:gd name="T6" fmla="*/ 62 w 62"/>
              <a:gd name="T7" fmla="*/ 0 h 62"/>
              <a:gd name="T8" fmla="*/ 62 w 62"/>
              <a:gd name="T9" fmla="*/ 0 h 62"/>
              <a:gd name="T10" fmla="*/ 57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57" y="0"/>
                </a:moveTo>
                <a:lnTo>
                  <a:pt x="62" y="62"/>
                </a:lnTo>
                <a:lnTo>
                  <a:pt x="0" y="33"/>
                </a:lnTo>
                <a:lnTo>
                  <a:pt x="62" y="0"/>
                </a:lnTo>
                <a:lnTo>
                  <a:pt x="62" y="0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2" name="Freeform 10974"/>
          <p:cNvSpPr>
            <a:spLocks/>
          </p:cNvSpPr>
          <p:nvPr/>
        </p:nvSpPr>
        <p:spPr bwMode="auto">
          <a:xfrm>
            <a:off x="2459037" y="2943860"/>
            <a:ext cx="36195" cy="39370"/>
          </a:xfrm>
          <a:custGeom>
            <a:avLst/>
            <a:gdLst>
              <a:gd name="T0" fmla="*/ 57 w 57"/>
              <a:gd name="T1" fmla="*/ 0 h 62"/>
              <a:gd name="T2" fmla="*/ 0 w 57"/>
              <a:gd name="T3" fmla="*/ 0 h 62"/>
              <a:gd name="T4" fmla="*/ 28 w 57"/>
              <a:gd name="T5" fmla="*/ 62 h 62"/>
              <a:gd name="T6" fmla="*/ 57 w 57"/>
              <a:gd name="T7" fmla="*/ 0 h 62"/>
              <a:gd name="T8" fmla="*/ 57 w 57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62">
                <a:moveTo>
                  <a:pt x="57" y="0"/>
                </a:moveTo>
                <a:lnTo>
                  <a:pt x="0" y="0"/>
                </a:lnTo>
                <a:lnTo>
                  <a:pt x="28" y="62"/>
                </a:lnTo>
                <a:lnTo>
                  <a:pt x="57" y="0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3" name="Freeform 10975"/>
          <p:cNvSpPr>
            <a:spLocks/>
          </p:cNvSpPr>
          <p:nvPr/>
        </p:nvSpPr>
        <p:spPr bwMode="auto">
          <a:xfrm>
            <a:off x="1533842" y="3578860"/>
            <a:ext cx="36195" cy="38735"/>
          </a:xfrm>
          <a:custGeom>
            <a:avLst/>
            <a:gdLst>
              <a:gd name="T0" fmla="*/ 52 w 57"/>
              <a:gd name="T1" fmla="*/ 0 h 61"/>
              <a:gd name="T2" fmla="*/ 0 w 57"/>
              <a:gd name="T3" fmla="*/ 4 h 61"/>
              <a:gd name="T4" fmla="*/ 28 w 57"/>
              <a:gd name="T5" fmla="*/ 61 h 61"/>
              <a:gd name="T6" fmla="*/ 57 w 57"/>
              <a:gd name="T7" fmla="*/ 4 h 61"/>
              <a:gd name="T8" fmla="*/ 57 w 57"/>
              <a:gd name="T9" fmla="*/ 4 h 61"/>
              <a:gd name="T10" fmla="*/ 52 w 57"/>
              <a:gd name="T11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1">
                <a:moveTo>
                  <a:pt x="52" y="0"/>
                </a:moveTo>
                <a:lnTo>
                  <a:pt x="0" y="4"/>
                </a:lnTo>
                <a:lnTo>
                  <a:pt x="28" y="61"/>
                </a:lnTo>
                <a:lnTo>
                  <a:pt x="57" y="4"/>
                </a:lnTo>
                <a:lnTo>
                  <a:pt x="57" y="4"/>
                </a:lnTo>
                <a:lnTo>
                  <a:pt x="52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4" name="Freeform 10976"/>
          <p:cNvSpPr>
            <a:spLocks/>
          </p:cNvSpPr>
          <p:nvPr/>
        </p:nvSpPr>
        <p:spPr bwMode="auto">
          <a:xfrm>
            <a:off x="2359342" y="5086350"/>
            <a:ext cx="38735" cy="36195"/>
          </a:xfrm>
          <a:custGeom>
            <a:avLst/>
            <a:gdLst>
              <a:gd name="T0" fmla="*/ 0 w 61"/>
              <a:gd name="T1" fmla="*/ 0 h 57"/>
              <a:gd name="T2" fmla="*/ 4 w 61"/>
              <a:gd name="T3" fmla="*/ 57 h 57"/>
              <a:gd name="T4" fmla="*/ 61 w 61"/>
              <a:gd name="T5" fmla="*/ 29 h 57"/>
              <a:gd name="T6" fmla="*/ 4 w 61"/>
              <a:gd name="T7" fmla="*/ 0 h 57"/>
              <a:gd name="T8" fmla="*/ 4 w 61"/>
              <a:gd name="T9" fmla="*/ 0 h 57"/>
              <a:gd name="T10" fmla="*/ 0 w 61"/>
              <a:gd name="T11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" h="57">
                <a:moveTo>
                  <a:pt x="0" y="0"/>
                </a:moveTo>
                <a:lnTo>
                  <a:pt x="4" y="57"/>
                </a:lnTo>
                <a:lnTo>
                  <a:pt x="61" y="29"/>
                </a:lnTo>
                <a:lnTo>
                  <a:pt x="4" y="0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5" name="Freeform 10977"/>
          <p:cNvSpPr>
            <a:spLocks/>
          </p:cNvSpPr>
          <p:nvPr/>
        </p:nvSpPr>
        <p:spPr bwMode="auto">
          <a:xfrm>
            <a:off x="3822382" y="3246120"/>
            <a:ext cx="36195" cy="39370"/>
          </a:xfrm>
          <a:custGeom>
            <a:avLst/>
            <a:gdLst>
              <a:gd name="T0" fmla="*/ 52 w 57"/>
              <a:gd name="T1" fmla="*/ 0 h 62"/>
              <a:gd name="T2" fmla="*/ 0 w 57"/>
              <a:gd name="T3" fmla="*/ 5 h 62"/>
              <a:gd name="T4" fmla="*/ 28 w 57"/>
              <a:gd name="T5" fmla="*/ 62 h 62"/>
              <a:gd name="T6" fmla="*/ 57 w 57"/>
              <a:gd name="T7" fmla="*/ 5 h 62"/>
              <a:gd name="T8" fmla="*/ 57 w 57"/>
              <a:gd name="T9" fmla="*/ 5 h 62"/>
              <a:gd name="T10" fmla="*/ 52 w 57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2">
                <a:moveTo>
                  <a:pt x="52" y="0"/>
                </a:moveTo>
                <a:lnTo>
                  <a:pt x="0" y="5"/>
                </a:lnTo>
                <a:lnTo>
                  <a:pt x="28" y="62"/>
                </a:lnTo>
                <a:lnTo>
                  <a:pt x="57" y="5"/>
                </a:lnTo>
                <a:lnTo>
                  <a:pt x="57" y="5"/>
                </a:lnTo>
                <a:lnTo>
                  <a:pt x="52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6" name="Freeform 10978"/>
          <p:cNvSpPr>
            <a:spLocks/>
          </p:cNvSpPr>
          <p:nvPr/>
        </p:nvSpPr>
        <p:spPr bwMode="auto">
          <a:xfrm>
            <a:off x="4336097" y="2735580"/>
            <a:ext cx="151130" cy="250825"/>
          </a:xfrm>
          <a:custGeom>
            <a:avLst/>
            <a:gdLst>
              <a:gd name="T0" fmla="*/ 233 w 238"/>
              <a:gd name="T1" fmla="*/ 395 h 395"/>
              <a:gd name="T2" fmla="*/ 238 w 238"/>
              <a:gd name="T3" fmla="*/ 0 h 395"/>
              <a:gd name="T4" fmla="*/ 0 w 238"/>
              <a:gd name="T5" fmla="*/ 0 h 395"/>
              <a:gd name="T6" fmla="*/ 0 w 238"/>
              <a:gd name="T7" fmla="*/ 395 h 395"/>
              <a:gd name="T8" fmla="*/ 238 w 238"/>
              <a:gd name="T9" fmla="*/ 395 h 395"/>
              <a:gd name="T10" fmla="*/ 238 w 238"/>
              <a:gd name="T11" fmla="*/ 395 h 395"/>
              <a:gd name="T12" fmla="*/ 233 w 238"/>
              <a:gd name="T13" fmla="*/ 395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95">
                <a:moveTo>
                  <a:pt x="233" y="395"/>
                </a:moveTo>
                <a:lnTo>
                  <a:pt x="238" y="0"/>
                </a:lnTo>
                <a:lnTo>
                  <a:pt x="0" y="0"/>
                </a:lnTo>
                <a:lnTo>
                  <a:pt x="0" y="395"/>
                </a:lnTo>
                <a:lnTo>
                  <a:pt x="238" y="395"/>
                </a:lnTo>
                <a:lnTo>
                  <a:pt x="238" y="395"/>
                </a:lnTo>
                <a:lnTo>
                  <a:pt x="233" y="3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7" name="Freeform 10979"/>
          <p:cNvSpPr>
            <a:spLocks/>
          </p:cNvSpPr>
          <p:nvPr/>
        </p:nvSpPr>
        <p:spPr bwMode="auto">
          <a:xfrm>
            <a:off x="3426142" y="3787140"/>
            <a:ext cx="39370" cy="36195"/>
          </a:xfrm>
          <a:custGeom>
            <a:avLst/>
            <a:gdLst>
              <a:gd name="T0" fmla="*/ 0 w 62"/>
              <a:gd name="T1" fmla="*/ 0 h 57"/>
              <a:gd name="T2" fmla="*/ 0 w 62"/>
              <a:gd name="T3" fmla="*/ 57 h 57"/>
              <a:gd name="T4" fmla="*/ 62 w 62"/>
              <a:gd name="T5" fmla="*/ 28 h 57"/>
              <a:gd name="T6" fmla="*/ 0 w 62"/>
              <a:gd name="T7" fmla="*/ 0 h 57"/>
              <a:gd name="T8" fmla="*/ 0 w 62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0" y="57"/>
                </a:lnTo>
                <a:lnTo>
                  <a:pt x="62" y="2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8" name="Freeform 10980"/>
          <p:cNvSpPr>
            <a:spLocks/>
          </p:cNvSpPr>
          <p:nvPr/>
        </p:nvSpPr>
        <p:spPr bwMode="auto">
          <a:xfrm>
            <a:off x="1482407" y="3623945"/>
            <a:ext cx="139065" cy="393065"/>
          </a:xfrm>
          <a:custGeom>
            <a:avLst/>
            <a:gdLst>
              <a:gd name="T0" fmla="*/ 214 w 219"/>
              <a:gd name="T1" fmla="*/ 614 h 619"/>
              <a:gd name="T2" fmla="*/ 219 w 219"/>
              <a:gd name="T3" fmla="*/ 0 h 619"/>
              <a:gd name="T4" fmla="*/ 0 w 219"/>
              <a:gd name="T5" fmla="*/ 0 h 619"/>
              <a:gd name="T6" fmla="*/ 0 w 219"/>
              <a:gd name="T7" fmla="*/ 619 h 619"/>
              <a:gd name="T8" fmla="*/ 219 w 219"/>
              <a:gd name="T9" fmla="*/ 619 h 619"/>
              <a:gd name="T10" fmla="*/ 219 w 219"/>
              <a:gd name="T11" fmla="*/ 619 h 619"/>
              <a:gd name="T12" fmla="*/ 214 w 219"/>
              <a:gd name="T13" fmla="*/ 614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9" h="619">
                <a:moveTo>
                  <a:pt x="214" y="614"/>
                </a:moveTo>
                <a:lnTo>
                  <a:pt x="219" y="0"/>
                </a:lnTo>
                <a:lnTo>
                  <a:pt x="0" y="0"/>
                </a:lnTo>
                <a:lnTo>
                  <a:pt x="0" y="619"/>
                </a:lnTo>
                <a:lnTo>
                  <a:pt x="219" y="619"/>
                </a:lnTo>
                <a:lnTo>
                  <a:pt x="219" y="619"/>
                </a:lnTo>
                <a:lnTo>
                  <a:pt x="214" y="6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9" name="Freeform 10981"/>
          <p:cNvSpPr>
            <a:spLocks/>
          </p:cNvSpPr>
          <p:nvPr/>
        </p:nvSpPr>
        <p:spPr bwMode="auto">
          <a:xfrm>
            <a:off x="1482407" y="3623945"/>
            <a:ext cx="139065" cy="393065"/>
          </a:xfrm>
          <a:custGeom>
            <a:avLst/>
            <a:gdLst>
              <a:gd name="T0" fmla="*/ 214 w 219"/>
              <a:gd name="T1" fmla="*/ 614 h 619"/>
              <a:gd name="T2" fmla="*/ 219 w 219"/>
              <a:gd name="T3" fmla="*/ 0 h 619"/>
              <a:gd name="T4" fmla="*/ 0 w 219"/>
              <a:gd name="T5" fmla="*/ 0 h 619"/>
              <a:gd name="T6" fmla="*/ 0 w 219"/>
              <a:gd name="T7" fmla="*/ 619 h 619"/>
              <a:gd name="T8" fmla="*/ 219 w 219"/>
              <a:gd name="T9" fmla="*/ 619 h 619"/>
              <a:gd name="T10" fmla="*/ 219 w 219"/>
              <a:gd name="T11" fmla="*/ 619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9" h="619">
                <a:moveTo>
                  <a:pt x="214" y="614"/>
                </a:moveTo>
                <a:lnTo>
                  <a:pt x="219" y="0"/>
                </a:lnTo>
                <a:lnTo>
                  <a:pt x="0" y="0"/>
                </a:lnTo>
                <a:lnTo>
                  <a:pt x="0" y="619"/>
                </a:lnTo>
                <a:lnTo>
                  <a:pt x="219" y="619"/>
                </a:lnTo>
                <a:lnTo>
                  <a:pt x="219" y="619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0" name="Rectangle 10982"/>
          <p:cNvSpPr>
            <a:spLocks noChangeArrowheads="1"/>
          </p:cNvSpPr>
          <p:nvPr/>
        </p:nvSpPr>
        <p:spPr bwMode="auto">
          <a:xfrm>
            <a:off x="1503362" y="3775075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P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1" name="Rectangle 10983"/>
          <p:cNvSpPr>
            <a:spLocks noChangeArrowheads="1"/>
          </p:cNvSpPr>
          <p:nvPr/>
        </p:nvSpPr>
        <p:spPr bwMode="auto">
          <a:xfrm>
            <a:off x="1551622" y="3775075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C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2" name="Freeform 10984"/>
          <p:cNvSpPr>
            <a:spLocks/>
          </p:cNvSpPr>
          <p:nvPr/>
        </p:nvSpPr>
        <p:spPr bwMode="auto">
          <a:xfrm>
            <a:off x="1817687" y="3382010"/>
            <a:ext cx="474980" cy="876300"/>
          </a:xfrm>
          <a:custGeom>
            <a:avLst/>
            <a:gdLst>
              <a:gd name="T0" fmla="*/ 743 w 748"/>
              <a:gd name="T1" fmla="*/ 1376 h 1380"/>
              <a:gd name="T2" fmla="*/ 748 w 748"/>
              <a:gd name="T3" fmla="*/ 0 h 1380"/>
              <a:gd name="T4" fmla="*/ 0 w 748"/>
              <a:gd name="T5" fmla="*/ 0 h 1380"/>
              <a:gd name="T6" fmla="*/ 0 w 748"/>
              <a:gd name="T7" fmla="*/ 1380 h 1380"/>
              <a:gd name="T8" fmla="*/ 748 w 748"/>
              <a:gd name="T9" fmla="*/ 1380 h 1380"/>
              <a:gd name="T10" fmla="*/ 748 w 748"/>
              <a:gd name="T11" fmla="*/ 1380 h 1380"/>
              <a:gd name="T12" fmla="*/ 743 w 748"/>
              <a:gd name="T13" fmla="*/ 1376 h 1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8" h="1380">
                <a:moveTo>
                  <a:pt x="743" y="1376"/>
                </a:moveTo>
                <a:lnTo>
                  <a:pt x="748" y="0"/>
                </a:lnTo>
                <a:lnTo>
                  <a:pt x="0" y="0"/>
                </a:lnTo>
                <a:lnTo>
                  <a:pt x="0" y="1380"/>
                </a:lnTo>
                <a:lnTo>
                  <a:pt x="748" y="1380"/>
                </a:lnTo>
                <a:lnTo>
                  <a:pt x="748" y="1380"/>
                </a:lnTo>
                <a:lnTo>
                  <a:pt x="743" y="13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3" name="Freeform 10985"/>
          <p:cNvSpPr>
            <a:spLocks/>
          </p:cNvSpPr>
          <p:nvPr/>
        </p:nvSpPr>
        <p:spPr bwMode="auto">
          <a:xfrm>
            <a:off x="1817687" y="3382010"/>
            <a:ext cx="474980" cy="876300"/>
          </a:xfrm>
          <a:custGeom>
            <a:avLst/>
            <a:gdLst>
              <a:gd name="T0" fmla="*/ 743 w 748"/>
              <a:gd name="T1" fmla="*/ 1376 h 1380"/>
              <a:gd name="T2" fmla="*/ 748 w 748"/>
              <a:gd name="T3" fmla="*/ 0 h 1380"/>
              <a:gd name="T4" fmla="*/ 0 w 748"/>
              <a:gd name="T5" fmla="*/ 0 h 1380"/>
              <a:gd name="T6" fmla="*/ 0 w 748"/>
              <a:gd name="T7" fmla="*/ 1380 h 1380"/>
              <a:gd name="T8" fmla="*/ 748 w 748"/>
              <a:gd name="T9" fmla="*/ 1380 h 1380"/>
              <a:gd name="T10" fmla="*/ 748 w 748"/>
              <a:gd name="T11" fmla="*/ 1380 h 1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48" h="1380">
                <a:moveTo>
                  <a:pt x="743" y="1376"/>
                </a:moveTo>
                <a:lnTo>
                  <a:pt x="748" y="0"/>
                </a:lnTo>
                <a:lnTo>
                  <a:pt x="0" y="0"/>
                </a:lnTo>
                <a:lnTo>
                  <a:pt x="0" y="1380"/>
                </a:lnTo>
                <a:lnTo>
                  <a:pt x="748" y="1380"/>
                </a:lnTo>
                <a:lnTo>
                  <a:pt x="748" y="1380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" name="Rectangle 10986"/>
          <p:cNvSpPr>
            <a:spLocks noChangeArrowheads="1"/>
          </p:cNvSpPr>
          <p:nvPr/>
        </p:nvSpPr>
        <p:spPr bwMode="auto">
          <a:xfrm>
            <a:off x="1872297" y="350329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5" name="Rectangle 10987"/>
          <p:cNvSpPr>
            <a:spLocks noChangeArrowheads="1"/>
          </p:cNvSpPr>
          <p:nvPr/>
        </p:nvSpPr>
        <p:spPr bwMode="auto">
          <a:xfrm>
            <a:off x="1893252" y="35032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6" name="Rectangle 10988"/>
          <p:cNvSpPr>
            <a:spLocks noChangeArrowheads="1"/>
          </p:cNvSpPr>
          <p:nvPr/>
        </p:nvSpPr>
        <p:spPr bwMode="auto">
          <a:xfrm>
            <a:off x="1932622" y="350329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7" name="Rectangle 10989"/>
          <p:cNvSpPr>
            <a:spLocks noChangeArrowheads="1"/>
          </p:cNvSpPr>
          <p:nvPr/>
        </p:nvSpPr>
        <p:spPr bwMode="auto">
          <a:xfrm>
            <a:off x="1971992" y="350329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8" name="Rectangle 10990"/>
          <p:cNvSpPr>
            <a:spLocks noChangeArrowheads="1"/>
          </p:cNvSpPr>
          <p:nvPr/>
        </p:nvSpPr>
        <p:spPr bwMode="auto">
          <a:xfrm>
            <a:off x="1992947" y="3503295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9" name="Rectangle 10991"/>
          <p:cNvSpPr>
            <a:spLocks noChangeArrowheads="1"/>
          </p:cNvSpPr>
          <p:nvPr/>
        </p:nvSpPr>
        <p:spPr bwMode="auto">
          <a:xfrm>
            <a:off x="2017712" y="35032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0" name="Rectangle 10992"/>
          <p:cNvSpPr>
            <a:spLocks noChangeArrowheads="1"/>
          </p:cNvSpPr>
          <p:nvPr/>
        </p:nvSpPr>
        <p:spPr bwMode="auto">
          <a:xfrm>
            <a:off x="2056447" y="350329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c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1" name="Rectangle 10993"/>
          <p:cNvSpPr>
            <a:spLocks noChangeArrowheads="1"/>
          </p:cNvSpPr>
          <p:nvPr/>
        </p:nvSpPr>
        <p:spPr bwMode="auto">
          <a:xfrm>
            <a:off x="2095817" y="350329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2" name="Rectangle 10994"/>
          <p:cNvSpPr>
            <a:spLocks noChangeArrowheads="1"/>
          </p:cNvSpPr>
          <p:nvPr/>
        </p:nvSpPr>
        <p:spPr bwMode="auto">
          <a:xfrm>
            <a:off x="2117407" y="3503295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3" name="Rectangle 10995"/>
          <p:cNvSpPr>
            <a:spLocks noChangeArrowheads="1"/>
          </p:cNvSpPr>
          <p:nvPr/>
        </p:nvSpPr>
        <p:spPr bwMode="auto">
          <a:xfrm>
            <a:off x="2132012" y="35032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o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" name="Rectangle 10996"/>
          <p:cNvSpPr>
            <a:spLocks noChangeArrowheads="1"/>
          </p:cNvSpPr>
          <p:nvPr/>
        </p:nvSpPr>
        <p:spPr bwMode="auto">
          <a:xfrm>
            <a:off x="2174557" y="35032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" name="Rectangle 10997"/>
          <p:cNvSpPr>
            <a:spLocks noChangeArrowheads="1"/>
          </p:cNvSpPr>
          <p:nvPr/>
        </p:nvSpPr>
        <p:spPr bwMode="auto">
          <a:xfrm>
            <a:off x="2217102" y="350329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6" name="Rectangle 10998"/>
          <p:cNvSpPr>
            <a:spLocks noChangeArrowheads="1"/>
          </p:cNvSpPr>
          <p:nvPr/>
        </p:nvSpPr>
        <p:spPr bwMode="auto">
          <a:xfrm>
            <a:off x="1920557" y="358775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" name="Rectangle 10999"/>
          <p:cNvSpPr>
            <a:spLocks noChangeArrowheads="1"/>
          </p:cNvSpPr>
          <p:nvPr/>
        </p:nvSpPr>
        <p:spPr bwMode="auto">
          <a:xfrm>
            <a:off x="1984057" y="358775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" name="Rectangle 11000"/>
          <p:cNvSpPr>
            <a:spLocks noChangeArrowheads="1"/>
          </p:cNvSpPr>
          <p:nvPr/>
        </p:nvSpPr>
        <p:spPr bwMode="auto">
          <a:xfrm>
            <a:off x="2023427" y="358775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" name="Rectangle 11001"/>
          <p:cNvSpPr>
            <a:spLocks noChangeArrowheads="1"/>
          </p:cNvSpPr>
          <p:nvPr/>
        </p:nvSpPr>
        <p:spPr bwMode="auto">
          <a:xfrm>
            <a:off x="2086927" y="358775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o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" name="Rectangle 11002"/>
          <p:cNvSpPr>
            <a:spLocks noChangeArrowheads="1"/>
          </p:cNvSpPr>
          <p:nvPr/>
        </p:nvSpPr>
        <p:spPr bwMode="auto">
          <a:xfrm>
            <a:off x="2129472" y="358775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" name="Rectangle 11003"/>
          <p:cNvSpPr>
            <a:spLocks noChangeArrowheads="1"/>
          </p:cNvSpPr>
          <p:nvPr/>
        </p:nvSpPr>
        <p:spPr bwMode="auto">
          <a:xfrm>
            <a:off x="2153602" y="358775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y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" name="Freeform 11004"/>
          <p:cNvSpPr>
            <a:spLocks/>
          </p:cNvSpPr>
          <p:nvPr/>
        </p:nvSpPr>
        <p:spPr bwMode="auto">
          <a:xfrm>
            <a:off x="6400482" y="3352165"/>
            <a:ext cx="474980" cy="876300"/>
          </a:xfrm>
          <a:custGeom>
            <a:avLst/>
            <a:gdLst>
              <a:gd name="T0" fmla="*/ 748 w 748"/>
              <a:gd name="T1" fmla="*/ 1380 h 1380"/>
              <a:gd name="T2" fmla="*/ 748 w 748"/>
              <a:gd name="T3" fmla="*/ 0 h 1380"/>
              <a:gd name="T4" fmla="*/ 0 w 748"/>
              <a:gd name="T5" fmla="*/ 0 h 1380"/>
              <a:gd name="T6" fmla="*/ 0 w 748"/>
              <a:gd name="T7" fmla="*/ 1380 h 1380"/>
              <a:gd name="T8" fmla="*/ 748 w 748"/>
              <a:gd name="T9" fmla="*/ 1380 h 1380"/>
              <a:gd name="T10" fmla="*/ 748 w 748"/>
              <a:gd name="T11" fmla="*/ 1380 h 1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48" h="1380">
                <a:moveTo>
                  <a:pt x="748" y="1380"/>
                </a:moveTo>
                <a:lnTo>
                  <a:pt x="748" y="0"/>
                </a:lnTo>
                <a:lnTo>
                  <a:pt x="0" y="0"/>
                </a:lnTo>
                <a:lnTo>
                  <a:pt x="0" y="1380"/>
                </a:lnTo>
                <a:lnTo>
                  <a:pt x="748" y="1380"/>
                </a:lnTo>
                <a:lnTo>
                  <a:pt x="748" y="13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43" name="Freeform 11005"/>
          <p:cNvSpPr>
            <a:spLocks/>
          </p:cNvSpPr>
          <p:nvPr/>
        </p:nvSpPr>
        <p:spPr bwMode="auto">
          <a:xfrm>
            <a:off x="6400482" y="3352165"/>
            <a:ext cx="474980" cy="876300"/>
          </a:xfrm>
          <a:custGeom>
            <a:avLst/>
            <a:gdLst>
              <a:gd name="T0" fmla="*/ 748 w 748"/>
              <a:gd name="T1" fmla="*/ 1380 h 1380"/>
              <a:gd name="T2" fmla="*/ 748 w 748"/>
              <a:gd name="T3" fmla="*/ 0 h 1380"/>
              <a:gd name="T4" fmla="*/ 0 w 748"/>
              <a:gd name="T5" fmla="*/ 0 h 1380"/>
              <a:gd name="T6" fmla="*/ 0 w 748"/>
              <a:gd name="T7" fmla="*/ 1380 h 1380"/>
              <a:gd name="T8" fmla="*/ 748 w 748"/>
              <a:gd name="T9" fmla="*/ 1380 h 1380"/>
              <a:gd name="T10" fmla="*/ 748 w 748"/>
              <a:gd name="T11" fmla="*/ 1380 h 1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48" h="1380">
                <a:moveTo>
                  <a:pt x="748" y="1380"/>
                </a:moveTo>
                <a:lnTo>
                  <a:pt x="748" y="0"/>
                </a:lnTo>
                <a:lnTo>
                  <a:pt x="0" y="0"/>
                </a:lnTo>
                <a:lnTo>
                  <a:pt x="0" y="1380"/>
                </a:lnTo>
                <a:lnTo>
                  <a:pt x="748" y="1380"/>
                </a:lnTo>
                <a:lnTo>
                  <a:pt x="748" y="1380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44" name="Freeform 11006"/>
          <p:cNvSpPr>
            <a:spLocks/>
          </p:cNvSpPr>
          <p:nvPr/>
        </p:nvSpPr>
        <p:spPr bwMode="auto">
          <a:xfrm>
            <a:off x="3426142" y="4010660"/>
            <a:ext cx="39370" cy="36195"/>
          </a:xfrm>
          <a:custGeom>
            <a:avLst/>
            <a:gdLst>
              <a:gd name="T0" fmla="*/ 0 w 62"/>
              <a:gd name="T1" fmla="*/ 0 h 57"/>
              <a:gd name="T2" fmla="*/ 0 w 62"/>
              <a:gd name="T3" fmla="*/ 57 h 57"/>
              <a:gd name="T4" fmla="*/ 62 w 62"/>
              <a:gd name="T5" fmla="*/ 29 h 57"/>
              <a:gd name="T6" fmla="*/ 0 w 62"/>
              <a:gd name="T7" fmla="*/ 0 h 57"/>
              <a:gd name="T8" fmla="*/ 0 w 62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0" y="57"/>
                </a:lnTo>
                <a:lnTo>
                  <a:pt x="62" y="2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45" name="Freeform 11007"/>
          <p:cNvSpPr>
            <a:spLocks/>
          </p:cNvSpPr>
          <p:nvPr/>
        </p:nvSpPr>
        <p:spPr bwMode="auto">
          <a:xfrm>
            <a:off x="1702752" y="2880360"/>
            <a:ext cx="239395" cy="939800"/>
          </a:xfrm>
          <a:custGeom>
            <a:avLst/>
            <a:gdLst>
              <a:gd name="T0" fmla="*/ 377 w 377"/>
              <a:gd name="T1" fmla="*/ 0 h 1480"/>
              <a:gd name="T2" fmla="*/ 0 w 377"/>
              <a:gd name="T3" fmla="*/ 5 h 1480"/>
              <a:gd name="T4" fmla="*/ 0 w 377"/>
              <a:gd name="T5" fmla="*/ 1480 h 1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1480">
                <a:moveTo>
                  <a:pt x="377" y="0"/>
                </a:moveTo>
                <a:lnTo>
                  <a:pt x="0" y="5"/>
                </a:lnTo>
                <a:lnTo>
                  <a:pt x="0" y="148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46" name="Line 11008"/>
          <p:cNvCxnSpPr/>
          <p:nvPr/>
        </p:nvCxnSpPr>
        <p:spPr bwMode="auto">
          <a:xfrm flipH="1">
            <a:off x="1860232" y="3216275"/>
            <a:ext cx="81915" cy="2540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Freeform 11009"/>
          <p:cNvSpPr>
            <a:spLocks/>
          </p:cNvSpPr>
          <p:nvPr/>
        </p:nvSpPr>
        <p:spPr bwMode="auto">
          <a:xfrm>
            <a:off x="1968817" y="2768600"/>
            <a:ext cx="184785" cy="561975"/>
          </a:xfrm>
          <a:custGeom>
            <a:avLst/>
            <a:gdLst>
              <a:gd name="T0" fmla="*/ 0 w 291"/>
              <a:gd name="T1" fmla="*/ 0 h 885"/>
              <a:gd name="T2" fmla="*/ 5 w 291"/>
              <a:gd name="T3" fmla="*/ 357 h 885"/>
              <a:gd name="T4" fmla="*/ 96 w 291"/>
              <a:gd name="T5" fmla="*/ 443 h 885"/>
              <a:gd name="T6" fmla="*/ 5 w 291"/>
              <a:gd name="T7" fmla="*/ 528 h 885"/>
              <a:gd name="T8" fmla="*/ 5 w 291"/>
              <a:gd name="T9" fmla="*/ 885 h 885"/>
              <a:gd name="T10" fmla="*/ 291 w 291"/>
              <a:gd name="T11" fmla="*/ 614 h 885"/>
              <a:gd name="T12" fmla="*/ 291 w 291"/>
              <a:gd name="T13" fmla="*/ 271 h 885"/>
              <a:gd name="T14" fmla="*/ 5 w 291"/>
              <a:gd name="T15" fmla="*/ 0 h 885"/>
              <a:gd name="T16" fmla="*/ 5 w 291"/>
              <a:gd name="T17" fmla="*/ 0 h 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1" h="885">
                <a:moveTo>
                  <a:pt x="0" y="0"/>
                </a:moveTo>
                <a:lnTo>
                  <a:pt x="5" y="357"/>
                </a:lnTo>
                <a:lnTo>
                  <a:pt x="96" y="443"/>
                </a:lnTo>
                <a:lnTo>
                  <a:pt x="5" y="528"/>
                </a:lnTo>
                <a:lnTo>
                  <a:pt x="5" y="885"/>
                </a:lnTo>
                <a:lnTo>
                  <a:pt x="291" y="614"/>
                </a:lnTo>
                <a:lnTo>
                  <a:pt x="291" y="271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48" name="Freeform 11010"/>
          <p:cNvSpPr>
            <a:spLocks/>
          </p:cNvSpPr>
          <p:nvPr/>
        </p:nvSpPr>
        <p:spPr bwMode="auto">
          <a:xfrm>
            <a:off x="4940617" y="3926205"/>
            <a:ext cx="39370" cy="36195"/>
          </a:xfrm>
          <a:custGeom>
            <a:avLst/>
            <a:gdLst>
              <a:gd name="T0" fmla="*/ 0 w 62"/>
              <a:gd name="T1" fmla="*/ 0 h 57"/>
              <a:gd name="T2" fmla="*/ 5 w 62"/>
              <a:gd name="T3" fmla="*/ 57 h 57"/>
              <a:gd name="T4" fmla="*/ 62 w 62"/>
              <a:gd name="T5" fmla="*/ 28 h 57"/>
              <a:gd name="T6" fmla="*/ 5 w 62"/>
              <a:gd name="T7" fmla="*/ 0 h 57"/>
              <a:gd name="T8" fmla="*/ 5 w 62"/>
              <a:gd name="T9" fmla="*/ 0 h 57"/>
              <a:gd name="T10" fmla="*/ 0 w 62"/>
              <a:gd name="T11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5" y="57"/>
                </a:lnTo>
                <a:lnTo>
                  <a:pt x="62" y="28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49" name="Freeform 11011"/>
          <p:cNvSpPr>
            <a:spLocks/>
          </p:cNvSpPr>
          <p:nvPr/>
        </p:nvSpPr>
        <p:spPr bwMode="auto">
          <a:xfrm>
            <a:off x="5460682" y="4065270"/>
            <a:ext cx="39370" cy="36195"/>
          </a:xfrm>
          <a:custGeom>
            <a:avLst/>
            <a:gdLst>
              <a:gd name="T0" fmla="*/ 0 w 62"/>
              <a:gd name="T1" fmla="*/ 0 h 57"/>
              <a:gd name="T2" fmla="*/ 0 w 62"/>
              <a:gd name="T3" fmla="*/ 57 h 57"/>
              <a:gd name="T4" fmla="*/ 62 w 62"/>
              <a:gd name="T5" fmla="*/ 28 h 57"/>
              <a:gd name="T6" fmla="*/ 0 w 62"/>
              <a:gd name="T7" fmla="*/ 0 h 57"/>
              <a:gd name="T8" fmla="*/ 0 w 62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0" y="57"/>
                </a:lnTo>
                <a:lnTo>
                  <a:pt x="62" y="2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50" name="Line 11012"/>
          <p:cNvCxnSpPr/>
          <p:nvPr/>
        </p:nvCxnSpPr>
        <p:spPr bwMode="auto">
          <a:xfrm flipH="1">
            <a:off x="5439092" y="4083050"/>
            <a:ext cx="3683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Freeform 11013"/>
          <p:cNvSpPr>
            <a:spLocks/>
          </p:cNvSpPr>
          <p:nvPr/>
        </p:nvSpPr>
        <p:spPr bwMode="auto">
          <a:xfrm>
            <a:off x="7467917" y="3917315"/>
            <a:ext cx="39370" cy="38735"/>
          </a:xfrm>
          <a:custGeom>
            <a:avLst/>
            <a:gdLst>
              <a:gd name="T0" fmla="*/ 0 w 62"/>
              <a:gd name="T1" fmla="*/ 0 h 61"/>
              <a:gd name="T2" fmla="*/ 0 w 62"/>
              <a:gd name="T3" fmla="*/ 61 h 61"/>
              <a:gd name="T4" fmla="*/ 62 w 62"/>
              <a:gd name="T5" fmla="*/ 33 h 61"/>
              <a:gd name="T6" fmla="*/ 0 w 62"/>
              <a:gd name="T7" fmla="*/ 4 h 61"/>
              <a:gd name="T8" fmla="*/ 0 w 62"/>
              <a:gd name="T9" fmla="*/ 4 h 61"/>
              <a:gd name="T10" fmla="*/ 0 w 62"/>
              <a:gd name="T11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1">
                <a:moveTo>
                  <a:pt x="0" y="0"/>
                </a:moveTo>
                <a:lnTo>
                  <a:pt x="0" y="61"/>
                </a:lnTo>
                <a:lnTo>
                  <a:pt x="62" y="33"/>
                </a:lnTo>
                <a:lnTo>
                  <a:pt x="0" y="4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2" name="Freeform 11014"/>
          <p:cNvSpPr>
            <a:spLocks/>
          </p:cNvSpPr>
          <p:nvPr/>
        </p:nvSpPr>
        <p:spPr bwMode="auto">
          <a:xfrm>
            <a:off x="7467917" y="4050030"/>
            <a:ext cx="39370" cy="39370"/>
          </a:xfrm>
          <a:custGeom>
            <a:avLst/>
            <a:gdLst>
              <a:gd name="T0" fmla="*/ 0 w 62"/>
              <a:gd name="T1" fmla="*/ 0 h 62"/>
              <a:gd name="T2" fmla="*/ 0 w 62"/>
              <a:gd name="T3" fmla="*/ 62 h 62"/>
              <a:gd name="T4" fmla="*/ 62 w 62"/>
              <a:gd name="T5" fmla="*/ 28 h 62"/>
              <a:gd name="T6" fmla="*/ 0 w 62"/>
              <a:gd name="T7" fmla="*/ 0 h 62"/>
              <a:gd name="T8" fmla="*/ 0 w 62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0" y="62"/>
                </a:lnTo>
                <a:lnTo>
                  <a:pt x="62" y="2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3" name="Freeform 11015"/>
          <p:cNvSpPr>
            <a:spLocks/>
          </p:cNvSpPr>
          <p:nvPr/>
        </p:nvSpPr>
        <p:spPr bwMode="auto">
          <a:xfrm>
            <a:off x="1684972" y="3799205"/>
            <a:ext cx="39370" cy="39370"/>
          </a:xfrm>
          <a:custGeom>
            <a:avLst/>
            <a:gdLst>
              <a:gd name="T0" fmla="*/ 28 w 62"/>
              <a:gd name="T1" fmla="*/ 57 h 62"/>
              <a:gd name="T2" fmla="*/ 33 w 62"/>
              <a:gd name="T3" fmla="*/ 62 h 62"/>
              <a:gd name="T4" fmla="*/ 38 w 62"/>
              <a:gd name="T5" fmla="*/ 62 h 62"/>
              <a:gd name="T6" fmla="*/ 43 w 62"/>
              <a:gd name="T7" fmla="*/ 57 h 62"/>
              <a:gd name="T8" fmla="*/ 48 w 62"/>
              <a:gd name="T9" fmla="*/ 57 h 62"/>
              <a:gd name="T10" fmla="*/ 52 w 62"/>
              <a:gd name="T11" fmla="*/ 52 h 62"/>
              <a:gd name="T12" fmla="*/ 52 w 62"/>
              <a:gd name="T13" fmla="*/ 48 h 62"/>
              <a:gd name="T14" fmla="*/ 57 w 62"/>
              <a:gd name="T15" fmla="*/ 43 h 62"/>
              <a:gd name="T16" fmla="*/ 57 w 62"/>
              <a:gd name="T17" fmla="*/ 43 h 62"/>
              <a:gd name="T18" fmla="*/ 57 w 62"/>
              <a:gd name="T19" fmla="*/ 38 h 62"/>
              <a:gd name="T20" fmla="*/ 62 w 62"/>
              <a:gd name="T21" fmla="*/ 33 h 62"/>
              <a:gd name="T22" fmla="*/ 57 w 62"/>
              <a:gd name="T23" fmla="*/ 29 h 62"/>
              <a:gd name="T24" fmla="*/ 57 w 62"/>
              <a:gd name="T25" fmla="*/ 24 h 62"/>
              <a:gd name="T26" fmla="*/ 57 w 62"/>
              <a:gd name="T27" fmla="*/ 19 h 62"/>
              <a:gd name="T28" fmla="*/ 52 w 62"/>
              <a:gd name="T29" fmla="*/ 14 h 62"/>
              <a:gd name="T30" fmla="*/ 52 w 62"/>
              <a:gd name="T31" fmla="*/ 9 h 62"/>
              <a:gd name="T32" fmla="*/ 48 w 62"/>
              <a:gd name="T33" fmla="*/ 9 h 62"/>
              <a:gd name="T34" fmla="*/ 43 w 62"/>
              <a:gd name="T35" fmla="*/ 5 h 62"/>
              <a:gd name="T36" fmla="*/ 38 w 62"/>
              <a:gd name="T37" fmla="*/ 5 h 62"/>
              <a:gd name="T38" fmla="*/ 33 w 62"/>
              <a:gd name="T39" fmla="*/ 5 h 62"/>
              <a:gd name="T40" fmla="*/ 28 w 62"/>
              <a:gd name="T41" fmla="*/ 0 h 62"/>
              <a:gd name="T42" fmla="*/ 24 w 62"/>
              <a:gd name="T43" fmla="*/ 5 h 62"/>
              <a:gd name="T44" fmla="*/ 19 w 62"/>
              <a:gd name="T45" fmla="*/ 5 h 62"/>
              <a:gd name="T46" fmla="*/ 19 w 62"/>
              <a:gd name="T47" fmla="*/ 5 h 62"/>
              <a:gd name="T48" fmla="*/ 14 w 62"/>
              <a:gd name="T49" fmla="*/ 9 h 62"/>
              <a:gd name="T50" fmla="*/ 9 w 62"/>
              <a:gd name="T51" fmla="*/ 9 h 62"/>
              <a:gd name="T52" fmla="*/ 5 w 62"/>
              <a:gd name="T53" fmla="*/ 14 h 62"/>
              <a:gd name="T54" fmla="*/ 5 w 62"/>
              <a:gd name="T55" fmla="*/ 19 h 62"/>
              <a:gd name="T56" fmla="*/ 0 w 62"/>
              <a:gd name="T57" fmla="*/ 24 h 62"/>
              <a:gd name="T58" fmla="*/ 0 w 62"/>
              <a:gd name="T59" fmla="*/ 29 h 62"/>
              <a:gd name="T60" fmla="*/ 0 w 62"/>
              <a:gd name="T61" fmla="*/ 33 h 62"/>
              <a:gd name="T62" fmla="*/ 0 w 62"/>
              <a:gd name="T63" fmla="*/ 38 h 62"/>
              <a:gd name="T64" fmla="*/ 0 w 62"/>
              <a:gd name="T65" fmla="*/ 43 h 62"/>
              <a:gd name="T66" fmla="*/ 5 w 62"/>
              <a:gd name="T67" fmla="*/ 43 h 62"/>
              <a:gd name="T68" fmla="*/ 5 w 62"/>
              <a:gd name="T69" fmla="*/ 48 h 62"/>
              <a:gd name="T70" fmla="*/ 9 w 62"/>
              <a:gd name="T71" fmla="*/ 52 h 62"/>
              <a:gd name="T72" fmla="*/ 14 w 62"/>
              <a:gd name="T73" fmla="*/ 57 h 62"/>
              <a:gd name="T74" fmla="*/ 19 w 62"/>
              <a:gd name="T75" fmla="*/ 57 h 62"/>
              <a:gd name="T76" fmla="*/ 19 w 62"/>
              <a:gd name="T77" fmla="*/ 62 h 62"/>
              <a:gd name="T78" fmla="*/ 24 w 62"/>
              <a:gd name="T79" fmla="*/ 62 h 62"/>
              <a:gd name="T80" fmla="*/ 28 w 62"/>
              <a:gd name="T81" fmla="*/ 62 h 62"/>
              <a:gd name="T82" fmla="*/ 28 w 62"/>
              <a:gd name="T83" fmla="*/ 62 h 62"/>
              <a:gd name="T84" fmla="*/ 28 w 62"/>
              <a:gd name="T85" fmla="*/ 5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2" h="62">
                <a:moveTo>
                  <a:pt x="28" y="57"/>
                </a:moveTo>
                <a:lnTo>
                  <a:pt x="33" y="62"/>
                </a:lnTo>
                <a:lnTo>
                  <a:pt x="38" y="62"/>
                </a:lnTo>
                <a:lnTo>
                  <a:pt x="43" y="57"/>
                </a:lnTo>
                <a:lnTo>
                  <a:pt x="48" y="57"/>
                </a:lnTo>
                <a:lnTo>
                  <a:pt x="52" y="52"/>
                </a:lnTo>
                <a:lnTo>
                  <a:pt x="52" y="48"/>
                </a:lnTo>
                <a:lnTo>
                  <a:pt x="57" y="43"/>
                </a:lnTo>
                <a:lnTo>
                  <a:pt x="57" y="43"/>
                </a:lnTo>
                <a:lnTo>
                  <a:pt x="57" y="38"/>
                </a:lnTo>
                <a:lnTo>
                  <a:pt x="62" y="33"/>
                </a:lnTo>
                <a:lnTo>
                  <a:pt x="57" y="29"/>
                </a:lnTo>
                <a:lnTo>
                  <a:pt x="57" y="24"/>
                </a:lnTo>
                <a:lnTo>
                  <a:pt x="57" y="19"/>
                </a:lnTo>
                <a:lnTo>
                  <a:pt x="52" y="14"/>
                </a:lnTo>
                <a:lnTo>
                  <a:pt x="52" y="9"/>
                </a:lnTo>
                <a:lnTo>
                  <a:pt x="48" y="9"/>
                </a:lnTo>
                <a:lnTo>
                  <a:pt x="43" y="5"/>
                </a:lnTo>
                <a:lnTo>
                  <a:pt x="38" y="5"/>
                </a:lnTo>
                <a:lnTo>
                  <a:pt x="33" y="5"/>
                </a:lnTo>
                <a:lnTo>
                  <a:pt x="28" y="0"/>
                </a:lnTo>
                <a:lnTo>
                  <a:pt x="24" y="5"/>
                </a:lnTo>
                <a:lnTo>
                  <a:pt x="19" y="5"/>
                </a:lnTo>
                <a:lnTo>
                  <a:pt x="19" y="5"/>
                </a:lnTo>
                <a:lnTo>
                  <a:pt x="14" y="9"/>
                </a:lnTo>
                <a:lnTo>
                  <a:pt x="9" y="9"/>
                </a:lnTo>
                <a:lnTo>
                  <a:pt x="5" y="14"/>
                </a:lnTo>
                <a:lnTo>
                  <a:pt x="5" y="19"/>
                </a:lnTo>
                <a:lnTo>
                  <a:pt x="0" y="24"/>
                </a:lnTo>
                <a:lnTo>
                  <a:pt x="0" y="29"/>
                </a:lnTo>
                <a:lnTo>
                  <a:pt x="0" y="33"/>
                </a:lnTo>
                <a:lnTo>
                  <a:pt x="0" y="38"/>
                </a:lnTo>
                <a:lnTo>
                  <a:pt x="0" y="43"/>
                </a:lnTo>
                <a:lnTo>
                  <a:pt x="5" y="43"/>
                </a:lnTo>
                <a:lnTo>
                  <a:pt x="5" y="48"/>
                </a:lnTo>
                <a:lnTo>
                  <a:pt x="9" y="52"/>
                </a:lnTo>
                <a:lnTo>
                  <a:pt x="14" y="57"/>
                </a:lnTo>
                <a:lnTo>
                  <a:pt x="19" y="57"/>
                </a:lnTo>
                <a:lnTo>
                  <a:pt x="19" y="62"/>
                </a:lnTo>
                <a:lnTo>
                  <a:pt x="24" y="62"/>
                </a:lnTo>
                <a:lnTo>
                  <a:pt x="28" y="62"/>
                </a:lnTo>
                <a:lnTo>
                  <a:pt x="28" y="62"/>
                </a:lnTo>
                <a:lnTo>
                  <a:pt x="28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4" name="Freeform 11016"/>
          <p:cNvSpPr>
            <a:spLocks/>
          </p:cNvSpPr>
          <p:nvPr/>
        </p:nvSpPr>
        <p:spPr bwMode="auto">
          <a:xfrm>
            <a:off x="1926907" y="286258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3 h 62"/>
              <a:gd name="T6" fmla="*/ 5 w 62"/>
              <a:gd name="T7" fmla="*/ 4 h 62"/>
              <a:gd name="T8" fmla="*/ 5 w 62"/>
              <a:gd name="T9" fmla="*/ 4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3"/>
                </a:lnTo>
                <a:lnTo>
                  <a:pt x="5" y="4"/>
                </a:lnTo>
                <a:lnTo>
                  <a:pt x="5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5" name="Freeform 11017"/>
          <p:cNvSpPr>
            <a:spLocks/>
          </p:cNvSpPr>
          <p:nvPr/>
        </p:nvSpPr>
        <p:spPr bwMode="auto">
          <a:xfrm>
            <a:off x="1926907" y="319786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3 h 62"/>
              <a:gd name="T6" fmla="*/ 5 w 62"/>
              <a:gd name="T7" fmla="*/ 5 h 62"/>
              <a:gd name="T8" fmla="*/ 5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3"/>
                </a:lnTo>
                <a:lnTo>
                  <a:pt x="5" y="5"/>
                </a:lnTo>
                <a:lnTo>
                  <a:pt x="5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6" name="Rectangle 11018"/>
          <p:cNvSpPr>
            <a:spLocks noChangeArrowheads="1"/>
          </p:cNvSpPr>
          <p:nvPr/>
        </p:nvSpPr>
        <p:spPr bwMode="auto">
          <a:xfrm>
            <a:off x="1784667" y="3173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4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cxnSp>
        <p:nvCxnSpPr>
          <p:cNvPr id="57" name="Line 11019"/>
          <p:cNvCxnSpPr/>
          <p:nvPr/>
        </p:nvCxnSpPr>
        <p:spPr bwMode="auto">
          <a:xfrm>
            <a:off x="1618297" y="3817620"/>
            <a:ext cx="169545" cy="2540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Freeform 11020"/>
          <p:cNvSpPr>
            <a:spLocks/>
          </p:cNvSpPr>
          <p:nvPr/>
        </p:nvSpPr>
        <p:spPr bwMode="auto">
          <a:xfrm>
            <a:off x="1772602" y="3799205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3 h 62"/>
              <a:gd name="T6" fmla="*/ 5 w 62"/>
              <a:gd name="T7" fmla="*/ 5 h 62"/>
              <a:gd name="T8" fmla="*/ 5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3"/>
                </a:lnTo>
                <a:lnTo>
                  <a:pt x="5" y="5"/>
                </a:lnTo>
                <a:lnTo>
                  <a:pt x="5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9" name="Freeform 11021"/>
          <p:cNvSpPr>
            <a:spLocks/>
          </p:cNvSpPr>
          <p:nvPr/>
        </p:nvSpPr>
        <p:spPr bwMode="auto">
          <a:xfrm>
            <a:off x="1437322" y="3799205"/>
            <a:ext cx="38735" cy="39370"/>
          </a:xfrm>
          <a:custGeom>
            <a:avLst/>
            <a:gdLst>
              <a:gd name="T0" fmla="*/ 0 w 61"/>
              <a:gd name="T1" fmla="*/ 0 h 62"/>
              <a:gd name="T2" fmla="*/ 4 w 61"/>
              <a:gd name="T3" fmla="*/ 62 h 62"/>
              <a:gd name="T4" fmla="*/ 61 w 61"/>
              <a:gd name="T5" fmla="*/ 33 h 62"/>
              <a:gd name="T6" fmla="*/ 4 w 61"/>
              <a:gd name="T7" fmla="*/ 5 h 62"/>
              <a:gd name="T8" fmla="*/ 4 w 61"/>
              <a:gd name="T9" fmla="*/ 5 h 62"/>
              <a:gd name="T10" fmla="*/ 0 w 61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" h="62">
                <a:moveTo>
                  <a:pt x="0" y="0"/>
                </a:moveTo>
                <a:lnTo>
                  <a:pt x="4" y="62"/>
                </a:lnTo>
                <a:lnTo>
                  <a:pt x="61" y="33"/>
                </a:lnTo>
                <a:lnTo>
                  <a:pt x="4" y="5"/>
                </a:lnTo>
                <a:lnTo>
                  <a:pt x="4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60" name="Freeform 11022"/>
          <p:cNvSpPr>
            <a:spLocks/>
          </p:cNvSpPr>
          <p:nvPr/>
        </p:nvSpPr>
        <p:spPr bwMode="auto">
          <a:xfrm>
            <a:off x="7507287" y="3780790"/>
            <a:ext cx="139065" cy="417195"/>
          </a:xfrm>
          <a:custGeom>
            <a:avLst/>
            <a:gdLst>
              <a:gd name="T0" fmla="*/ 0 w 219"/>
              <a:gd name="T1" fmla="*/ 105 h 657"/>
              <a:gd name="T2" fmla="*/ 4 w 219"/>
              <a:gd name="T3" fmla="*/ 91 h 657"/>
              <a:gd name="T4" fmla="*/ 4 w 219"/>
              <a:gd name="T5" fmla="*/ 77 h 657"/>
              <a:gd name="T6" fmla="*/ 14 w 219"/>
              <a:gd name="T7" fmla="*/ 58 h 657"/>
              <a:gd name="T8" fmla="*/ 23 w 219"/>
              <a:gd name="T9" fmla="*/ 43 h 657"/>
              <a:gd name="T10" fmla="*/ 33 w 219"/>
              <a:gd name="T11" fmla="*/ 34 h 657"/>
              <a:gd name="T12" fmla="*/ 47 w 219"/>
              <a:gd name="T13" fmla="*/ 19 h 657"/>
              <a:gd name="T14" fmla="*/ 62 w 219"/>
              <a:gd name="T15" fmla="*/ 10 h 657"/>
              <a:gd name="T16" fmla="*/ 76 w 219"/>
              <a:gd name="T17" fmla="*/ 5 h 657"/>
              <a:gd name="T18" fmla="*/ 90 w 219"/>
              <a:gd name="T19" fmla="*/ 0 h 657"/>
              <a:gd name="T20" fmla="*/ 109 w 219"/>
              <a:gd name="T21" fmla="*/ 0 h 657"/>
              <a:gd name="T22" fmla="*/ 128 w 219"/>
              <a:gd name="T23" fmla="*/ 0 h 657"/>
              <a:gd name="T24" fmla="*/ 147 w 219"/>
              <a:gd name="T25" fmla="*/ 5 h 657"/>
              <a:gd name="T26" fmla="*/ 161 w 219"/>
              <a:gd name="T27" fmla="*/ 10 h 657"/>
              <a:gd name="T28" fmla="*/ 176 w 219"/>
              <a:gd name="T29" fmla="*/ 19 h 657"/>
              <a:gd name="T30" fmla="*/ 190 w 219"/>
              <a:gd name="T31" fmla="*/ 34 h 657"/>
              <a:gd name="T32" fmla="*/ 200 w 219"/>
              <a:gd name="T33" fmla="*/ 43 h 657"/>
              <a:gd name="T34" fmla="*/ 209 w 219"/>
              <a:gd name="T35" fmla="*/ 58 h 657"/>
              <a:gd name="T36" fmla="*/ 214 w 219"/>
              <a:gd name="T37" fmla="*/ 77 h 657"/>
              <a:gd name="T38" fmla="*/ 219 w 219"/>
              <a:gd name="T39" fmla="*/ 91 h 657"/>
              <a:gd name="T40" fmla="*/ 219 w 219"/>
              <a:gd name="T41" fmla="*/ 110 h 657"/>
              <a:gd name="T42" fmla="*/ 219 w 219"/>
              <a:gd name="T43" fmla="*/ 548 h 657"/>
              <a:gd name="T44" fmla="*/ 219 w 219"/>
              <a:gd name="T45" fmla="*/ 567 h 657"/>
              <a:gd name="T46" fmla="*/ 214 w 219"/>
              <a:gd name="T47" fmla="*/ 581 h 657"/>
              <a:gd name="T48" fmla="*/ 209 w 219"/>
              <a:gd name="T49" fmla="*/ 600 h 657"/>
              <a:gd name="T50" fmla="*/ 200 w 219"/>
              <a:gd name="T51" fmla="*/ 614 h 657"/>
              <a:gd name="T52" fmla="*/ 190 w 219"/>
              <a:gd name="T53" fmla="*/ 624 h 657"/>
              <a:gd name="T54" fmla="*/ 176 w 219"/>
              <a:gd name="T55" fmla="*/ 638 h 657"/>
              <a:gd name="T56" fmla="*/ 161 w 219"/>
              <a:gd name="T57" fmla="*/ 648 h 657"/>
              <a:gd name="T58" fmla="*/ 147 w 219"/>
              <a:gd name="T59" fmla="*/ 652 h 657"/>
              <a:gd name="T60" fmla="*/ 128 w 219"/>
              <a:gd name="T61" fmla="*/ 657 h 657"/>
              <a:gd name="T62" fmla="*/ 109 w 219"/>
              <a:gd name="T63" fmla="*/ 657 h 657"/>
              <a:gd name="T64" fmla="*/ 90 w 219"/>
              <a:gd name="T65" fmla="*/ 657 h 657"/>
              <a:gd name="T66" fmla="*/ 76 w 219"/>
              <a:gd name="T67" fmla="*/ 652 h 657"/>
              <a:gd name="T68" fmla="*/ 62 w 219"/>
              <a:gd name="T69" fmla="*/ 648 h 657"/>
              <a:gd name="T70" fmla="*/ 47 w 219"/>
              <a:gd name="T71" fmla="*/ 638 h 657"/>
              <a:gd name="T72" fmla="*/ 33 w 219"/>
              <a:gd name="T73" fmla="*/ 624 h 657"/>
              <a:gd name="T74" fmla="*/ 23 w 219"/>
              <a:gd name="T75" fmla="*/ 614 h 657"/>
              <a:gd name="T76" fmla="*/ 14 w 219"/>
              <a:gd name="T77" fmla="*/ 600 h 657"/>
              <a:gd name="T78" fmla="*/ 4 w 219"/>
              <a:gd name="T79" fmla="*/ 581 h 657"/>
              <a:gd name="T80" fmla="*/ 4 w 219"/>
              <a:gd name="T81" fmla="*/ 567 h 657"/>
              <a:gd name="T82" fmla="*/ 0 w 219"/>
              <a:gd name="T83" fmla="*/ 548 h 657"/>
              <a:gd name="T84" fmla="*/ 0 w 219"/>
              <a:gd name="T85" fmla="*/ 110 h 657"/>
              <a:gd name="T86" fmla="*/ 0 w 219"/>
              <a:gd name="T87" fmla="*/ 110 h 657"/>
              <a:gd name="T88" fmla="*/ 0 w 219"/>
              <a:gd name="T89" fmla="*/ 105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9" h="657">
                <a:moveTo>
                  <a:pt x="0" y="105"/>
                </a:moveTo>
                <a:lnTo>
                  <a:pt x="4" y="91"/>
                </a:lnTo>
                <a:lnTo>
                  <a:pt x="4" y="77"/>
                </a:lnTo>
                <a:lnTo>
                  <a:pt x="14" y="58"/>
                </a:lnTo>
                <a:lnTo>
                  <a:pt x="23" y="43"/>
                </a:lnTo>
                <a:lnTo>
                  <a:pt x="33" y="34"/>
                </a:lnTo>
                <a:lnTo>
                  <a:pt x="47" y="19"/>
                </a:lnTo>
                <a:lnTo>
                  <a:pt x="62" y="10"/>
                </a:lnTo>
                <a:lnTo>
                  <a:pt x="76" y="5"/>
                </a:lnTo>
                <a:lnTo>
                  <a:pt x="90" y="0"/>
                </a:lnTo>
                <a:lnTo>
                  <a:pt x="109" y="0"/>
                </a:lnTo>
                <a:lnTo>
                  <a:pt x="128" y="0"/>
                </a:lnTo>
                <a:lnTo>
                  <a:pt x="147" y="5"/>
                </a:lnTo>
                <a:lnTo>
                  <a:pt x="161" y="10"/>
                </a:lnTo>
                <a:lnTo>
                  <a:pt x="176" y="19"/>
                </a:lnTo>
                <a:lnTo>
                  <a:pt x="190" y="34"/>
                </a:lnTo>
                <a:lnTo>
                  <a:pt x="200" y="43"/>
                </a:lnTo>
                <a:lnTo>
                  <a:pt x="209" y="58"/>
                </a:lnTo>
                <a:lnTo>
                  <a:pt x="214" y="77"/>
                </a:lnTo>
                <a:lnTo>
                  <a:pt x="219" y="91"/>
                </a:lnTo>
                <a:lnTo>
                  <a:pt x="219" y="110"/>
                </a:lnTo>
                <a:lnTo>
                  <a:pt x="219" y="548"/>
                </a:lnTo>
                <a:lnTo>
                  <a:pt x="219" y="567"/>
                </a:lnTo>
                <a:lnTo>
                  <a:pt x="214" y="581"/>
                </a:lnTo>
                <a:lnTo>
                  <a:pt x="209" y="600"/>
                </a:lnTo>
                <a:lnTo>
                  <a:pt x="200" y="614"/>
                </a:lnTo>
                <a:lnTo>
                  <a:pt x="190" y="624"/>
                </a:lnTo>
                <a:lnTo>
                  <a:pt x="176" y="638"/>
                </a:lnTo>
                <a:lnTo>
                  <a:pt x="161" y="648"/>
                </a:lnTo>
                <a:lnTo>
                  <a:pt x="147" y="652"/>
                </a:lnTo>
                <a:lnTo>
                  <a:pt x="128" y="657"/>
                </a:lnTo>
                <a:lnTo>
                  <a:pt x="109" y="657"/>
                </a:lnTo>
                <a:lnTo>
                  <a:pt x="90" y="657"/>
                </a:lnTo>
                <a:lnTo>
                  <a:pt x="76" y="652"/>
                </a:lnTo>
                <a:lnTo>
                  <a:pt x="62" y="648"/>
                </a:lnTo>
                <a:lnTo>
                  <a:pt x="47" y="638"/>
                </a:lnTo>
                <a:lnTo>
                  <a:pt x="33" y="624"/>
                </a:lnTo>
                <a:lnTo>
                  <a:pt x="23" y="614"/>
                </a:lnTo>
                <a:lnTo>
                  <a:pt x="14" y="600"/>
                </a:lnTo>
                <a:lnTo>
                  <a:pt x="4" y="581"/>
                </a:lnTo>
                <a:lnTo>
                  <a:pt x="4" y="567"/>
                </a:lnTo>
                <a:lnTo>
                  <a:pt x="0" y="548"/>
                </a:lnTo>
                <a:lnTo>
                  <a:pt x="0" y="110"/>
                </a:lnTo>
                <a:lnTo>
                  <a:pt x="0" y="110"/>
                </a:lnTo>
                <a:lnTo>
                  <a:pt x="0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61" name="Freeform 11023"/>
          <p:cNvSpPr>
            <a:spLocks/>
          </p:cNvSpPr>
          <p:nvPr/>
        </p:nvSpPr>
        <p:spPr bwMode="auto">
          <a:xfrm>
            <a:off x="7507287" y="3780790"/>
            <a:ext cx="139065" cy="417195"/>
          </a:xfrm>
          <a:custGeom>
            <a:avLst/>
            <a:gdLst>
              <a:gd name="T0" fmla="*/ 0 w 219"/>
              <a:gd name="T1" fmla="*/ 105 h 657"/>
              <a:gd name="T2" fmla="*/ 4 w 219"/>
              <a:gd name="T3" fmla="*/ 91 h 657"/>
              <a:gd name="T4" fmla="*/ 4 w 219"/>
              <a:gd name="T5" fmla="*/ 77 h 657"/>
              <a:gd name="T6" fmla="*/ 14 w 219"/>
              <a:gd name="T7" fmla="*/ 58 h 657"/>
              <a:gd name="T8" fmla="*/ 23 w 219"/>
              <a:gd name="T9" fmla="*/ 43 h 657"/>
              <a:gd name="T10" fmla="*/ 33 w 219"/>
              <a:gd name="T11" fmla="*/ 34 h 657"/>
              <a:gd name="T12" fmla="*/ 47 w 219"/>
              <a:gd name="T13" fmla="*/ 19 h 657"/>
              <a:gd name="T14" fmla="*/ 62 w 219"/>
              <a:gd name="T15" fmla="*/ 10 h 657"/>
              <a:gd name="T16" fmla="*/ 76 w 219"/>
              <a:gd name="T17" fmla="*/ 5 h 657"/>
              <a:gd name="T18" fmla="*/ 90 w 219"/>
              <a:gd name="T19" fmla="*/ 0 h 657"/>
              <a:gd name="T20" fmla="*/ 109 w 219"/>
              <a:gd name="T21" fmla="*/ 0 h 657"/>
              <a:gd name="T22" fmla="*/ 128 w 219"/>
              <a:gd name="T23" fmla="*/ 0 h 657"/>
              <a:gd name="T24" fmla="*/ 147 w 219"/>
              <a:gd name="T25" fmla="*/ 5 h 657"/>
              <a:gd name="T26" fmla="*/ 161 w 219"/>
              <a:gd name="T27" fmla="*/ 10 h 657"/>
              <a:gd name="T28" fmla="*/ 176 w 219"/>
              <a:gd name="T29" fmla="*/ 19 h 657"/>
              <a:gd name="T30" fmla="*/ 190 w 219"/>
              <a:gd name="T31" fmla="*/ 34 h 657"/>
              <a:gd name="T32" fmla="*/ 200 w 219"/>
              <a:gd name="T33" fmla="*/ 43 h 657"/>
              <a:gd name="T34" fmla="*/ 209 w 219"/>
              <a:gd name="T35" fmla="*/ 58 h 657"/>
              <a:gd name="T36" fmla="*/ 214 w 219"/>
              <a:gd name="T37" fmla="*/ 77 h 657"/>
              <a:gd name="T38" fmla="*/ 219 w 219"/>
              <a:gd name="T39" fmla="*/ 91 h 657"/>
              <a:gd name="T40" fmla="*/ 219 w 219"/>
              <a:gd name="T41" fmla="*/ 110 h 657"/>
              <a:gd name="T42" fmla="*/ 219 w 219"/>
              <a:gd name="T43" fmla="*/ 548 h 657"/>
              <a:gd name="T44" fmla="*/ 219 w 219"/>
              <a:gd name="T45" fmla="*/ 567 h 657"/>
              <a:gd name="T46" fmla="*/ 214 w 219"/>
              <a:gd name="T47" fmla="*/ 581 h 657"/>
              <a:gd name="T48" fmla="*/ 209 w 219"/>
              <a:gd name="T49" fmla="*/ 600 h 657"/>
              <a:gd name="T50" fmla="*/ 200 w 219"/>
              <a:gd name="T51" fmla="*/ 614 h 657"/>
              <a:gd name="T52" fmla="*/ 190 w 219"/>
              <a:gd name="T53" fmla="*/ 624 h 657"/>
              <a:gd name="T54" fmla="*/ 176 w 219"/>
              <a:gd name="T55" fmla="*/ 638 h 657"/>
              <a:gd name="T56" fmla="*/ 161 w 219"/>
              <a:gd name="T57" fmla="*/ 648 h 657"/>
              <a:gd name="T58" fmla="*/ 147 w 219"/>
              <a:gd name="T59" fmla="*/ 652 h 657"/>
              <a:gd name="T60" fmla="*/ 128 w 219"/>
              <a:gd name="T61" fmla="*/ 657 h 657"/>
              <a:gd name="T62" fmla="*/ 109 w 219"/>
              <a:gd name="T63" fmla="*/ 657 h 657"/>
              <a:gd name="T64" fmla="*/ 90 w 219"/>
              <a:gd name="T65" fmla="*/ 657 h 657"/>
              <a:gd name="T66" fmla="*/ 76 w 219"/>
              <a:gd name="T67" fmla="*/ 652 h 657"/>
              <a:gd name="T68" fmla="*/ 62 w 219"/>
              <a:gd name="T69" fmla="*/ 648 h 657"/>
              <a:gd name="T70" fmla="*/ 47 w 219"/>
              <a:gd name="T71" fmla="*/ 638 h 657"/>
              <a:gd name="T72" fmla="*/ 33 w 219"/>
              <a:gd name="T73" fmla="*/ 624 h 657"/>
              <a:gd name="T74" fmla="*/ 23 w 219"/>
              <a:gd name="T75" fmla="*/ 614 h 657"/>
              <a:gd name="T76" fmla="*/ 14 w 219"/>
              <a:gd name="T77" fmla="*/ 600 h 657"/>
              <a:gd name="T78" fmla="*/ 4 w 219"/>
              <a:gd name="T79" fmla="*/ 581 h 657"/>
              <a:gd name="T80" fmla="*/ 4 w 219"/>
              <a:gd name="T81" fmla="*/ 567 h 657"/>
              <a:gd name="T82" fmla="*/ 0 w 219"/>
              <a:gd name="T83" fmla="*/ 548 h 657"/>
              <a:gd name="T84" fmla="*/ 0 w 219"/>
              <a:gd name="T85" fmla="*/ 110 h 657"/>
              <a:gd name="T86" fmla="*/ 0 w 219"/>
              <a:gd name="T87" fmla="*/ 110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9" h="657">
                <a:moveTo>
                  <a:pt x="0" y="105"/>
                </a:moveTo>
                <a:lnTo>
                  <a:pt x="4" y="91"/>
                </a:lnTo>
                <a:lnTo>
                  <a:pt x="4" y="77"/>
                </a:lnTo>
                <a:lnTo>
                  <a:pt x="14" y="58"/>
                </a:lnTo>
                <a:lnTo>
                  <a:pt x="23" y="43"/>
                </a:lnTo>
                <a:lnTo>
                  <a:pt x="33" y="34"/>
                </a:lnTo>
                <a:lnTo>
                  <a:pt x="47" y="19"/>
                </a:lnTo>
                <a:lnTo>
                  <a:pt x="62" y="10"/>
                </a:lnTo>
                <a:lnTo>
                  <a:pt x="76" y="5"/>
                </a:lnTo>
                <a:lnTo>
                  <a:pt x="90" y="0"/>
                </a:lnTo>
                <a:lnTo>
                  <a:pt x="109" y="0"/>
                </a:lnTo>
                <a:lnTo>
                  <a:pt x="128" y="0"/>
                </a:lnTo>
                <a:lnTo>
                  <a:pt x="147" y="5"/>
                </a:lnTo>
                <a:lnTo>
                  <a:pt x="161" y="10"/>
                </a:lnTo>
                <a:lnTo>
                  <a:pt x="176" y="19"/>
                </a:lnTo>
                <a:lnTo>
                  <a:pt x="190" y="34"/>
                </a:lnTo>
                <a:lnTo>
                  <a:pt x="200" y="43"/>
                </a:lnTo>
                <a:lnTo>
                  <a:pt x="209" y="58"/>
                </a:lnTo>
                <a:lnTo>
                  <a:pt x="214" y="77"/>
                </a:lnTo>
                <a:lnTo>
                  <a:pt x="219" y="91"/>
                </a:lnTo>
                <a:lnTo>
                  <a:pt x="219" y="110"/>
                </a:lnTo>
                <a:lnTo>
                  <a:pt x="219" y="548"/>
                </a:lnTo>
                <a:lnTo>
                  <a:pt x="219" y="567"/>
                </a:lnTo>
                <a:lnTo>
                  <a:pt x="214" y="581"/>
                </a:lnTo>
                <a:lnTo>
                  <a:pt x="209" y="600"/>
                </a:lnTo>
                <a:lnTo>
                  <a:pt x="200" y="614"/>
                </a:lnTo>
                <a:lnTo>
                  <a:pt x="190" y="624"/>
                </a:lnTo>
                <a:lnTo>
                  <a:pt x="176" y="638"/>
                </a:lnTo>
                <a:lnTo>
                  <a:pt x="161" y="648"/>
                </a:lnTo>
                <a:lnTo>
                  <a:pt x="147" y="652"/>
                </a:lnTo>
                <a:lnTo>
                  <a:pt x="128" y="657"/>
                </a:lnTo>
                <a:lnTo>
                  <a:pt x="109" y="657"/>
                </a:lnTo>
                <a:lnTo>
                  <a:pt x="90" y="657"/>
                </a:lnTo>
                <a:lnTo>
                  <a:pt x="76" y="652"/>
                </a:lnTo>
                <a:lnTo>
                  <a:pt x="62" y="648"/>
                </a:lnTo>
                <a:lnTo>
                  <a:pt x="47" y="638"/>
                </a:lnTo>
                <a:lnTo>
                  <a:pt x="33" y="624"/>
                </a:lnTo>
                <a:lnTo>
                  <a:pt x="23" y="614"/>
                </a:lnTo>
                <a:lnTo>
                  <a:pt x="14" y="600"/>
                </a:lnTo>
                <a:lnTo>
                  <a:pt x="4" y="581"/>
                </a:lnTo>
                <a:lnTo>
                  <a:pt x="4" y="567"/>
                </a:lnTo>
                <a:lnTo>
                  <a:pt x="0" y="548"/>
                </a:lnTo>
                <a:lnTo>
                  <a:pt x="0" y="110"/>
                </a:lnTo>
                <a:lnTo>
                  <a:pt x="0" y="110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62" name="Freeform 11024"/>
          <p:cNvSpPr>
            <a:spLocks/>
          </p:cNvSpPr>
          <p:nvPr/>
        </p:nvSpPr>
        <p:spPr bwMode="auto">
          <a:xfrm>
            <a:off x="4985702" y="3874770"/>
            <a:ext cx="139065" cy="419735"/>
          </a:xfrm>
          <a:custGeom>
            <a:avLst/>
            <a:gdLst>
              <a:gd name="T0" fmla="*/ 0 w 219"/>
              <a:gd name="T1" fmla="*/ 109 h 661"/>
              <a:gd name="T2" fmla="*/ 0 w 219"/>
              <a:gd name="T3" fmla="*/ 90 h 661"/>
              <a:gd name="T4" fmla="*/ 5 w 219"/>
              <a:gd name="T5" fmla="*/ 76 h 661"/>
              <a:gd name="T6" fmla="*/ 15 w 219"/>
              <a:gd name="T7" fmla="*/ 62 h 661"/>
              <a:gd name="T8" fmla="*/ 19 w 219"/>
              <a:gd name="T9" fmla="*/ 48 h 661"/>
              <a:gd name="T10" fmla="*/ 34 w 219"/>
              <a:gd name="T11" fmla="*/ 33 h 661"/>
              <a:gd name="T12" fmla="*/ 43 w 219"/>
              <a:gd name="T13" fmla="*/ 24 h 661"/>
              <a:gd name="T14" fmla="*/ 58 w 219"/>
              <a:gd name="T15" fmla="*/ 14 h 661"/>
              <a:gd name="T16" fmla="*/ 77 w 219"/>
              <a:gd name="T17" fmla="*/ 5 h 661"/>
              <a:gd name="T18" fmla="*/ 91 w 219"/>
              <a:gd name="T19" fmla="*/ 0 h 661"/>
              <a:gd name="T20" fmla="*/ 110 w 219"/>
              <a:gd name="T21" fmla="*/ 0 h 661"/>
              <a:gd name="T22" fmla="*/ 129 w 219"/>
              <a:gd name="T23" fmla="*/ 0 h 661"/>
              <a:gd name="T24" fmla="*/ 143 w 219"/>
              <a:gd name="T25" fmla="*/ 5 h 661"/>
              <a:gd name="T26" fmla="*/ 162 w 219"/>
              <a:gd name="T27" fmla="*/ 14 h 661"/>
              <a:gd name="T28" fmla="*/ 177 w 219"/>
              <a:gd name="T29" fmla="*/ 24 h 661"/>
              <a:gd name="T30" fmla="*/ 186 w 219"/>
              <a:gd name="T31" fmla="*/ 33 h 661"/>
              <a:gd name="T32" fmla="*/ 200 w 219"/>
              <a:gd name="T33" fmla="*/ 48 h 661"/>
              <a:gd name="T34" fmla="*/ 205 w 219"/>
              <a:gd name="T35" fmla="*/ 62 h 661"/>
              <a:gd name="T36" fmla="*/ 215 w 219"/>
              <a:gd name="T37" fmla="*/ 76 h 661"/>
              <a:gd name="T38" fmla="*/ 219 w 219"/>
              <a:gd name="T39" fmla="*/ 90 h 661"/>
              <a:gd name="T40" fmla="*/ 219 w 219"/>
              <a:gd name="T41" fmla="*/ 109 h 661"/>
              <a:gd name="T42" fmla="*/ 219 w 219"/>
              <a:gd name="T43" fmla="*/ 547 h 661"/>
              <a:gd name="T44" fmla="*/ 219 w 219"/>
              <a:gd name="T45" fmla="*/ 566 h 661"/>
              <a:gd name="T46" fmla="*/ 215 w 219"/>
              <a:gd name="T47" fmla="*/ 585 h 661"/>
              <a:gd name="T48" fmla="*/ 205 w 219"/>
              <a:gd name="T49" fmla="*/ 600 h 661"/>
              <a:gd name="T50" fmla="*/ 200 w 219"/>
              <a:gd name="T51" fmla="*/ 614 h 661"/>
              <a:gd name="T52" fmla="*/ 186 w 219"/>
              <a:gd name="T53" fmla="*/ 628 h 661"/>
              <a:gd name="T54" fmla="*/ 177 w 219"/>
              <a:gd name="T55" fmla="*/ 638 h 661"/>
              <a:gd name="T56" fmla="*/ 162 w 219"/>
              <a:gd name="T57" fmla="*/ 647 h 661"/>
              <a:gd name="T58" fmla="*/ 143 w 219"/>
              <a:gd name="T59" fmla="*/ 652 h 661"/>
              <a:gd name="T60" fmla="*/ 129 w 219"/>
              <a:gd name="T61" fmla="*/ 657 h 661"/>
              <a:gd name="T62" fmla="*/ 110 w 219"/>
              <a:gd name="T63" fmla="*/ 661 h 661"/>
              <a:gd name="T64" fmla="*/ 91 w 219"/>
              <a:gd name="T65" fmla="*/ 657 h 661"/>
              <a:gd name="T66" fmla="*/ 77 w 219"/>
              <a:gd name="T67" fmla="*/ 652 h 661"/>
              <a:gd name="T68" fmla="*/ 58 w 219"/>
              <a:gd name="T69" fmla="*/ 647 h 661"/>
              <a:gd name="T70" fmla="*/ 43 w 219"/>
              <a:gd name="T71" fmla="*/ 638 h 661"/>
              <a:gd name="T72" fmla="*/ 34 w 219"/>
              <a:gd name="T73" fmla="*/ 628 h 661"/>
              <a:gd name="T74" fmla="*/ 19 w 219"/>
              <a:gd name="T75" fmla="*/ 614 h 661"/>
              <a:gd name="T76" fmla="*/ 15 w 219"/>
              <a:gd name="T77" fmla="*/ 600 h 661"/>
              <a:gd name="T78" fmla="*/ 5 w 219"/>
              <a:gd name="T79" fmla="*/ 585 h 661"/>
              <a:gd name="T80" fmla="*/ 0 w 219"/>
              <a:gd name="T81" fmla="*/ 566 h 661"/>
              <a:gd name="T82" fmla="*/ 0 w 219"/>
              <a:gd name="T83" fmla="*/ 547 h 661"/>
              <a:gd name="T84" fmla="*/ 0 w 219"/>
              <a:gd name="T85" fmla="*/ 109 h 661"/>
              <a:gd name="T86" fmla="*/ 0 w 219"/>
              <a:gd name="T87" fmla="*/ 109 h 6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9" h="661">
                <a:moveTo>
                  <a:pt x="0" y="109"/>
                </a:moveTo>
                <a:lnTo>
                  <a:pt x="0" y="90"/>
                </a:lnTo>
                <a:lnTo>
                  <a:pt x="5" y="76"/>
                </a:lnTo>
                <a:lnTo>
                  <a:pt x="15" y="62"/>
                </a:lnTo>
                <a:lnTo>
                  <a:pt x="19" y="48"/>
                </a:lnTo>
                <a:lnTo>
                  <a:pt x="34" y="33"/>
                </a:lnTo>
                <a:lnTo>
                  <a:pt x="43" y="24"/>
                </a:lnTo>
                <a:lnTo>
                  <a:pt x="58" y="14"/>
                </a:lnTo>
                <a:lnTo>
                  <a:pt x="77" y="5"/>
                </a:lnTo>
                <a:lnTo>
                  <a:pt x="91" y="0"/>
                </a:lnTo>
                <a:lnTo>
                  <a:pt x="110" y="0"/>
                </a:lnTo>
                <a:lnTo>
                  <a:pt x="129" y="0"/>
                </a:lnTo>
                <a:lnTo>
                  <a:pt x="143" y="5"/>
                </a:lnTo>
                <a:lnTo>
                  <a:pt x="162" y="14"/>
                </a:lnTo>
                <a:lnTo>
                  <a:pt x="177" y="24"/>
                </a:lnTo>
                <a:lnTo>
                  <a:pt x="186" y="33"/>
                </a:lnTo>
                <a:lnTo>
                  <a:pt x="200" y="48"/>
                </a:lnTo>
                <a:lnTo>
                  <a:pt x="205" y="62"/>
                </a:lnTo>
                <a:lnTo>
                  <a:pt x="215" y="76"/>
                </a:lnTo>
                <a:lnTo>
                  <a:pt x="219" y="90"/>
                </a:lnTo>
                <a:lnTo>
                  <a:pt x="219" y="109"/>
                </a:lnTo>
                <a:lnTo>
                  <a:pt x="219" y="547"/>
                </a:lnTo>
                <a:lnTo>
                  <a:pt x="219" y="566"/>
                </a:lnTo>
                <a:lnTo>
                  <a:pt x="215" y="585"/>
                </a:lnTo>
                <a:lnTo>
                  <a:pt x="205" y="600"/>
                </a:lnTo>
                <a:lnTo>
                  <a:pt x="200" y="614"/>
                </a:lnTo>
                <a:lnTo>
                  <a:pt x="186" y="628"/>
                </a:lnTo>
                <a:lnTo>
                  <a:pt x="177" y="638"/>
                </a:lnTo>
                <a:lnTo>
                  <a:pt x="162" y="647"/>
                </a:lnTo>
                <a:lnTo>
                  <a:pt x="143" y="652"/>
                </a:lnTo>
                <a:lnTo>
                  <a:pt x="129" y="657"/>
                </a:lnTo>
                <a:lnTo>
                  <a:pt x="110" y="661"/>
                </a:lnTo>
                <a:lnTo>
                  <a:pt x="91" y="657"/>
                </a:lnTo>
                <a:lnTo>
                  <a:pt x="77" y="652"/>
                </a:lnTo>
                <a:lnTo>
                  <a:pt x="58" y="647"/>
                </a:lnTo>
                <a:lnTo>
                  <a:pt x="43" y="638"/>
                </a:lnTo>
                <a:lnTo>
                  <a:pt x="34" y="628"/>
                </a:lnTo>
                <a:lnTo>
                  <a:pt x="19" y="614"/>
                </a:lnTo>
                <a:lnTo>
                  <a:pt x="15" y="600"/>
                </a:lnTo>
                <a:lnTo>
                  <a:pt x="5" y="585"/>
                </a:lnTo>
                <a:lnTo>
                  <a:pt x="0" y="566"/>
                </a:lnTo>
                <a:lnTo>
                  <a:pt x="0" y="547"/>
                </a:lnTo>
                <a:lnTo>
                  <a:pt x="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63" name="Freeform 11025"/>
          <p:cNvSpPr>
            <a:spLocks/>
          </p:cNvSpPr>
          <p:nvPr/>
        </p:nvSpPr>
        <p:spPr bwMode="auto">
          <a:xfrm>
            <a:off x="4985702" y="3874770"/>
            <a:ext cx="139065" cy="419735"/>
          </a:xfrm>
          <a:custGeom>
            <a:avLst/>
            <a:gdLst>
              <a:gd name="T0" fmla="*/ 0 w 219"/>
              <a:gd name="T1" fmla="*/ 109 h 661"/>
              <a:gd name="T2" fmla="*/ 0 w 219"/>
              <a:gd name="T3" fmla="*/ 90 h 661"/>
              <a:gd name="T4" fmla="*/ 5 w 219"/>
              <a:gd name="T5" fmla="*/ 76 h 661"/>
              <a:gd name="T6" fmla="*/ 15 w 219"/>
              <a:gd name="T7" fmla="*/ 62 h 661"/>
              <a:gd name="T8" fmla="*/ 19 w 219"/>
              <a:gd name="T9" fmla="*/ 48 h 661"/>
              <a:gd name="T10" fmla="*/ 34 w 219"/>
              <a:gd name="T11" fmla="*/ 33 h 661"/>
              <a:gd name="T12" fmla="*/ 43 w 219"/>
              <a:gd name="T13" fmla="*/ 24 h 661"/>
              <a:gd name="T14" fmla="*/ 58 w 219"/>
              <a:gd name="T15" fmla="*/ 14 h 661"/>
              <a:gd name="T16" fmla="*/ 77 w 219"/>
              <a:gd name="T17" fmla="*/ 5 h 661"/>
              <a:gd name="T18" fmla="*/ 91 w 219"/>
              <a:gd name="T19" fmla="*/ 0 h 661"/>
              <a:gd name="T20" fmla="*/ 110 w 219"/>
              <a:gd name="T21" fmla="*/ 0 h 661"/>
              <a:gd name="T22" fmla="*/ 129 w 219"/>
              <a:gd name="T23" fmla="*/ 0 h 661"/>
              <a:gd name="T24" fmla="*/ 143 w 219"/>
              <a:gd name="T25" fmla="*/ 5 h 661"/>
              <a:gd name="T26" fmla="*/ 162 w 219"/>
              <a:gd name="T27" fmla="*/ 14 h 661"/>
              <a:gd name="T28" fmla="*/ 177 w 219"/>
              <a:gd name="T29" fmla="*/ 24 h 661"/>
              <a:gd name="T30" fmla="*/ 186 w 219"/>
              <a:gd name="T31" fmla="*/ 33 h 661"/>
              <a:gd name="T32" fmla="*/ 200 w 219"/>
              <a:gd name="T33" fmla="*/ 48 h 661"/>
              <a:gd name="T34" fmla="*/ 205 w 219"/>
              <a:gd name="T35" fmla="*/ 62 h 661"/>
              <a:gd name="T36" fmla="*/ 215 w 219"/>
              <a:gd name="T37" fmla="*/ 76 h 661"/>
              <a:gd name="T38" fmla="*/ 219 w 219"/>
              <a:gd name="T39" fmla="*/ 90 h 661"/>
              <a:gd name="T40" fmla="*/ 219 w 219"/>
              <a:gd name="T41" fmla="*/ 109 h 661"/>
              <a:gd name="T42" fmla="*/ 219 w 219"/>
              <a:gd name="T43" fmla="*/ 547 h 661"/>
              <a:gd name="T44" fmla="*/ 219 w 219"/>
              <a:gd name="T45" fmla="*/ 566 h 661"/>
              <a:gd name="T46" fmla="*/ 215 w 219"/>
              <a:gd name="T47" fmla="*/ 585 h 661"/>
              <a:gd name="T48" fmla="*/ 205 w 219"/>
              <a:gd name="T49" fmla="*/ 600 h 661"/>
              <a:gd name="T50" fmla="*/ 200 w 219"/>
              <a:gd name="T51" fmla="*/ 614 h 661"/>
              <a:gd name="T52" fmla="*/ 186 w 219"/>
              <a:gd name="T53" fmla="*/ 628 h 661"/>
              <a:gd name="T54" fmla="*/ 177 w 219"/>
              <a:gd name="T55" fmla="*/ 638 h 661"/>
              <a:gd name="T56" fmla="*/ 162 w 219"/>
              <a:gd name="T57" fmla="*/ 647 h 661"/>
              <a:gd name="T58" fmla="*/ 143 w 219"/>
              <a:gd name="T59" fmla="*/ 652 h 661"/>
              <a:gd name="T60" fmla="*/ 129 w 219"/>
              <a:gd name="T61" fmla="*/ 657 h 661"/>
              <a:gd name="T62" fmla="*/ 110 w 219"/>
              <a:gd name="T63" fmla="*/ 661 h 661"/>
              <a:gd name="T64" fmla="*/ 91 w 219"/>
              <a:gd name="T65" fmla="*/ 657 h 661"/>
              <a:gd name="T66" fmla="*/ 77 w 219"/>
              <a:gd name="T67" fmla="*/ 652 h 661"/>
              <a:gd name="T68" fmla="*/ 58 w 219"/>
              <a:gd name="T69" fmla="*/ 647 h 661"/>
              <a:gd name="T70" fmla="*/ 43 w 219"/>
              <a:gd name="T71" fmla="*/ 638 h 661"/>
              <a:gd name="T72" fmla="*/ 34 w 219"/>
              <a:gd name="T73" fmla="*/ 628 h 661"/>
              <a:gd name="T74" fmla="*/ 19 w 219"/>
              <a:gd name="T75" fmla="*/ 614 h 661"/>
              <a:gd name="T76" fmla="*/ 15 w 219"/>
              <a:gd name="T77" fmla="*/ 600 h 661"/>
              <a:gd name="T78" fmla="*/ 5 w 219"/>
              <a:gd name="T79" fmla="*/ 585 h 661"/>
              <a:gd name="T80" fmla="*/ 0 w 219"/>
              <a:gd name="T81" fmla="*/ 566 h 661"/>
              <a:gd name="T82" fmla="*/ 0 w 219"/>
              <a:gd name="T83" fmla="*/ 547 h 661"/>
              <a:gd name="T84" fmla="*/ 0 w 219"/>
              <a:gd name="T85" fmla="*/ 109 h 661"/>
              <a:gd name="T86" fmla="*/ 0 w 219"/>
              <a:gd name="T87" fmla="*/ 109 h 6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9" h="661">
                <a:moveTo>
                  <a:pt x="0" y="109"/>
                </a:moveTo>
                <a:lnTo>
                  <a:pt x="0" y="90"/>
                </a:lnTo>
                <a:lnTo>
                  <a:pt x="5" y="76"/>
                </a:lnTo>
                <a:lnTo>
                  <a:pt x="15" y="62"/>
                </a:lnTo>
                <a:lnTo>
                  <a:pt x="19" y="48"/>
                </a:lnTo>
                <a:lnTo>
                  <a:pt x="34" y="33"/>
                </a:lnTo>
                <a:lnTo>
                  <a:pt x="43" y="24"/>
                </a:lnTo>
                <a:lnTo>
                  <a:pt x="58" y="14"/>
                </a:lnTo>
                <a:lnTo>
                  <a:pt x="77" y="5"/>
                </a:lnTo>
                <a:lnTo>
                  <a:pt x="91" y="0"/>
                </a:lnTo>
                <a:lnTo>
                  <a:pt x="110" y="0"/>
                </a:lnTo>
                <a:lnTo>
                  <a:pt x="129" y="0"/>
                </a:lnTo>
                <a:lnTo>
                  <a:pt x="143" y="5"/>
                </a:lnTo>
                <a:lnTo>
                  <a:pt x="162" y="14"/>
                </a:lnTo>
                <a:lnTo>
                  <a:pt x="177" y="24"/>
                </a:lnTo>
                <a:lnTo>
                  <a:pt x="186" y="33"/>
                </a:lnTo>
                <a:lnTo>
                  <a:pt x="200" y="48"/>
                </a:lnTo>
                <a:lnTo>
                  <a:pt x="205" y="62"/>
                </a:lnTo>
                <a:lnTo>
                  <a:pt x="215" y="76"/>
                </a:lnTo>
                <a:lnTo>
                  <a:pt x="219" y="90"/>
                </a:lnTo>
                <a:lnTo>
                  <a:pt x="219" y="109"/>
                </a:lnTo>
                <a:lnTo>
                  <a:pt x="219" y="547"/>
                </a:lnTo>
                <a:lnTo>
                  <a:pt x="219" y="566"/>
                </a:lnTo>
                <a:lnTo>
                  <a:pt x="215" y="585"/>
                </a:lnTo>
                <a:lnTo>
                  <a:pt x="205" y="600"/>
                </a:lnTo>
                <a:lnTo>
                  <a:pt x="200" y="614"/>
                </a:lnTo>
                <a:lnTo>
                  <a:pt x="186" y="628"/>
                </a:lnTo>
                <a:lnTo>
                  <a:pt x="177" y="638"/>
                </a:lnTo>
                <a:lnTo>
                  <a:pt x="162" y="647"/>
                </a:lnTo>
                <a:lnTo>
                  <a:pt x="143" y="652"/>
                </a:lnTo>
                <a:lnTo>
                  <a:pt x="129" y="657"/>
                </a:lnTo>
                <a:lnTo>
                  <a:pt x="110" y="661"/>
                </a:lnTo>
                <a:lnTo>
                  <a:pt x="91" y="657"/>
                </a:lnTo>
                <a:lnTo>
                  <a:pt x="77" y="652"/>
                </a:lnTo>
                <a:lnTo>
                  <a:pt x="58" y="647"/>
                </a:lnTo>
                <a:lnTo>
                  <a:pt x="43" y="638"/>
                </a:lnTo>
                <a:lnTo>
                  <a:pt x="34" y="628"/>
                </a:lnTo>
                <a:lnTo>
                  <a:pt x="19" y="614"/>
                </a:lnTo>
                <a:lnTo>
                  <a:pt x="15" y="600"/>
                </a:lnTo>
                <a:lnTo>
                  <a:pt x="5" y="585"/>
                </a:lnTo>
                <a:lnTo>
                  <a:pt x="0" y="566"/>
                </a:lnTo>
                <a:lnTo>
                  <a:pt x="0" y="547"/>
                </a:lnTo>
                <a:lnTo>
                  <a:pt x="0" y="109"/>
                </a:lnTo>
                <a:lnTo>
                  <a:pt x="0" y="109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64" name="Freeform 11026"/>
          <p:cNvSpPr>
            <a:spLocks/>
          </p:cNvSpPr>
          <p:nvPr/>
        </p:nvSpPr>
        <p:spPr bwMode="auto">
          <a:xfrm>
            <a:off x="2984817" y="2590165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4 h 62"/>
              <a:gd name="T6" fmla="*/ 5 w 62"/>
              <a:gd name="T7" fmla="*/ 0 h 62"/>
              <a:gd name="T8" fmla="*/ 5 w 62"/>
              <a:gd name="T9" fmla="*/ 0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4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65" name="Freeform 11027"/>
          <p:cNvSpPr>
            <a:spLocks/>
          </p:cNvSpPr>
          <p:nvPr/>
        </p:nvSpPr>
        <p:spPr bwMode="auto">
          <a:xfrm>
            <a:off x="3468687" y="3288665"/>
            <a:ext cx="558800" cy="854710"/>
          </a:xfrm>
          <a:custGeom>
            <a:avLst/>
            <a:gdLst>
              <a:gd name="T0" fmla="*/ 880 w 880"/>
              <a:gd name="T1" fmla="*/ 1346 h 1346"/>
              <a:gd name="T2" fmla="*/ 880 w 880"/>
              <a:gd name="T3" fmla="*/ 0 h 1346"/>
              <a:gd name="T4" fmla="*/ 0 w 880"/>
              <a:gd name="T5" fmla="*/ 0 h 1346"/>
              <a:gd name="T6" fmla="*/ 0 w 880"/>
              <a:gd name="T7" fmla="*/ 1346 h 1346"/>
              <a:gd name="T8" fmla="*/ 880 w 880"/>
              <a:gd name="T9" fmla="*/ 1346 h 1346"/>
              <a:gd name="T10" fmla="*/ 880 w 880"/>
              <a:gd name="T11" fmla="*/ 1346 h 1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0" h="1346">
                <a:moveTo>
                  <a:pt x="880" y="1346"/>
                </a:moveTo>
                <a:lnTo>
                  <a:pt x="880" y="0"/>
                </a:lnTo>
                <a:lnTo>
                  <a:pt x="0" y="0"/>
                </a:lnTo>
                <a:lnTo>
                  <a:pt x="0" y="1346"/>
                </a:lnTo>
                <a:lnTo>
                  <a:pt x="880" y="1346"/>
                </a:lnTo>
                <a:lnTo>
                  <a:pt x="880" y="13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66" name="Freeform 11028"/>
          <p:cNvSpPr>
            <a:spLocks/>
          </p:cNvSpPr>
          <p:nvPr/>
        </p:nvSpPr>
        <p:spPr bwMode="auto">
          <a:xfrm>
            <a:off x="3468687" y="3288665"/>
            <a:ext cx="558800" cy="854710"/>
          </a:xfrm>
          <a:custGeom>
            <a:avLst/>
            <a:gdLst>
              <a:gd name="T0" fmla="*/ 880 w 880"/>
              <a:gd name="T1" fmla="*/ 1346 h 1346"/>
              <a:gd name="T2" fmla="*/ 880 w 880"/>
              <a:gd name="T3" fmla="*/ 0 h 1346"/>
              <a:gd name="T4" fmla="*/ 0 w 880"/>
              <a:gd name="T5" fmla="*/ 0 h 1346"/>
              <a:gd name="T6" fmla="*/ 0 w 880"/>
              <a:gd name="T7" fmla="*/ 1346 h 1346"/>
              <a:gd name="T8" fmla="*/ 880 w 880"/>
              <a:gd name="T9" fmla="*/ 1346 h 1346"/>
              <a:gd name="T10" fmla="*/ 880 w 880"/>
              <a:gd name="T11" fmla="*/ 1346 h 1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0" h="1346">
                <a:moveTo>
                  <a:pt x="880" y="1346"/>
                </a:moveTo>
                <a:lnTo>
                  <a:pt x="880" y="0"/>
                </a:lnTo>
                <a:lnTo>
                  <a:pt x="0" y="0"/>
                </a:lnTo>
                <a:lnTo>
                  <a:pt x="0" y="1346"/>
                </a:lnTo>
                <a:lnTo>
                  <a:pt x="880" y="1346"/>
                </a:lnTo>
                <a:lnTo>
                  <a:pt x="880" y="1346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67" name="Rectangle 11029"/>
          <p:cNvSpPr>
            <a:spLocks noChangeArrowheads="1"/>
          </p:cNvSpPr>
          <p:nvPr/>
        </p:nvSpPr>
        <p:spPr bwMode="auto">
          <a:xfrm>
            <a:off x="3595687" y="3681730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68" name="Rectangle 11030"/>
          <p:cNvSpPr>
            <a:spLocks noChangeArrowheads="1"/>
          </p:cNvSpPr>
          <p:nvPr/>
        </p:nvSpPr>
        <p:spPr bwMode="auto">
          <a:xfrm>
            <a:off x="3649662" y="3681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69" name="Rectangle 11031"/>
          <p:cNvSpPr>
            <a:spLocks noChangeArrowheads="1"/>
          </p:cNvSpPr>
          <p:nvPr/>
        </p:nvSpPr>
        <p:spPr bwMode="auto">
          <a:xfrm>
            <a:off x="3689032" y="3681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g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70" name="Rectangle 11032"/>
          <p:cNvSpPr>
            <a:spLocks noChangeArrowheads="1"/>
          </p:cNvSpPr>
          <p:nvPr/>
        </p:nvSpPr>
        <p:spPr bwMode="auto">
          <a:xfrm>
            <a:off x="3731577" y="3681730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71" name="Rectangle 11033"/>
          <p:cNvSpPr>
            <a:spLocks noChangeArrowheads="1"/>
          </p:cNvSpPr>
          <p:nvPr/>
        </p:nvSpPr>
        <p:spPr bwMode="auto">
          <a:xfrm>
            <a:off x="3749357" y="368173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72" name="Rectangle 11034"/>
          <p:cNvSpPr>
            <a:spLocks noChangeArrowheads="1"/>
          </p:cNvSpPr>
          <p:nvPr/>
        </p:nvSpPr>
        <p:spPr bwMode="auto">
          <a:xfrm>
            <a:off x="3785552" y="368173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73" name="Rectangle 11035"/>
          <p:cNvSpPr>
            <a:spLocks noChangeArrowheads="1"/>
          </p:cNvSpPr>
          <p:nvPr/>
        </p:nvSpPr>
        <p:spPr bwMode="auto">
          <a:xfrm>
            <a:off x="3807142" y="3681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74" name="Rectangle 11036"/>
          <p:cNvSpPr>
            <a:spLocks noChangeArrowheads="1"/>
          </p:cNvSpPr>
          <p:nvPr/>
        </p:nvSpPr>
        <p:spPr bwMode="auto">
          <a:xfrm>
            <a:off x="3849052" y="368173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75" name="Rectangle 11037"/>
          <p:cNvSpPr>
            <a:spLocks noChangeArrowheads="1"/>
          </p:cNvSpPr>
          <p:nvPr/>
        </p:nvSpPr>
        <p:spPr bwMode="auto">
          <a:xfrm>
            <a:off x="3873817" y="368173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76" name="Freeform 11038"/>
          <p:cNvSpPr>
            <a:spLocks/>
          </p:cNvSpPr>
          <p:nvPr/>
        </p:nvSpPr>
        <p:spPr bwMode="auto">
          <a:xfrm>
            <a:off x="3048317" y="3929380"/>
            <a:ext cx="4685665" cy="1691640"/>
          </a:xfrm>
          <a:custGeom>
            <a:avLst/>
            <a:gdLst>
              <a:gd name="T0" fmla="*/ 619 w 7379"/>
              <a:gd name="T1" fmla="*/ 157 h 2664"/>
              <a:gd name="T2" fmla="*/ 0 w 7379"/>
              <a:gd name="T3" fmla="*/ 157 h 2664"/>
              <a:gd name="T4" fmla="*/ 0 w 7379"/>
              <a:gd name="T5" fmla="*/ 2664 h 2664"/>
              <a:gd name="T6" fmla="*/ 7379 w 7379"/>
              <a:gd name="T7" fmla="*/ 2664 h 2664"/>
              <a:gd name="T8" fmla="*/ 7379 w 7379"/>
              <a:gd name="T9" fmla="*/ 0 h 2664"/>
              <a:gd name="T10" fmla="*/ 7250 w 7379"/>
              <a:gd name="T11" fmla="*/ 0 h 2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379" h="2664">
                <a:moveTo>
                  <a:pt x="619" y="157"/>
                </a:moveTo>
                <a:lnTo>
                  <a:pt x="0" y="157"/>
                </a:lnTo>
                <a:lnTo>
                  <a:pt x="0" y="2664"/>
                </a:lnTo>
                <a:lnTo>
                  <a:pt x="7379" y="2664"/>
                </a:lnTo>
                <a:lnTo>
                  <a:pt x="7379" y="0"/>
                </a:lnTo>
                <a:lnTo>
                  <a:pt x="7250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77" name="Line 11039"/>
          <p:cNvCxnSpPr/>
          <p:nvPr/>
        </p:nvCxnSpPr>
        <p:spPr bwMode="auto">
          <a:xfrm>
            <a:off x="2718752" y="4469765"/>
            <a:ext cx="136652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" name="Freeform 11040"/>
          <p:cNvSpPr>
            <a:spLocks/>
          </p:cNvSpPr>
          <p:nvPr/>
        </p:nvSpPr>
        <p:spPr bwMode="auto">
          <a:xfrm>
            <a:off x="3256597" y="4225290"/>
            <a:ext cx="260350" cy="486410"/>
          </a:xfrm>
          <a:custGeom>
            <a:avLst/>
            <a:gdLst>
              <a:gd name="T0" fmla="*/ 205 w 410"/>
              <a:gd name="T1" fmla="*/ 766 h 766"/>
              <a:gd name="T2" fmla="*/ 238 w 410"/>
              <a:gd name="T3" fmla="*/ 761 h 766"/>
              <a:gd name="T4" fmla="*/ 267 w 410"/>
              <a:gd name="T5" fmla="*/ 747 h 766"/>
              <a:gd name="T6" fmla="*/ 296 w 410"/>
              <a:gd name="T7" fmla="*/ 723 h 766"/>
              <a:gd name="T8" fmla="*/ 319 w 410"/>
              <a:gd name="T9" fmla="*/ 695 h 766"/>
              <a:gd name="T10" fmla="*/ 348 w 410"/>
              <a:gd name="T11" fmla="*/ 657 h 766"/>
              <a:gd name="T12" fmla="*/ 367 w 410"/>
              <a:gd name="T13" fmla="*/ 609 h 766"/>
              <a:gd name="T14" fmla="*/ 386 w 410"/>
              <a:gd name="T15" fmla="*/ 561 h 766"/>
              <a:gd name="T16" fmla="*/ 400 w 410"/>
              <a:gd name="T17" fmla="*/ 504 h 766"/>
              <a:gd name="T18" fmla="*/ 410 w 410"/>
              <a:gd name="T19" fmla="*/ 447 h 766"/>
              <a:gd name="T20" fmla="*/ 410 w 410"/>
              <a:gd name="T21" fmla="*/ 385 h 766"/>
              <a:gd name="T22" fmla="*/ 410 w 410"/>
              <a:gd name="T23" fmla="*/ 324 h 766"/>
              <a:gd name="T24" fmla="*/ 400 w 410"/>
              <a:gd name="T25" fmla="*/ 262 h 766"/>
              <a:gd name="T26" fmla="*/ 386 w 410"/>
              <a:gd name="T27" fmla="*/ 209 h 766"/>
              <a:gd name="T28" fmla="*/ 367 w 410"/>
              <a:gd name="T29" fmla="*/ 157 h 766"/>
              <a:gd name="T30" fmla="*/ 348 w 410"/>
              <a:gd name="T31" fmla="*/ 114 h 766"/>
              <a:gd name="T32" fmla="*/ 319 w 410"/>
              <a:gd name="T33" fmla="*/ 76 h 766"/>
              <a:gd name="T34" fmla="*/ 296 w 410"/>
              <a:gd name="T35" fmla="*/ 43 h 766"/>
              <a:gd name="T36" fmla="*/ 267 w 410"/>
              <a:gd name="T37" fmla="*/ 19 h 766"/>
              <a:gd name="T38" fmla="*/ 238 w 410"/>
              <a:gd name="T39" fmla="*/ 5 h 766"/>
              <a:gd name="T40" fmla="*/ 205 w 410"/>
              <a:gd name="T41" fmla="*/ 0 h 766"/>
              <a:gd name="T42" fmla="*/ 177 w 410"/>
              <a:gd name="T43" fmla="*/ 5 h 766"/>
              <a:gd name="T44" fmla="*/ 148 w 410"/>
              <a:gd name="T45" fmla="*/ 19 h 766"/>
              <a:gd name="T46" fmla="*/ 119 w 410"/>
              <a:gd name="T47" fmla="*/ 43 h 766"/>
              <a:gd name="T48" fmla="*/ 91 w 410"/>
              <a:gd name="T49" fmla="*/ 76 h 766"/>
              <a:gd name="T50" fmla="*/ 67 w 410"/>
              <a:gd name="T51" fmla="*/ 114 h 766"/>
              <a:gd name="T52" fmla="*/ 43 w 410"/>
              <a:gd name="T53" fmla="*/ 157 h 766"/>
              <a:gd name="T54" fmla="*/ 24 w 410"/>
              <a:gd name="T55" fmla="*/ 209 h 766"/>
              <a:gd name="T56" fmla="*/ 15 w 410"/>
              <a:gd name="T57" fmla="*/ 262 h 766"/>
              <a:gd name="T58" fmla="*/ 5 w 410"/>
              <a:gd name="T59" fmla="*/ 324 h 766"/>
              <a:gd name="T60" fmla="*/ 0 w 410"/>
              <a:gd name="T61" fmla="*/ 385 h 766"/>
              <a:gd name="T62" fmla="*/ 5 w 410"/>
              <a:gd name="T63" fmla="*/ 447 h 766"/>
              <a:gd name="T64" fmla="*/ 15 w 410"/>
              <a:gd name="T65" fmla="*/ 504 h 766"/>
              <a:gd name="T66" fmla="*/ 24 w 410"/>
              <a:gd name="T67" fmla="*/ 561 h 766"/>
              <a:gd name="T68" fmla="*/ 43 w 410"/>
              <a:gd name="T69" fmla="*/ 609 h 766"/>
              <a:gd name="T70" fmla="*/ 67 w 410"/>
              <a:gd name="T71" fmla="*/ 657 h 766"/>
              <a:gd name="T72" fmla="*/ 91 w 410"/>
              <a:gd name="T73" fmla="*/ 695 h 766"/>
              <a:gd name="T74" fmla="*/ 119 w 410"/>
              <a:gd name="T75" fmla="*/ 723 h 766"/>
              <a:gd name="T76" fmla="*/ 148 w 410"/>
              <a:gd name="T77" fmla="*/ 747 h 766"/>
              <a:gd name="T78" fmla="*/ 177 w 410"/>
              <a:gd name="T79" fmla="*/ 761 h 766"/>
              <a:gd name="T80" fmla="*/ 205 w 410"/>
              <a:gd name="T81" fmla="*/ 766 h 766"/>
              <a:gd name="T82" fmla="*/ 205 w 410"/>
              <a:gd name="T83" fmla="*/ 766 h 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10" h="766">
                <a:moveTo>
                  <a:pt x="205" y="766"/>
                </a:moveTo>
                <a:lnTo>
                  <a:pt x="238" y="761"/>
                </a:lnTo>
                <a:lnTo>
                  <a:pt x="267" y="747"/>
                </a:lnTo>
                <a:lnTo>
                  <a:pt x="296" y="723"/>
                </a:lnTo>
                <a:lnTo>
                  <a:pt x="319" y="695"/>
                </a:lnTo>
                <a:lnTo>
                  <a:pt x="348" y="657"/>
                </a:lnTo>
                <a:lnTo>
                  <a:pt x="367" y="609"/>
                </a:lnTo>
                <a:lnTo>
                  <a:pt x="386" y="561"/>
                </a:lnTo>
                <a:lnTo>
                  <a:pt x="400" y="504"/>
                </a:lnTo>
                <a:lnTo>
                  <a:pt x="410" y="447"/>
                </a:lnTo>
                <a:lnTo>
                  <a:pt x="410" y="385"/>
                </a:lnTo>
                <a:lnTo>
                  <a:pt x="410" y="324"/>
                </a:lnTo>
                <a:lnTo>
                  <a:pt x="400" y="262"/>
                </a:lnTo>
                <a:lnTo>
                  <a:pt x="386" y="209"/>
                </a:lnTo>
                <a:lnTo>
                  <a:pt x="367" y="157"/>
                </a:lnTo>
                <a:lnTo>
                  <a:pt x="348" y="114"/>
                </a:lnTo>
                <a:lnTo>
                  <a:pt x="319" y="76"/>
                </a:lnTo>
                <a:lnTo>
                  <a:pt x="296" y="43"/>
                </a:lnTo>
                <a:lnTo>
                  <a:pt x="267" y="19"/>
                </a:lnTo>
                <a:lnTo>
                  <a:pt x="238" y="5"/>
                </a:lnTo>
                <a:lnTo>
                  <a:pt x="205" y="0"/>
                </a:lnTo>
                <a:lnTo>
                  <a:pt x="177" y="5"/>
                </a:lnTo>
                <a:lnTo>
                  <a:pt x="148" y="19"/>
                </a:lnTo>
                <a:lnTo>
                  <a:pt x="119" y="43"/>
                </a:lnTo>
                <a:lnTo>
                  <a:pt x="91" y="76"/>
                </a:lnTo>
                <a:lnTo>
                  <a:pt x="67" y="114"/>
                </a:lnTo>
                <a:lnTo>
                  <a:pt x="43" y="157"/>
                </a:lnTo>
                <a:lnTo>
                  <a:pt x="24" y="209"/>
                </a:lnTo>
                <a:lnTo>
                  <a:pt x="15" y="262"/>
                </a:lnTo>
                <a:lnTo>
                  <a:pt x="5" y="324"/>
                </a:lnTo>
                <a:lnTo>
                  <a:pt x="0" y="385"/>
                </a:lnTo>
                <a:lnTo>
                  <a:pt x="5" y="447"/>
                </a:lnTo>
                <a:lnTo>
                  <a:pt x="15" y="504"/>
                </a:lnTo>
                <a:lnTo>
                  <a:pt x="24" y="561"/>
                </a:lnTo>
                <a:lnTo>
                  <a:pt x="43" y="609"/>
                </a:lnTo>
                <a:lnTo>
                  <a:pt x="67" y="657"/>
                </a:lnTo>
                <a:lnTo>
                  <a:pt x="91" y="695"/>
                </a:lnTo>
                <a:lnTo>
                  <a:pt x="119" y="723"/>
                </a:lnTo>
                <a:lnTo>
                  <a:pt x="148" y="747"/>
                </a:lnTo>
                <a:lnTo>
                  <a:pt x="177" y="761"/>
                </a:lnTo>
                <a:lnTo>
                  <a:pt x="205" y="766"/>
                </a:lnTo>
                <a:lnTo>
                  <a:pt x="205" y="7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79" name="Freeform 11041"/>
          <p:cNvSpPr>
            <a:spLocks/>
          </p:cNvSpPr>
          <p:nvPr/>
        </p:nvSpPr>
        <p:spPr bwMode="auto">
          <a:xfrm>
            <a:off x="3256597" y="4225290"/>
            <a:ext cx="260350" cy="486410"/>
          </a:xfrm>
          <a:custGeom>
            <a:avLst/>
            <a:gdLst>
              <a:gd name="T0" fmla="*/ 205 w 410"/>
              <a:gd name="T1" fmla="*/ 766 h 766"/>
              <a:gd name="T2" fmla="*/ 238 w 410"/>
              <a:gd name="T3" fmla="*/ 761 h 766"/>
              <a:gd name="T4" fmla="*/ 267 w 410"/>
              <a:gd name="T5" fmla="*/ 747 h 766"/>
              <a:gd name="T6" fmla="*/ 296 w 410"/>
              <a:gd name="T7" fmla="*/ 723 h 766"/>
              <a:gd name="T8" fmla="*/ 319 w 410"/>
              <a:gd name="T9" fmla="*/ 695 h 766"/>
              <a:gd name="T10" fmla="*/ 348 w 410"/>
              <a:gd name="T11" fmla="*/ 657 h 766"/>
              <a:gd name="T12" fmla="*/ 367 w 410"/>
              <a:gd name="T13" fmla="*/ 609 h 766"/>
              <a:gd name="T14" fmla="*/ 386 w 410"/>
              <a:gd name="T15" fmla="*/ 561 h 766"/>
              <a:gd name="T16" fmla="*/ 400 w 410"/>
              <a:gd name="T17" fmla="*/ 504 h 766"/>
              <a:gd name="T18" fmla="*/ 410 w 410"/>
              <a:gd name="T19" fmla="*/ 447 h 766"/>
              <a:gd name="T20" fmla="*/ 410 w 410"/>
              <a:gd name="T21" fmla="*/ 385 h 766"/>
              <a:gd name="T22" fmla="*/ 410 w 410"/>
              <a:gd name="T23" fmla="*/ 324 h 766"/>
              <a:gd name="T24" fmla="*/ 400 w 410"/>
              <a:gd name="T25" fmla="*/ 262 h 766"/>
              <a:gd name="T26" fmla="*/ 386 w 410"/>
              <a:gd name="T27" fmla="*/ 209 h 766"/>
              <a:gd name="T28" fmla="*/ 367 w 410"/>
              <a:gd name="T29" fmla="*/ 157 h 766"/>
              <a:gd name="T30" fmla="*/ 348 w 410"/>
              <a:gd name="T31" fmla="*/ 114 h 766"/>
              <a:gd name="T32" fmla="*/ 319 w 410"/>
              <a:gd name="T33" fmla="*/ 76 h 766"/>
              <a:gd name="T34" fmla="*/ 296 w 410"/>
              <a:gd name="T35" fmla="*/ 43 h 766"/>
              <a:gd name="T36" fmla="*/ 267 w 410"/>
              <a:gd name="T37" fmla="*/ 19 h 766"/>
              <a:gd name="T38" fmla="*/ 238 w 410"/>
              <a:gd name="T39" fmla="*/ 5 h 766"/>
              <a:gd name="T40" fmla="*/ 205 w 410"/>
              <a:gd name="T41" fmla="*/ 0 h 766"/>
              <a:gd name="T42" fmla="*/ 177 w 410"/>
              <a:gd name="T43" fmla="*/ 5 h 766"/>
              <a:gd name="T44" fmla="*/ 148 w 410"/>
              <a:gd name="T45" fmla="*/ 19 h 766"/>
              <a:gd name="T46" fmla="*/ 119 w 410"/>
              <a:gd name="T47" fmla="*/ 43 h 766"/>
              <a:gd name="T48" fmla="*/ 91 w 410"/>
              <a:gd name="T49" fmla="*/ 76 h 766"/>
              <a:gd name="T50" fmla="*/ 67 w 410"/>
              <a:gd name="T51" fmla="*/ 114 h 766"/>
              <a:gd name="T52" fmla="*/ 43 w 410"/>
              <a:gd name="T53" fmla="*/ 157 h 766"/>
              <a:gd name="T54" fmla="*/ 24 w 410"/>
              <a:gd name="T55" fmla="*/ 209 h 766"/>
              <a:gd name="T56" fmla="*/ 15 w 410"/>
              <a:gd name="T57" fmla="*/ 262 h 766"/>
              <a:gd name="T58" fmla="*/ 5 w 410"/>
              <a:gd name="T59" fmla="*/ 324 h 766"/>
              <a:gd name="T60" fmla="*/ 0 w 410"/>
              <a:gd name="T61" fmla="*/ 385 h 766"/>
              <a:gd name="T62" fmla="*/ 5 w 410"/>
              <a:gd name="T63" fmla="*/ 447 h 766"/>
              <a:gd name="T64" fmla="*/ 15 w 410"/>
              <a:gd name="T65" fmla="*/ 504 h 766"/>
              <a:gd name="T66" fmla="*/ 24 w 410"/>
              <a:gd name="T67" fmla="*/ 561 h 766"/>
              <a:gd name="T68" fmla="*/ 43 w 410"/>
              <a:gd name="T69" fmla="*/ 609 h 766"/>
              <a:gd name="T70" fmla="*/ 67 w 410"/>
              <a:gd name="T71" fmla="*/ 657 h 766"/>
              <a:gd name="T72" fmla="*/ 91 w 410"/>
              <a:gd name="T73" fmla="*/ 695 h 766"/>
              <a:gd name="T74" fmla="*/ 119 w 410"/>
              <a:gd name="T75" fmla="*/ 723 h 766"/>
              <a:gd name="T76" fmla="*/ 148 w 410"/>
              <a:gd name="T77" fmla="*/ 747 h 766"/>
              <a:gd name="T78" fmla="*/ 177 w 410"/>
              <a:gd name="T79" fmla="*/ 761 h 766"/>
              <a:gd name="T80" fmla="*/ 205 w 410"/>
              <a:gd name="T81" fmla="*/ 766 h 766"/>
              <a:gd name="T82" fmla="*/ 205 w 410"/>
              <a:gd name="T83" fmla="*/ 766 h 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10" h="766">
                <a:moveTo>
                  <a:pt x="205" y="766"/>
                </a:moveTo>
                <a:lnTo>
                  <a:pt x="238" y="761"/>
                </a:lnTo>
                <a:lnTo>
                  <a:pt x="267" y="747"/>
                </a:lnTo>
                <a:lnTo>
                  <a:pt x="296" y="723"/>
                </a:lnTo>
                <a:lnTo>
                  <a:pt x="319" y="695"/>
                </a:lnTo>
                <a:lnTo>
                  <a:pt x="348" y="657"/>
                </a:lnTo>
                <a:lnTo>
                  <a:pt x="367" y="609"/>
                </a:lnTo>
                <a:lnTo>
                  <a:pt x="386" y="561"/>
                </a:lnTo>
                <a:lnTo>
                  <a:pt x="400" y="504"/>
                </a:lnTo>
                <a:lnTo>
                  <a:pt x="410" y="447"/>
                </a:lnTo>
                <a:lnTo>
                  <a:pt x="410" y="385"/>
                </a:lnTo>
                <a:lnTo>
                  <a:pt x="410" y="324"/>
                </a:lnTo>
                <a:lnTo>
                  <a:pt x="400" y="262"/>
                </a:lnTo>
                <a:lnTo>
                  <a:pt x="386" y="209"/>
                </a:lnTo>
                <a:lnTo>
                  <a:pt x="367" y="157"/>
                </a:lnTo>
                <a:lnTo>
                  <a:pt x="348" y="114"/>
                </a:lnTo>
                <a:lnTo>
                  <a:pt x="319" y="76"/>
                </a:lnTo>
                <a:lnTo>
                  <a:pt x="296" y="43"/>
                </a:lnTo>
                <a:lnTo>
                  <a:pt x="267" y="19"/>
                </a:lnTo>
                <a:lnTo>
                  <a:pt x="238" y="5"/>
                </a:lnTo>
                <a:lnTo>
                  <a:pt x="205" y="0"/>
                </a:lnTo>
                <a:lnTo>
                  <a:pt x="177" y="5"/>
                </a:lnTo>
                <a:lnTo>
                  <a:pt x="148" y="19"/>
                </a:lnTo>
                <a:lnTo>
                  <a:pt x="119" y="43"/>
                </a:lnTo>
                <a:lnTo>
                  <a:pt x="91" y="76"/>
                </a:lnTo>
                <a:lnTo>
                  <a:pt x="67" y="114"/>
                </a:lnTo>
                <a:lnTo>
                  <a:pt x="43" y="157"/>
                </a:lnTo>
                <a:lnTo>
                  <a:pt x="24" y="209"/>
                </a:lnTo>
                <a:lnTo>
                  <a:pt x="15" y="262"/>
                </a:lnTo>
                <a:lnTo>
                  <a:pt x="5" y="324"/>
                </a:lnTo>
                <a:lnTo>
                  <a:pt x="0" y="385"/>
                </a:lnTo>
                <a:lnTo>
                  <a:pt x="5" y="447"/>
                </a:lnTo>
                <a:lnTo>
                  <a:pt x="15" y="504"/>
                </a:lnTo>
                <a:lnTo>
                  <a:pt x="24" y="561"/>
                </a:lnTo>
                <a:lnTo>
                  <a:pt x="43" y="609"/>
                </a:lnTo>
                <a:lnTo>
                  <a:pt x="67" y="657"/>
                </a:lnTo>
                <a:lnTo>
                  <a:pt x="91" y="695"/>
                </a:lnTo>
                <a:lnTo>
                  <a:pt x="119" y="723"/>
                </a:lnTo>
                <a:lnTo>
                  <a:pt x="148" y="747"/>
                </a:lnTo>
                <a:lnTo>
                  <a:pt x="177" y="761"/>
                </a:lnTo>
                <a:lnTo>
                  <a:pt x="205" y="766"/>
                </a:lnTo>
                <a:lnTo>
                  <a:pt x="205" y="766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80" name="Rectangle 11042"/>
          <p:cNvSpPr>
            <a:spLocks noChangeArrowheads="1"/>
          </p:cNvSpPr>
          <p:nvPr/>
        </p:nvSpPr>
        <p:spPr bwMode="auto">
          <a:xfrm>
            <a:off x="3314382" y="4355465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81" name="Rectangle 11043"/>
          <p:cNvSpPr>
            <a:spLocks noChangeArrowheads="1"/>
          </p:cNvSpPr>
          <p:nvPr/>
        </p:nvSpPr>
        <p:spPr bwMode="auto">
          <a:xfrm>
            <a:off x="3362642" y="4355465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82" name="Rectangle 11044"/>
          <p:cNvSpPr>
            <a:spLocks noChangeArrowheads="1"/>
          </p:cNvSpPr>
          <p:nvPr/>
        </p:nvSpPr>
        <p:spPr bwMode="auto">
          <a:xfrm>
            <a:off x="3381057" y="43554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g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83" name="Rectangle 11045"/>
          <p:cNvSpPr>
            <a:spLocks noChangeArrowheads="1"/>
          </p:cNvSpPr>
          <p:nvPr/>
        </p:nvSpPr>
        <p:spPr bwMode="auto">
          <a:xfrm>
            <a:off x="3419792" y="43554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84" name="Rectangle 11046"/>
          <p:cNvSpPr>
            <a:spLocks noChangeArrowheads="1"/>
          </p:cNvSpPr>
          <p:nvPr/>
        </p:nvSpPr>
        <p:spPr bwMode="auto">
          <a:xfrm>
            <a:off x="3462337" y="435546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85" name="Rectangle 11047"/>
          <p:cNvSpPr>
            <a:spLocks noChangeArrowheads="1"/>
          </p:cNvSpPr>
          <p:nvPr/>
        </p:nvSpPr>
        <p:spPr bwMode="auto">
          <a:xfrm>
            <a:off x="3271837" y="44430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86" name="Rectangle 11048"/>
          <p:cNvSpPr>
            <a:spLocks noChangeArrowheads="1"/>
          </p:cNvSpPr>
          <p:nvPr/>
        </p:nvSpPr>
        <p:spPr bwMode="auto">
          <a:xfrm>
            <a:off x="3314382" y="444309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87" name="Rectangle 11049"/>
          <p:cNvSpPr>
            <a:spLocks noChangeArrowheads="1"/>
          </p:cNvSpPr>
          <p:nvPr/>
        </p:nvSpPr>
        <p:spPr bwMode="auto">
          <a:xfrm>
            <a:off x="3350577" y="444309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88" name="Rectangle 11050"/>
          <p:cNvSpPr>
            <a:spLocks noChangeArrowheads="1"/>
          </p:cNvSpPr>
          <p:nvPr/>
        </p:nvSpPr>
        <p:spPr bwMode="auto">
          <a:xfrm>
            <a:off x="3371532" y="44430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89" name="Rectangle 11051"/>
          <p:cNvSpPr>
            <a:spLocks noChangeArrowheads="1"/>
          </p:cNvSpPr>
          <p:nvPr/>
        </p:nvSpPr>
        <p:spPr bwMode="auto">
          <a:xfrm>
            <a:off x="3410902" y="44430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90" name="Rectangle 11052"/>
          <p:cNvSpPr>
            <a:spLocks noChangeArrowheads="1"/>
          </p:cNvSpPr>
          <p:nvPr/>
        </p:nvSpPr>
        <p:spPr bwMode="auto">
          <a:xfrm>
            <a:off x="3453447" y="44430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cxnSp>
        <p:nvCxnSpPr>
          <p:cNvPr id="91" name="Line 11053"/>
          <p:cNvCxnSpPr/>
          <p:nvPr/>
        </p:nvCxnSpPr>
        <p:spPr bwMode="auto">
          <a:xfrm>
            <a:off x="4088447" y="4469765"/>
            <a:ext cx="21717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Rectangle 11054"/>
          <p:cNvSpPr>
            <a:spLocks noChangeArrowheads="1"/>
          </p:cNvSpPr>
          <p:nvPr/>
        </p:nvSpPr>
        <p:spPr bwMode="auto">
          <a:xfrm>
            <a:off x="5022532" y="3965575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93" name="Rectangle 11055"/>
          <p:cNvSpPr>
            <a:spLocks noChangeArrowheads="1"/>
          </p:cNvSpPr>
          <p:nvPr/>
        </p:nvSpPr>
        <p:spPr bwMode="auto">
          <a:xfrm>
            <a:off x="5082857" y="396557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94" name="Rectangle 11056"/>
          <p:cNvSpPr>
            <a:spLocks noChangeArrowheads="1"/>
          </p:cNvSpPr>
          <p:nvPr/>
        </p:nvSpPr>
        <p:spPr bwMode="auto">
          <a:xfrm>
            <a:off x="5034597" y="40379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95" name="Rectangle 11057"/>
          <p:cNvSpPr>
            <a:spLocks noChangeArrowheads="1"/>
          </p:cNvSpPr>
          <p:nvPr/>
        </p:nvSpPr>
        <p:spPr bwMode="auto">
          <a:xfrm>
            <a:off x="5076507" y="403796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96" name="Rectangle 11058"/>
          <p:cNvSpPr>
            <a:spLocks noChangeArrowheads="1"/>
          </p:cNvSpPr>
          <p:nvPr/>
        </p:nvSpPr>
        <p:spPr bwMode="auto">
          <a:xfrm>
            <a:off x="5034597" y="411353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97" name="Freeform 11059"/>
          <p:cNvSpPr>
            <a:spLocks/>
          </p:cNvSpPr>
          <p:nvPr/>
        </p:nvSpPr>
        <p:spPr bwMode="auto">
          <a:xfrm>
            <a:off x="4988877" y="4832350"/>
            <a:ext cx="139065" cy="417195"/>
          </a:xfrm>
          <a:custGeom>
            <a:avLst/>
            <a:gdLst>
              <a:gd name="T0" fmla="*/ 0 w 219"/>
              <a:gd name="T1" fmla="*/ 105 h 657"/>
              <a:gd name="T2" fmla="*/ 0 w 219"/>
              <a:gd name="T3" fmla="*/ 91 h 657"/>
              <a:gd name="T4" fmla="*/ 5 w 219"/>
              <a:gd name="T5" fmla="*/ 77 h 657"/>
              <a:gd name="T6" fmla="*/ 14 w 219"/>
              <a:gd name="T7" fmla="*/ 58 h 657"/>
              <a:gd name="T8" fmla="*/ 19 w 219"/>
              <a:gd name="T9" fmla="*/ 43 h 657"/>
              <a:gd name="T10" fmla="*/ 33 w 219"/>
              <a:gd name="T11" fmla="*/ 34 h 657"/>
              <a:gd name="T12" fmla="*/ 43 w 219"/>
              <a:gd name="T13" fmla="*/ 19 h 657"/>
              <a:gd name="T14" fmla="*/ 57 w 219"/>
              <a:gd name="T15" fmla="*/ 10 h 657"/>
              <a:gd name="T16" fmla="*/ 76 w 219"/>
              <a:gd name="T17" fmla="*/ 5 h 657"/>
              <a:gd name="T18" fmla="*/ 91 w 219"/>
              <a:gd name="T19" fmla="*/ 0 h 657"/>
              <a:gd name="T20" fmla="*/ 110 w 219"/>
              <a:gd name="T21" fmla="*/ 0 h 657"/>
              <a:gd name="T22" fmla="*/ 129 w 219"/>
              <a:gd name="T23" fmla="*/ 0 h 657"/>
              <a:gd name="T24" fmla="*/ 143 w 219"/>
              <a:gd name="T25" fmla="*/ 5 h 657"/>
              <a:gd name="T26" fmla="*/ 162 w 219"/>
              <a:gd name="T27" fmla="*/ 10 h 657"/>
              <a:gd name="T28" fmla="*/ 176 w 219"/>
              <a:gd name="T29" fmla="*/ 19 h 657"/>
              <a:gd name="T30" fmla="*/ 186 w 219"/>
              <a:gd name="T31" fmla="*/ 34 h 657"/>
              <a:gd name="T32" fmla="*/ 200 w 219"/>
              <a:gd name="T33" fmla="*/ 43 h 657"/>
              <a:gd name="T34" fmla="*/ 210 w 219"/>
              <a:gd name="T35" fmla="*/ 58 h 657"/>
              <a:gd name="T36" fmla="*/ 214 w 219"/>
              <a:gd name="T37" fmla="*/ 77 h 657"/>
              <a:gd name="T38" fmla="*/ 219 w 219"/>
              <a:gd name="T39" fmla="*/ 91 h 657"/>
              <a:gd name="T40" fmla="*/ 219 w 219"/>
              <a:gd name="T41" fmla="*/ 110 h 657"/>
              <a:gd name="T42" fmla="*/ 219 w 219"/>
              <a:gd name="T43" fmla="*/ 548 h 657"/>
              <a:gd name="T44" fmla="*/ 219 w 219"/>
              <a:gd name="T45" fmla="*/ 567 h 657"/>
              <a:gd name="T46" fmla="*/ 214 w 219"/>
              <a:gd name="T47" fmla="*/ 581 h 657"/>
              <a:gd name="T48" fmla="*/ 210 w 219"/>
              <a:gd name="T49" fmla="*/ 600 h 657"/>
              <a:gd name="T50" fmla="*/ 200 w 219"/>
              <a:gd name="T51" fmla="*/ 614 h 657"/>
              <a:gd name="T52" fmla="*/ 186 w 219"/>
              <a:gd name="T53" fmla="*/ 624 h 657"/>
              <a:gd name="T54" fmla="*/ 176 w 219"/>
              <a:gd name="T55" fmla="*/ 638 h 657"/>
              <a:gd name="T56" fmla="*/ 162 w 219"/>
              <a:gd name="T57" fmla="*/ 648 h 657"/>
              <a:gd name="T58" fmla="*/ 143 w 219"/>
              <a:gd name="T59" fmla="*/ 652 h 657"/>
              <a:gd name="T60" fmla="*/ 129 w 219"/>
              <a:gd name="T61" fmla="*/ 657 h 657"/>
              <a:gd name="T62" fmla="*/ 110 w 219"/>
              <a:gd name="T63" fmla="*/ 657 h 657"/>
              <a:gd name="T64" fmla="*/ 91 w 219"/>
              <a:gd name="T65" fmla="*/ 657 h 657"/>
              <a:gd name="T66" fmla="*/ 76 w 219"/>
              <a:gd name="T67" fmla="*/ 652 h 657"/>
              <a:gd name="T68" fmla="*/ 57 w 219"/>
              <a:gd name="T69" fmla="*/ 648 h 657"/>
              <a:gd name="T70" fmla="*/ 43 w 219"/>
              <a:gd name="T71" fmla="*/ 638 h 657"/>
              <a:gd name="T72" fmla="*/ 33 w 219"/>
              <a:gd name="T73" fmla="*/ 624 h 657"/>
              <a:gd name="T74" fmla="*/ 19 w 219"/>
              <a:gd name="T75" fmla="*/ 614 h 657"/>
              <a:gd name="T76" fmla="*/ 14 w 219"/>
              <a:gd name="T77" fmla="*/ 600 h 657"/>
              <a:gd name="T78" fmla="*/ 5 w 219"/>
              <a:gd name="T79" fmla="*/ 581 h 657"/>
              <a:gd name="T80" fmla="*/ 0 w 219"/>
              <a:gd name="T81" fmla="*/ 567 h 657"/>
              <a:gd name="T82" fmla="*/ 0 w 219"/>
              <a:gd name="T83" fmla="*/ 548 h 657"/>
              <a:gd name="T84" fmla="*/ 0 w 219"/>
              <a:gd name="T85" fmla="*/ 110 h 657"/>
              <a:gd name="T86" fmla="*/ 0 w 219"/>
              <a:gd name="T87" fmla="*/ 110 h 657"/>
              <a:gd name="T88" fmla="*/ 0 w 219"/>
              <a:gd name="T89" fmla="*/ 105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9" h="657">
                <a:moveTo>
                  <a:pt x="0" y="105"/>
                </a:moveTo>
                <a:lnTo>
                  <a:pt x="0" y="91"/>
                </a:lnTo>
                <a:lnTo>
                  <a:pt x="5" y="77"/>
                </a:lnTo>
                <a:lnTo>
                  <a:pt x="14" y="58"/>
                </a:lnTo>
                <a:lnTo>
                  <a:pt x="19" y="43"/>
                </a:lnTo>
                <a:lnTo>
                  <a:pt x="33" y="34"/>
                </a:lnTo>
                <a:lnTo>
                  <a:pt x="43" y="19"/>
                </a:lnTo>
                <a:lnTo>
                  <a:pt x="57" y="10"/>
                </a:lnTo>
                <a:lnTo>
                  <a:pt x="76" y="5"/>
                </a:lnTo>
                <a:lnTo>
                  <a:pt x="91" y="0"/>
                </a:lnTo>
                <a:lnTo>
                  <a:pt x="110" y="0"/>
                </a:lnTo>
                <a:lnTo>
                  <a:pt x="129" y="0"/>
                </a:lnTo>
                <a:lnTo>
                  <a:pt x="143" y="5"/>
                </a:lnTo>
                <a:lnTo>
                  <a:pt x="162" y="10"/>
                </a:lnTo>
                <a:lnTo>
                  <a:pt x="176" y="19"/>
                </a:lnTo>
                <a:lnTo>
                  <a:pt x="186" y="34"/>
                </a:lnTo>
                <a:lnTo>
                  <a:pt x="200" y="43"/>
                </a:lnTo>
                <a:lnTo>
                  <a:pt x="210" y="58"/>
                </a:lnTo>
                <a:lnTo>
                  <a:pt x="214" y="77"/>
                </a:lnTo>
                <a:lnTo>
                  <a:pt x="219" y="91"/>
                </a:lnTo>
                <a:lnTo>
                  <a:pt x="219" y="110"/>
                </a:lnTo>
                <a:lnTo>
                  <a:pt x="219" y="548"/>
                </a:lnTo>
                <a:lnTo>
                  <a:pt x="219" y="567"/>
                </a:lnTo>
                <a:lnTo>
                  <a:pt x="214" y="581"/>
                </a:lnTo>
                <a:lnTo>
                  <a:pt x="210" y="600"/>
                </a:lnTo>
                <a:lnTo>
                  <a:pt x="200" y="614"/>
                </a:lnTo>
                <a:lnTo>
                  <a:pt x="186" y="624"/>
                </a:lnTo>
                <a:lnTo>
                  <a:pt x="176" y="638"/>
                </a:lnTo>
                <a:lnTo>
                  <a:pt x="162" y="648"/>
                </a:lnTo>
                <a:lnTo>
                  <a:pt x="143" y="652"/>
                </a:lnTo>
                <a:lnTo>
                  <a:pt x="129" y="657"/>
                </a:lnTo>
                <a:lnTo>
                  <a:pt x="110" y="657"/>
                </a:lnTo>
                <a:lnTo>
                  <a:pt x="91" y="657"/>
                </a:lnTo>
                <a:lnTo>
                  <a:pt x="76" y="652"/>
                </a:lnTo>
                <a:lnTo>
                  <a:pt x="57" y="648"/>
                </a:lnTo>
                <a:lnTo>
                  <a:pt x="43" y="638"/>
                </a:lnTo>
                <a:lnTo>
                  <a:pt x="33" y="624"/>
                </a:lnTo>
                <a:lnTo>
                  <a:pt x="19" y="614"/>
                </a:lnTo>
                <a:lnTo>
                  <a:pt x="14" y="600"/>
                </a:lnTo>
                <a:lnTo>
                  <a:pt x="5" y="581"/>
                </a:lnTo>
                <a:lnTo>
                  <a:pt x="0" y="567"/>
                </a:lnTo>
                <a:lnTo>
                  <a:pt x="0" y="548"/>
                </a:lnTo>
                <a:lnTo>
                  <a:pt x="0" y="110"/>
                </a:lnTo>
                <a:lnTo>
                  <a:pt x="0" y="110"/>
                </a:lnTo>
                <a:lnTo>
                  <a:pt x="0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98" name="Freeform 11060"/>
          <p:cNvSpPr>
            <a:spLocks/>
          </p:cNvSpPr>
          <p:nvPr/>
        </p:nvSpPr>
        <p:spPr bwMode="auto">
          <a:xfrm>
            <a:off x="4988877" y="4832350"/>
            <a:ext cx="139065" cy="417195"/>
          </a:xfrm>
          <a:custGeom>
            <a:avLst/>
            <a:gdLst>
              <a:gd name="T0" fmla="*/ 0 w 219"/>
              <a:gd name="T1" fmla="*/ 105 h 657"/>
              <a:gd name="T2" fmla="*/ 0 w 219"/>
              <a:gd name="T3" fmla="*/ 91 h 657"/>
              <a:gd name="T4" fmla="*/ 5 w 219"/>
              <a:gd name="T5" fmla="*/ 77 h 657"/>
              <a:gd name="T6" fmla="*/ 14 w 219"/>
              <a:gd name="T7" fmla="*/ 58 h 657"/>
              <a:gd name="T8" fmla="*/ 19 w 219"/>
              <a:gd name="T9" fmla="*/ 43 h 657"/>
              <a:gd name="T10" fmla="*/ 33 w 219"/>
              <a:gd name="T11" fmla="*/ 34 h 657"/>
              <a:gd name="T12" fmla="*/ 43 w 219"/>
              <a:gd name="T13" fmla="*/ 19 h 657"/>
              <a:gd name="T14" fmla="*/ 57 w 219"/>
              <a:gd name="T15" fmla="*/ 10 h 657"/>
              <a:gd name="T16" fmla="*/ 76 w 219"/>
              <a:gd name="T17" fmla="*/ 5 h 657"/>
              <a:gd name="T18" fmla="*/ 91 w 219"/>
              <a:gd name="T19" fmla="*/ 0 h 657"/>
              <a:gd name="T20" fmla="*/ 110 w 219"/>
              <a:gd name="T21" fmla="*/ 0 h 657"/>
              <a:gd name="T22" fmla="*/ 129 w 219"/>
              <a:gd name="T23" fmla="*/ 0 h 657"/>
              <a:gd name="T24" fmla="*/ 143 w 219"/>
              <a:gd name="T25" fmla="*/ 5 h 657"/>
              <a:gd name="T26" fmla="*/ 162 w 219"/>
              <a:gd name="T27" fmla="*/ 10 h 657"/>
              <a:gd name="T28" fmla="*/ 176 w 219"/>
              <a:gd name="T29" fmla="*/ 19 h 657"/>
              <a:gd name="T30" fmla="*/ 186 w 219"/>
              <a:gd name="T31" fmla="*/ 34 h 657"/>
              <a:gd name="T32" fmla="*/ 200 w 219"/>
              <a:gd name="T33" fmla="*/ 43 h 657"/>
              <a:gd name="T34" fmla="*/ 210 w 219"/>
              <a:gd name="T35" fmla="*/ 58 h 657"/>
              <a:gd name="T36" fmla="*/ 214 w 219"/>
              <a:gd name="T37" fmla="*/ 77 h 657"/>
              <a:gd name="T38" fmla="*/ 219 w 219"/>
              <a:gd name="T39" fmla="*/ 91 h 657"/>
              <a:gd name="T40" fmla="*/ 219 w 219"/>
              <a:gd name="T41" fmla="*/ 110 h 657"/>
              <a:gd name="T42" fmla="*/ 219 w 219"/>
              <a:gd name="T43" fmla="*/ 548 h 657"/>
              <a:gd name="T44" fmla="*/ 219 w 219"/>
              <a:gd name="T45" fmla="*/ 567 h 657"/>
              <a:gd name="T46" fmla="*/ 214 w 219"/>
              <a:gd name="T47" fmla="*/ 581 h 657"/>
              <a:gd name="T48" fmla="*/ 210 w 219"/>
              <a:gd name="T49" fmla="*/ 600 h 657"/>
              <a:gd name="T50" fmla="*/ 200 w 219"/>
              <a:gd name="T51" fmla="*/ 614 h 657"/>
              <a:gd name="T52" fmla="*/ 186 w 219"/>
              <a:gd name="T53" fmla="*/ 624 h 657"/>
              <a:gd name="T54" fmla="*/ 176 w 219"/>
              <a:gd name="T55" fmla="*/ 638 h 657"/>
              <a:gd name="T56" fmla="*/ 162 w 219"/>
              <a:gd name="T57" fmla="*/ 648 h 657"/>
              <a:gd name="T58" fmla="*/ 143 w 219"/>
              <a:gd name="T59" fmla="*/ 652 h 657"/>
              <a:gd name="T60" fmla="*/ 129 w 219"/>
              <a:gd name="T61" fmla="*/ 657 h 657"/>
              <a:gd name="T62" fmla="*/ 110 w 219"/>
              <a:gd name="T63" fmla="*/ 657 h 657"/>
              <a:gd name="T64" fmla="*/ 91 w 219"/>
              <a:gd name="T65" fmla="*/ 657 h 657"/>
              <a:gd name="T66" fmla="*/ 76 w 219"/>
              <a:gd name="T67" fmla="*/ 652 h 657"/>
              <a:gd name="T68" fmla="*/ 57 w 219"/>
              <a:gd name="T69" fmla="*/ 648 h 657"/>
              <a:gd name="T70" fmla="*/ 43 w 219"/>
              <a:gd name="T71" fmla="*/ 638 h 657"/>
              <a:gd name="T72" fmla="*/ 33 w 219"/>
              <a:gd name="T73" fmla="*/ 624 h 657"/>
              <a:gd name="T74" fmla="*/ 19 w 219"/>
              <a:gd name="T75" fmla="*/ 614 h 657"/>
              <a:gd name="T76" fmla="*/ 14 w 219"/>
              <a:gd name="T77" fmla="*/ 600 h 657"/>
              <a:gd name="T78" fmla="*/ 5 w 219"/>
              <a:gd name="T79" fmla="*/ 581 h 657"/>
              <a:gd name="T80" fmla="*/ 0 w 219"/>
              <a:gd name="T81" fmla="*/ 567 h 657"/>
              <a:gd name="T82" fmla="*/ 0 w 219"/>
              <a:gd name="T83" fmla="*/ 548 h 657"/>
              <a:gd name="T84" fmla="*/ 0 w 219"/>
              <a:gd name="T85" fmla="*/ 110 h 657"/>
              <a:gd name="T86" fmla="*/ 0 w 219"/>
              <a:gd name="T87" fmla="*/ 110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9" h="657">
                <a:moveTo>
                  <a:pt x="0" y="105"/>
                </a:moveTo>
                <a:lnTo>
                  <a:pt x="0" y="91"/>
                </a:lnTo>
                <a:lnTo>
                  <a:pt x="5" y="77"/>
                </a:lnTo>
                <a:lnTo>
                  <a:pt x="14" y="58"/>
                </a:lnTo>
                <a:lnTo>
                  <a:pt x="19" y="43"/>
                </a:lnTo>
                <a:lnTo>
                  <a:pt x="33" y="34"/>
                </a:lnTo>
                <a:lnTo>
                  <a:pt x="43" y="19"/>
                </a:lnTo>
                <a:lnTo>
                  <a:pt x="57" y="10"/>
                </a:lnTo>
                <a:lnTo>
                  <a:pt x="76" y="5"/>
                </a:lnTo>
                <a:lnTo>
                  <a:pt x="91" y="0"/>
                </a:lnTo>
                <a:lnTo>
                  <a:pt x="110" y="0"/>
                </a:lnTo>
                <a:lnTo>
                  <a:pt x="129" y="0"/>
                </a:lnTo>
                <a:lnTo>
                  <a:pt x="143" y="5"/>
                </a:lnTo>
                <a:lnTo>
                  <a:pt x="162" y="10"/>
                </a:lnTo>
                <a:lnTo>
                  <a:pt x="176" y="19"/>
                </a:lnTo>
                <a:lnTo>
                  <a:pt x="186" y="34"/>
                </a:lnTo>
                <a:lnTo>
                  <a:pt x="200" y="43"/>
                </a:lnTo>
                <a:lnTo>
                  <a:pt x="210" y="58"/>
                </a:lnTo>
                <a:lnTo>
                  <a:pt x="214" y="77"/>
                </a:lnTo>
                <a:lnTo>
                  <a:pt x="219" y="91"/>
                </a:lnTo>
                <a:lnTo>
                  <a:pt x="219" y="110"/>
                </a:lnTo>
                <a:lnTo>
                  <a:pt x="219" y="548"/>
                </a:lnTo>
                <a:lnTo>
                  <a:pt x="219" y="567"/>
                </a:lnTo>
                <a:lnTo>
                  <a:pt x="214" y="581"/>
                </a:lnTo>
                <a:lnTo>
                  <a:pt x="210" y="600"/>
                </a:lnTo>
                <a:lnTo>
                  <a:pt x="200" y="614"/>
                </a:lnTo>
                <a:lnTo>
                  <a:pt x="186" y="624"/>
                </a:lnTo>
                <a:lnTo>
                  <a:pt x="176" y="638"/>
                </a:lnTo>
                <a:lnTo>
                  <a:pt x="162" y="648"/>
                </a:lnTo>
                <a:lnTo>
                  <a:pt x="143" y="652"/>
                </a:lnTo>
                <a:lnTo>
                  <a:pt x="129" y="657"/>
                </a:lnTo>
                <a:lnTo>
                  <a:pt x="110" y="657"/>
                </a:lnTo>
                <a:lnTo>
                  <a:pt x="91" y="657"/>
                </a:lnTo>
                <a:lnTo>
                  <a:pt x="76" y="652"/>
                </a:lnTo>
                <a:lnTo>
                  <a:pt x="57" y="648"/>
                </a:lnTo>
                <a:lnTo>
                  <a:pt x="43" y="638"/>
                </a:lnTo>
                <a:lnTo>
                  <a:pt x="33" y="624"/>
                </a:lnTo>
                <a:lnTo>
                  <a:pt x="19" y="614"/>
                </a:lnTo>
                <a:lnTo>
                  <a:pt x="14" y="600"/>
                </a:lnTo>
                <a:lnTo>
                  <a:pt x="5" y="581"/>
                </a:lnTo>
                <a:lnTo>
                  <a:pt x="0" y="567"/>
                </a:lnTo>
                <a:lnTo>
                  <a:pt x="0" y="548"/>
                </a:lnTo>
                <a:lnTo>
                  <a:pt x="0" y="110"/>
                </a:lnTo>
                <a:lnTo>
                  <a:pt x="0" y="110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99" name="Rectangle 11061"/>
          <p:cNvSpPr>
            <a:spLocks noChangeArrowheads="1"/>
          </p:cNvSpPr>
          <p:nvPr/>
        </p:nvSpPr>
        <p:spPr bwMode="auto">
          <a:xfrm>
            <a:off x="5025072" y="4920615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00" name="Rectangle 11062"/>
          <p:cNvSpPr>
            <a:spLocks noChangeArrowheads="1"/>
          </p:cNvSpPr>
          <p:nvPr/>
        </p:nvSpPr>
        <p:spPr bwMode="auto">
          <a:xfrm>
            <a:off x="5085397" y="492061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101" name="Rectangle 11063"/>
          <p:cNvSpPr>
            <a:spLocks noChangeArrowheads="1"/>
          </p:cNvSpPr>
          <p:nvPr/>
        </p:nvSpPr>
        <p:spPr bwMode="auto">
          <a:xfrm>
            <a:off x="5037137" y="499618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02" name="Rectangle 11064"/>
          <p:cNvSpPr>
            <a:spLocks noChangeArrowheads="1"/>
          </p:cNvSpPr>
          <p:nvPr/>
        </p:nvSpPr>
        <p:spPr bwMode="auto">
          <a:xfrm>
            <a:off x="5079682" y="499618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103" name="Rectangle 11065"/>
          <p:cNvSpPr>
            <a:spLocks noChangeArrowheads="1"/>
          </p:cNvSpPr>
          <p:nvPr/>
        </p:nvSpPr>
        <p:spPr bwMode="auto">
          <a:xfrm>
            <a:off x="5037137" y="507174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04" name="Rectangle 11066"/>
          <p:cNvSpPr>
            <a:spLocks noChangeArrowheads="1"/>
          </p:cNvSpPr>
          <p:nvPr/>
        </p:nvSpPr>
        <p:spPr bwMode="auto">
          <a:xfrm>
            <a:off x="7549197" y="387477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05" name="Rectangle 11067"/>
          <p:cNvSpPr>
            <a:spLocks noChangeArrowheads="1"/>
          </p:cNvSpPr>
          <p:nvPr/>
        </p:nvSpPr>
        <p:spPr bwMode="auto">
          <a:xfrm>
            <a:off x="7612697" y="387477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106" name="Rectangle 11068"/>
          <p:cNvSpPr>
            <a:spLocks noChangeArrowheads="1"/>
          </p:cNvSpPr>
          <p:nvPr/>
        </p:nvSpPr>
        <p:spPr bwMode="auto">
          <a:xfrm>
            <a:off x="7561262" y="39477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07" name="Rectangle 11069"/>
          <p:cNvSpPr>
            <a:spLocks noChangeArrowheads="1"/>
          </p:cNvSpPr>
          <p:nvPr/>
        </p:nvSpPr>
        <p:spPr bwMode="auto">
          <a:xfrm>
            <a:off x="7603807" y="394779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108" name="Rectangle 11070"/>
          <p:cNvSpPr>
            <a:spLocks noChangeArrowheads="1"/>
          </p:cNvSpPr>
          <p:nvPr/>
        </p:nvSpPr>
        <p:spPr bwMode="auto">
          <a:xfrm>
            <a:off x="7561262" y="402336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09" name="Freeform 11071"/>
          <p:cNvSpPr>
            <a:spLocks/>
          </p:cNvSpPr>
          <p:nvPr/>
        </p:nvSpPr>
        <p:spPr bwMode="auto">
          <a:xfrm>
            <a:off x="4293552" y="3926205"/>
            <a:ext cx="39370" cy="36195"/>
          </a:xfrm>
          <a:custGeom>
            <a:avLst/>
            <a:gdLst>
              <a:gd name="T0" fmla="*/ 0 w 62"/>
              <a:gd name="T1" fmla="*/ 0 h 57"/>
              <a:gd name="T2" fmla="*/ 0 w 62"/>
              <a:gd name="T3" fmla="*/ 57 h 57"/>
              <a:gd name="T4" fmla="*/ 62 w 62"/>
              <a:gd name="T5" fmla="*/ 28 h 57"/>
              <a:gd name="T6" fmla="*/ 0 w 62"/>
              <a:gd name="T7" fmla="*/ 0 h 57"/>
              <a:gd name="T8" fmla="*/ 0 w 62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0" y="57"/>
                </a:lnTo>
                <a:lnTo>
                  <a:pt x="62" y="2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110" name="Line 11072"/>
          <p:cNvCxnSpPr/>
          <p:nvPr/>
        </p:nvCxnSpPr>
        <p:spPr bwMode="auto">
          <a:xfrm flipH="1">
            <a:off x="4487227" y="3943985"/>
            <a:ext cx="471805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Line 11073"/>
          <p:cNvCxnSpPr/>
          <p:nvPr/>
        </p:nvCxnSpPr>
        <p:spPr bwMode="auto">
          <a:xfrm flipH="1">
            <a:off x="4027487" y="3943985"/>
            <a:ext cx="272415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" name="Freeform 11074"/>
          <p:cNvSpPr>
            <a:spLocks/>
          </p:cNvSpPr>
          <p:nvPr/>
        </p:nvSpPr>
        <p:spPr bwMode="auto">
          <a:xfrm>
            <a:off x="6270942" y="3771900"/>
            <a:ext cx="36195" cy="36195"/>
          </a:xfrm>
          <a:custGeom>
            <a:avLst/>
            <a:gdLst>
              <a:gd name="T0" fmla="*/ 23 w 57"/>
              <a:gd name="T1" fmla="*/ 57 h 57"/>
              <a:gd name="T2" fmla="*/ 33 w 57"/>
              <a:gd name="T3" fmla="*/ 57 h 57"/>
              <a:gd name="T4" fmla="*/ 38 w 57"/>
              <a:gd name="T5" fmla="*/ 57 h 57"/>
              <a:gd name="T6" fmla="*/ 42 w 57"/>
              <a:gd name="T7" fmla="*/ 57 h 57"/>
              <a:gd name="T8" fmla="*/ 42 w 57"/>
              <a:gd name="T9" fmla="*/ 52 h 57"/>
              <a:gd name="T10" fmla="*/ 47 w 57"/>
              <a:gd name="T11" fmla="*/ 52 h 57"/>
              <a:gd name="T12" fmla="*/ 52 w 57"/>
              <a:gd name="T13" fmla="*/ 48 h 57"/>
              <a:gd name="T14" fmla="*/ 52 w 57"/>
              <a:gd name="T15" fmla="*/ 43 h 57"/>
              <a:gd name="T16" fmla="*/ 57 w 57"/>
              <a:gd name="T17" fmla="*/ 38 h 57"/>
              <a:gd name="T18" fmla="*/ 57 w 57"/>
              <a:gd name="T19" fmla="*/ 33 h 57"/>
              <a:gd name="T20" fmla="*/ 57 w 57"/>
              <a:gd name="T21" fmla="*/ 29 h 57"/>
              <a:gd name="T22" fmla="*/ 57 w 57"/>
              <a:gd name="T23" fmla="*/ 24 h 57"/>
              <a:gd name="T24" fmla="*/ 57 w 57"/>
              <a:gd name="T25" fmla="*/ 19 h 57"/>
              <a:gd name="T26" fmla="*/ 52 w 57"/>
              <a:gd name="T27" fmla="*/ 14 h 57"/>
              <a:gd name="T28" fmla="*/ 52 w 57"/>
              <a:gd name="T29" fmla="*/ 14 h 57"/>
              <a:gd name="T30" fmla="*/ 47 w 57"/>
              <a:gd name="T31" fmla="*/ 10 h 57"/>
              <a:gd name="T32" fmla="*/ 42 w 57"/>
              <a:gd name="T33" fmla="*/ 5 h 57"/>
              <a:gd name="T34" fmla="*/ 42 w 57"/>
              <a:gd name="T35" fmla="*/ 5 h 57"/>
              <a:gd name="T36" fmla="*/ 38 w 57"/>
              <a:gd name="T37" fmla="*/ 0 h 57"/>
              <a:gd name="T38" fmla="*/ 33 w 57"/>
              <a:gd name="T39" fmla="*/ 0 h 57"/>
              <a:gd name="T40" fmla="*/ 28 w 57"/>
              <a:gd name="T41" fmla="*/ 0 h 57"/>
              <a:gd name="T42" fmla="*/ 23 w 57"/>
              <a:gd name="T43" fmla="*/ 0 h 57"/>
              <a:gd name="T44" fmla="*/ 19 w 57"/>
              <a:gd name="T45" fmla="*/ 0 h 57"/>
              <a:gd name="T46" fmla="*/ 14 w 57"/>
              <a:gd name="T47" fmla="*/ 5 h 57"/>
              <a:gd name="T48" fmla="*/ 9 w 57"/>
              <a:gd name="T49" fmla="*/ 5 h 57"/>
              <a:gd name="T50" fmla="*/ 4 w 57"/>
              <a:gd name="T51" fmla="*/ 10 h 57"/>
              <a:gd name="T52" fmla="*/ 4 w 57"/>
              <a:gd name="T53" fmla="*/ 14 h 57"/>
              <a:gd name="T54" fmla="*/ 0 w 57"/>
              <a:gd name="T55" fmla="*/ 14 h 57"/>
              <a:gd name="T56" fmla="*/ 0 w 57"/>
              <a:gd name="T57" fmla="*/ 19 h 57"/>
              <a:gd name="T58" fmla="*/ 0 w 57"/>
              <a:gd name="T59" fmla="*/ 24 h 57"/>
              <a:gd name="T60" fmla="*/ 0 w 57"/>
              <a:gd name="T61" fmla="*/ 29 h 57"/>
              <a:gd name="T62" fmla="*/ 0 w 57"/>
              <a:gd name="T63" fmla="*/ 33 h 57"/>
              <a:gd name="T64" fmla="*/ 0 w 57"/>
              <a:gd name="T65" fmla="*/ 38 h 57"/>
              <a:gd name="T66" fmla="*/ 0 w 57"/>
              <a:gd name="T67" fmla="*/ 43 h 57"/>
              <a:gd name="T68" fmla="*/ 4 w 57"/>
              <a:gd name="T69" fmla="*/ 48 h 57"/>
              <a:gd name="T70" fmla="*/ 4 w 57"/>
              <a:gd name="T71" fmla="*/ 52 h 57"/>
              <a:gd name="T72" fmla="*/ 9 w 57"/>
              <a:gd name="T73" fmla="*/ 52 h 57"/>
              <a:gd name="T74" fmla="*/ 14 w 57"/>
              <a:gd name="T75" fmla="*/ 57 h 57"/>
              <a:gd name="T76" fmla="*/ 19 w 57"/>
              <a:gd name="T77" fmla="*/ 57 h 57"/>
              <a:gd name="T78" fmla="*/ 23 w 57"/>
              <a:gd name="T79" fmla="*/ 57 h 57"/>
              <a:gd name="T80" fmla="*/ 28 w 57"/>
              <a:gd name="T81" fmla="*/ 57 h 57"/>
              <a:gd name="T82" fmla="*/ 28 w 57"/>
              <a:gd name="T83" fmla="*/ 57 h 57"/>
              <a:gd name="T84" fmla="*/ 23 w 57"/>
              <a:gd name="T85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7" h="57">
                <a:moveTo>
                  <a:pt x="23" y="57"/>
                </a:moveTo>
                <a:lnTo>
                  <a:pt x="33" y="57"/>
                </a:lnTo>
                <a:lnTo>
                  <a:pt x="38" y="57"/>
                </a:lnTo>
                <a:lnTo>
                  <a:pt x="42" y="57"/>
                </a:lnTo>
                <a:lnTo>
                  <a:pt x="42" y="52"/>
                </a:lnTo>
                <a:lnTo>
                  <a:pt x="47" y="52"/>
                </a:lnTo>
                <a:lnTo>
                  <a:pt x="52" y="48"/>
                </a:lnTo>
                <a:lnTo>
                  <a:pt x="52" y="43"/>
                </a:lnTo>
                <a:lnTo>
                  <a:pt x="57" y="38"/>
                </a:lnTo>
                <a:lnTo>
                  <a:pt x="57" y="33"/>
                </a:lnTo>
                <a:lnTo>
                  <a:pt x="57" y="29"/>
                </a:lnTo>
                <a:lnTo>
                  <a:pt x="57" y="24"/>
                </a:lnTo>
                <a:lnTo>
                  <a:pt x="57" y="19"/>
                </a:lnTo>
                <a:lnTo>
                  <a:pt x="52" y="14"/>
                </a:lnTo>
                <a:lnTo>
                  <a:pt x="52" y="14"/>
                </a:lnTo>
                <a:lnTo>
                  <a:pt x="47" y="10"/>
                </a:lnTo>
                <a:lnTo>
                  <a:pt x="42" y="5"/>
                </a:lnTo>
                <a:lnTo>
                  <a:pt x="42" y="5"/>
                </a:lnTo>
                <a:lnTo>
                  <a:pt x="38" y="0"/>
                </a:lnTo>
                <a:lnTo>
                  <a:pt x="33" y="0"/>
                </a:lnTo>
                <a:lnTo>
                  <a:pt x="28" y="0"/>
                </a:lnTo>
                <a:lnTo>
                  <a:pt x="23" y="0"/>
                </a:lnTo>
                <a:lnTo>
                  <a:pt x="19" y="0"/>
                </a:lnTo>
                <a:lnTo>
                  <a:pt x="14" y="5"/>
                </a:lnTo>
                <a:lnTo>
                  <a:pt x="9" y="5"/>
                </a:lnTo>
                <a:lnTo>
                  <a:pt x="4" y="10"/>
                </a:lnTo>
                <a:lnTo>
                  <a:pt x="4" y="14"/>
                </a:lnTo>
                <a:lnTo>
                  <a:pt x="0" y="14"/>
                </a:lnTo>
                <a:lnTo>
                  <a:pt x="0" y="19"/>
                </a:lnTo>
                <a:lnTo>
                  <a:pt x="0" y="24"/>
                </a:lnTo>
                <a:lnTo>
                  <a:pt x="0" y="29"/>
                </a:lnTo>
                <a:lnTo>
                  <a:pt x="0" y="33"/>
                </a:lnTo>
                <a:lnTo>
                  <a:pt x="0" y="38"/>
                </a:lnTo>
                <a:lnTo>
                  <a:pt x="0" y="43"/>
                </a:lnTo>
                <a:lnTo>
                  <a:pt x="4" y="48"/>
                </a:lnTo>
                <a:lnTo>
                  <a:pt x="4" y="52"/>
                </a:lnTo>
                <a:lnTo>
                  <a:pt x="9" y="52"/>
                </a:lnTo>
                <a:lnTo>
                  <a:pt x="14" y="57"/>
                </a:lnTo>
                <a:lnTo>
                  <a:pt x="19" y="57"/>
                </a:lnTo>
                <a:lnTo>
                  <a:pt x="23" y="57"/>
                </a:lnTo>
                <a:lnTo>
                  <a:pt x="28" y="57"/>
                </a:lnTo>
                <a:lnTo>
                  <a:pt x="28" y="57"/>
                </a:lnTo>
                <a:lnTo>
                  <a:pt x="23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13" name="Freeform 11075"/>
          <p:cNvSpPr>
            <a:spLocks/>
          </p:cNvSpPr>
          <p:nvPr/>
        </p:nvSpPr>
        <p:spPr bwMode="auto">
          <a:xfrm>
            <a:off x="3027362" y="2285365"/>
            <a:ext cx="280670" cy="652780"/>
          </a:xfrm>
          <a:custGeom>
            <a:avLst/>
            <a:gdLst>
              <a:gd name="T0" fmla="*/ 219 w 442"/>
              <a:gd name="T1" fmla="*/ 1023 h 1028"/>
              <a:gd name="T2" fmla="*/ 257 w 442"/>
              <a:gd name="T3" fmla="*/ 1018 h 1028"/>
              <a:gd name="T4" fmla="*/ 295 w 442"/>
              <a:gd name="T5" fmla="*/ 999 h 1028"/>
              <a:gd name="T6" fmla="*/ 328 w 442"/>
              <a:gd name="T7" fmla="*/ 971 h 1028"/>
              <a:gd name="T8" fmla="*/ 357 w 442"/>
              <a:gd name="T9" fmla="*/ 928 h 1028"/>
              <a:gd name="T10" fmla="*/ 380 w 442"/>
              <a:gd name="T11" fmla="*/ 875 h 1028"/>
              <a:gd name="T12" fmla="*/ 404 w 442"/>
              <a:gd name="T13" fmla="*/ 818 h 1028"/>
              <a:gd name="T14" fmla="*/ 418 w 442"/>
              <a:gd name="T15" fmla="*/ 747 h 1028"/>
              <a:gd name="T16" fmla="*/ 433 w 442"/>
              <a:gd name="T17" fmla="*/ 676 h 1028"/>
              <a:gd name="T18" fmla="*/ 442 w 442"/>
              <a:gd name="T19" fmla="*/ 595 h 1028"/>
              <a:gd name="T20" fmla="*/ 442 w 442"/>
              <a:gd name="T21" fmla="*/ 514 h 1028"/>
              <a:gd name="T22" fmla="*/ 442 w 442"/>
              <a:gd name="T23" fmla="*/ 428 h 1028"/>
              <a:gd name="T24" fmla="*/ 433 w 442"/>
              <a:gd name="T25" fmla="*/ 352 h 1028"/>
              <a:gd name="T26" fmla="*/ 418 w 442"/>
              <a:gd name="T27" fmla="*/ 276 h 1028"/>
              <a:gd name="T28" fmla="*/ 404 w 442"/>
              <a:gd name="T29" fmla="*/ 209 h 1028"/>
              <a:gd name="T30" fmla="*/ 380 w 442"/>
              <a:gd name="T31" fmla="*/ 147 h 1028"/>
              <a:gd name="T32" fmla="*/ 357 w 442"/>
              <a:gd name="T33" fmla="*/ 100 h 1028"/>
              <a:gd name="T34" fmla="*/ 328 w 442"/>
              <a:gd name="T35" fmla="*/ 57 h 1028"/>
              <a:gd name="T36" fmla="*/ 295 w 442"/>
              <a:gd name="T37" fmla="*/ 24 h 1028"/>
              <a:gd name="T38" fmla="*/ 257 w 442"/>
              <a:gd name="T39" fmla="*/ 5 h 1028"/>
              <a:gd name="T40" fmla="*/ 219 w 442"/>
              <a:gd name="T41" fmla="*/ 0 h 1028"/>
              <a:gd name="T42" fmla="*/ 180 w 442"/>
              <a:gd name="T43" fmla="*/ 5 h 1028"/>
              <a:gd name="T44" fmla="*/ 147 w 442"/>
              <a:gd name="T45" fmla="*/ 24 h 1028"/>
              <a:gd name="T46" fmla="*/ 114 w 442"/>
              <a:gd name="T47" fmla="*/ 57 h 1028"/>
              <a:gd name="T48" fmla="*/ 85 w 442"/>
              <a:gd name="T49" fmla="*/ 100 h 1028"/>
              <a:gd name="T50" fmla="*/ 57 w 442"/>
              <a:gd name="T51" fmla="*/ 147 h 1028"/>
              <a:gd name="T52" fmla="*/ 38 w 442"/>
              <a:gd name="T53" fmla="*/ 209 h 1028"/>
              <a:gd name="T54" fmla="*/ 19 w 442"/>
              <a:gd name="T55" fmla="*/ 276 h 1028"/>
              <a:gd name="T56" fmla="*/ 9 w 442"/>
              <a:gd name="T57" fmla="*/ 352 h 1028"/>
              <a:gd name="T58" fmla="*/ 0 w 442"/>
              <a:gd name="T59" fmla="*/ 428 h 1028"/>
              <a:gd name="T60" fmla="*/ 0 w 442"/>
              <a:gd name="T61" fmla="*/ 514 h 1028"/>
              <a:gd name="T62" fmla="*/ 0 w 442"/>
              <a:gd name="T63" fmla="*/ 595 h 1028"/>
              <a:gd name="T64" fmla="*/ 9 w 442"/>
              <a:gd name="T65" fmla="*/ 676 h 1028"/>
              <a:gd name="T66" fmla="*/ 19 w 442"/>
              <a:gd name="T67" fmla="*/ 747 h 1028"/>
              <a:gd name="T68" fmla="*/ 38 w 442"/>
              <a:gd name="T69" fmla="*/ 818 h 1028"/>
              <a:gd name="T70" fmla="*/ 57 w 442"/>
              <a:gd name="T71" fmla="*/ 875 h 1028"/>
              <a:gd name="T72" fmla="*/ 85 w 442"/>
              <a:gd name="T73" fmla="*/ 928 h 1028"/>
              <a:gd name="T74" fmla="*/ 114 w 442"/>
              <a:gd name="T75" fmla="*/ 971 h 1028"/>
              <a:gd name="T76" fmla="*/ 147 w 442"/>
              <a:gd name="T77" fmla="*/ 999 h 1028"/>
              <a:gd name="T78" fmla="*/ 180 w 442"/>
              <a:gd name="T79" fmla="*/ 1018 h 1028"/>
              <a:gd name="T80" fmla="*/ 219 w 442"/>
              <a:gd name="T81" fmla="*/ 1028 h 1028"/>
              <a:gd name="T82" fmla="*/ 219 w 442"/>
              <a:gd name="T83" fmla="*/ 1028 h 1028"/>
              <a:gd name="T84" fmla="*/ 219 w 442"/>
              <a:gd name="T85" fmla="*/ 1023 h 1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42" h="1028">
                <a:moveTo>
                  <a:pt x="219" y="1023"/>
                </a:moveTo>
                <a:lnTo>
                  <a:pt x="257" y="1018"/>
                </a:lnTo>
                <a:lnTo>
                  <a:pt x="295" y="999"/>
                </a:lnTo>
                <a:lnTo>
                  <a:pt x="328" y="971"/>
                </a:lnTo>
                <a:lnTo>
                  <a:pt x="357" y="928"/>
                </a:lnTo>
                <a:lnTo>
                  <a:pt x="380" y="875"/>
                </a:lnTo>
                <a:lnTo>
                  <a:pt x="404" y="818"/>
                </a:lnTo>
                <a:lnTo>
                  <a:pt x="418" y="747"/>
                </a:lnTo>
                <a:lnTo>
                  <a:pt x="433" y="676"/>
                </a:lnTo>
                <a:lnTo>
                  <a:pt x="442" y="595"/>
                </a:lnTo>
                <a:lnTo>
                  <a:pt x="442" y="514"/>
                </a:lnTo>
                <a:lnTo>
                  <a:pt x="442" y="428"/>
                </a:lnTo>
                <a:lnTo>
                  <a:pt x="433" y="352"/>
                </a:lnTo>
                <a:lnTo>
                  <a:pt x="418" y="276"/>
                </a:lnTo>
                <a:lnTo>
                  <a:pt x="404" y="209"/>
                </a:lnTo>
                <a:lnTo>
                  <a:pt x="380" y="147"/>
                </a:lnTo>
                <a:lnTo>
                  <a:pt x="357" y="100"/>
                </a:lnTo>
                <a:lnTo>
                  <a:pt x="328" y="57"/>
                </a:lnTo>
                <a:lnTo>
                  <a:pt x="295" y="24"/>
                </a:lnTo>
                <a:lnTo>
                  <a:pt x="257" y="5"/>
                </a:lnTo>
                <a:lnTo>
                  <a:pt x="219" y="0"/>
                </a:lnTo>
                <a:lnTo>
                  <a:pt x="180" y="5"/>
                </a:lnTo>
                <a:lnTo>
                  <a:pt x="147" y="24"/>
                </a:lnTo>
                <a:lnTo>
                  <a:pt x="114" y="57"/>
                </a:lnTo>
                <a:lnTo>
                  <a:pt x="85" y="100"/>
                </a:lnTo>
                <a:lnTo>
                  <a:pt x="57" y="147"/>
                </a:lnTo>
                <a:lnTo>
                  <a:pt x="38" y="209"/>
                </a:lnTo>
                <a:lnTo>
                  <a:pt x="19" y="276"/>
                </a:lnTo>
                <a:lnTo>
                  <a:pt x="9" y="352"/>
                </a:lnTo>
                <a:lnTo>
                  <a:pt x="0" y="428"/>
                </a:lnTo>
                <a:lnTo>
                  <a:pt x="0" y="514"/>
                </a:lnTo>
                <a:lnTo>
                  <a:pt x="0" y="595"/>
                </a:lnTo>
                <a:lnTo>
                  <a:pt x="9" y="676"/>
                </a:lnTo>
                <a:lnTo>
                  <a:pt x="19" y="747"/>
                </a:lnTo>
                <a:lnTo>
                  <a:pt x="38" y="818"/>
                </a:lnTo>
                <a:lnTo>
                  <a:pt x="57" y="875"/>
                </a:lnTo>
                <a:lnTo>
                  <a:pt x="85" y="928"/>
                </a:lnTo>
                <a:lnTo>
                  <a:pt x="114" y="971"/>
                </a:lnTo>
                <a:lnTo>
                  <a:pt x="147" y="999"/>
                </a:lnTo>
                <a:lnTo>
                  <a:pt x="180" y="1018"/>
                </a:lnTo>
                <a:lnTo>
                  <a:pt x="219" y="1028"/>
                </a:lnTo>
                <a:lnTo>
                  <a:pt x="219" y="1028"/>
                </a:lnTo>
                <a:lnTo>
                  <a:pt x="219" y="10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14" name="Rectangle 11076"/>
          <p:cNvSpPr>
            <a:spLocks noChangeArrowheads="1"/>
          </p:cNvSpPr>
          <p:nvPr/>
        </p:nvSpPr>
        <p:spPr bwMode="auto">
          <a:xfrm>
            <a:off x="5593397" y="3745230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15" name="Rectangle 11077"/>
          <p:cNvSpPr>
            <a:spLocks noChangeArrowheads="1"/>
          </p:cNvSpPr>
          <p:nvPr/>
        </p:nvSpPr>
        <p:spPr bwMode="auto">
          <a:xfrm>
            <a:off x="5641657" y="37452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L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16" name="Rectangle 11078"/>
          <p:cNvSpPr>
            <a:spLocks noChangeArrowheads="1"/>
          </p:cNvSpPr>
          <p:nvPr/>
        </p:nvSpPr>
        <p:spPr bwMode="auto">
          <a:xfrm>
            <a:off x="5684202" y="3745230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17" name="Freeform 11079"/>
          <p:cNvSpPr>
            <a:spLocks/>
          </p:cNvSpPr>
          <p:nvPr/>
        </p:nvSpPr>
        <p:spPr bwMode="auto">
          <a:xfrm>
            <a:off x="4336097" y="2986405"/>
            <a:ext cx="151130" cy="2187575"/>
          </a:xfrm>
          <a:custGeom>
            <a:avLst/>
            <a:gdLst>
              <a:gd name="T0" fmla="*/ 233 w 238"/>
              <a:gd name="T1" fmla="*/ 3440 h 3445"/>
              <a:gd name="T2" fmla="*/ 238 w 238"/>
              <a:gd name="T3" fmla="*/ 0 h 3445"/>
              <a:gd name="T4" fmla="*/ 0 w 238"/>
              <a:gd name="T5" fmla="*/ 0 h 3445"/>
              <a:gd name="T6" fmla="*/ 0 w 238"/>
              <a:gd name="T7" fmla="*/ 3445 h 3445"/>
              <a:gd name="T8" fmla="*/ 238 w 238"/>
              <a:gd name="T9" fmla="*/ 3445 h 3445"/>
              <a:gd name="T10" fmla="*/ 238 w 238"/>
              <a:gd name="T11" fmla="*/ 3445 h 3445"/>
              <a:gd name="T12" fmla="*/ 233 w 238"/>
              <a:gd name="T13" fmla="*/ 3440 h 3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445">
                <a:moveTo>
                  <a:pt x="233" y="3440"/>
                </a:moveTo>
                <a:lnTo>
                  <a:pt x="238" y="0"/>
                </a:lnTo>
                <a:lnTo>
                  <a:pt x="0" y="0"/>
                </a:lnTo>
                <a:lnTo>
                  <a:pt x="0" y="3445"/>
                </a:lnTo>
                <a:lnTo>
                  <a:pt x="238" y="3445"/>
                </a:lnTo>
                <a:lnTo>
                  <a:pt x="238" y="3445"/>
                </a:lnTo>
                <a:lnTo>
                  <a:pt x="233" y="34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18" name="Freeform 11080"/>
          <p:cNvSpPr>
            <a:spLocks/>
          </p:cNvSpPr>
          <p:nvPr/>
        </p:nvSpPr>
        <p:spPr bwMode="auto">
          <a:xfrm>
            <a:off x="4336097" y="2986405"/>
            <a:ext cx="151130" cy="2187575"/>
          </a:xfrm>
          <a:custGeom>
            <a:avLst/>
            <a:gdLst>
              <a:gd name="T0" fmla="*/ 233 w 238"/>
              <a:gd name="T1" fmla="*/ 3440 h 3445"/>
              <a:gd name="T2" fmla="*/ 238 w 238"/>
              <a:gd name="T3" fmla="*/ 0 h 3445"/>
              <a:gd name="T4" fmla="*/ 0 w 238"/>
              <a:gd name="T5" fmla="*/ 0 h 3445"/>
              <a:gd name="T6" fmla="*/ 0 w 238"/>
              <a:gd name="T7" fmla="*/ 3445 h 3445"/>
              <a:gd name="T8" fmla="*/ 238 w 238"/>
              <a:gd name="T9" fmla="*/ 3445 h 3445"/>
              <a:gd name="T10" fmla="*/ 238 w 238"/>
              <a:gd name="T11" fmla="*/ 3445 h 3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8" h="3445">
                <a:moveTo>
                  <a:pt x="233" y="3440"/>
                </a:moveTo>
                <a:lnTo>
                  <a:pt x="238" y="0"/>
                </a:lnTo>
                <a:lnTo>
                  <a:pt x="0" y="0"/>
                </a:lnTo>
                <a:lnTo>
                  <a:pt x="0" y="3445"/>
                </a:lnTo>
                <a:lnTo>
                  <a:pt x="238" y="3445"/>
                </a:lnTo>
                <a:lnTo>
                  <a:pt x="238" y="3445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19" name="Freeform 11081"/>
          <p:cNvSpPr>
            <a:spLocks/>
          </p:cNvSpPr>
          <p:nvPr/>
        </p:nvSpPr>
        <p:spPr bwMode="auto">
          <a:xfrm>
            <a:off x="2359342" y="3968115"/>
            <a:ext cx="38735" cy="39370"/>
          </a:xfrm>
          <a:custGeom>
            <a:avLst/>
            <a:gdLst>
              <a:gd name="T0" fmla="*/ 0 w 61"/>
              <a:gd name="T1" fmla="*/ 0 h 62"/>
              <a:gd name="T2" fmla="*/ 4 w 61"/>
              <a:gd name="T3" fmla="*/ 62 h 62"/>
              <a:gd name="T4" fmla="*/ 61 w 61"/>
              <a:gd name="T5" fmla="*/ 34 h 62"/>
              <a:gd name="T6" fmla="*/ 4 w 61"/>
              <a:gd name="T7" fmla="*/ 5 h 62"/>
              <a:gd name="T8" fmla="*/ 4 w 61"/>
              <a:gd name="T9" fmla="*/ 5 h 62"/>
              <a:gd name="T10" fmla="*/ 0 w 61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" h="62">
                <a:moveTo>
                  <a:pt x="0" y="0"/>
                </a:moveTo>
                <a:lnTo>
                  <a:pt x="4" y="62"/>
                </a:lnTo>
                <a:lnTo>
                  <a:pt x="61" y="34"/>
                </a:lnTo>
                <a:lnTo>
                  <a:pt x="4" y="5"/>
                </a:lnTo>
                <a:lnTo>
                  <a:pt x="4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120" name="Line 11082"/>
          <p:cNvCxnSpPr/>
          <p:nvPr/>
        </p:nvCxnSpPr>
        <p:spPr bwMode="auto">
          <a:xfrm>
            <a:off x="2289492" y="3986530"/>
            <a:ext cx="81915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" name="Freeform 11083"/>
          <p:cNvSpPr>
            <a:spLocks/>
          </p:cNvSpPr>
          <p:nvPr/>
        </p:nvSpPr>
        <p:spPr bwMode="auto">
          <a:xfrm>
            <a:off x="4293552" y="3336925"/>
            <a:ext cx="39370" cy="39370"/>
          </a:xfrm>
          <a:custGeom>
            <a:avLst/>
            <a:gdLst>
              <a:gd name="T0" fmla="*/ 0 w 62"/>
              <a:gd name="T1" fmla="*/ 0 h 62"/>
              <a:gd name="T2" fmla="*/ 0 w 62"/>
              <a:gd name="T3" fmla="*/ 62 h 62"/>
              <a:gd name="T4" fmla="*/ 62 w 62"/>
              <a:gd name="T5" fmla="*/ 33 h 62"/>
              <a:gd name="T6" fmla="*/ 0 w 62"/>
              <a:gd name="T7" fmla="*/ 5 h 62"/>
              <a:gd name="T8" fmla="*/ 0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0" y="62"/>
                </a:lnTo>
                <a:lnTo>
                  <a:pt x="62" y="33"/>
                </a:lnTo>
                <a:lnTo>
                  <a:pt x="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22" name="Freeform 11084"/>
          <p:cNvSpPr>
            <a:spLocks/>
          </p:cNvSpPr>
          <p:nvPr/>
        </p:nvSpPr>
        <p:spPr bwMode="auto">
          <a:xfrm>
            <a:off x="4290377" y="4742180"/>
            <a:ext cx="39370" cy="39370"/>
          </a:xfrm>
          <a:custGeom>
            <a:avLst/>
            <a:gdLst>
              <a:gd name="T0" fmla="*/ 0 w 62"/>
              <a:gd name="T1" fmla="*/ 0 h 62"/>
              <a:gd name="T2" fmla="*/ 0 w 62"/>
              <a:gd name="T3" fmla="*/ 62 h 62"/>
              <a:gd name="T4" fmla="*/ 62 w 62"/>
              <a:gd name="T5" fmla="*/ 33 h 62"/>
              <a:gd name="T6" fmla="*/ 0 w 62"/>
              <a:gd name="T7" fmla="*/ 4 h 62"/>
              <a:gd name="T8" fmla="*/ 0 w 62"/>
              <a:gd name="T9" fmla="*/ 4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0" y="62"/>
                </a:lnTo>
                <a:lnTo>
                  <a:pt x="62" y="33"/>
                </a:lnTo>
                <a:lnTo>
                  <a:pt x="0" y="4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23" name="Freeform 11085"/>
          <p:cNvSpPr>
            <a:spLocks/>
          </p:cNvSpPr>
          <p:nvPr/>
        </p:nvSpPr>
        <p:spPr bwMode="auto">
          <a:xfrm>
            <a:off x="4296727" y="4451985"/>
            <a:ext cx="39370" cy="39370"/>
          </a:xfrm>
          <a:custGeom>
            <a:avLst/>
            <a:gdLst>
              <a:gd name="T0" fmla="*/ 0 w 62"/>
              <a:gd name="T1" fmla="*/ 0 h 62"/>
              <a:gd name="T2" fmla="*/ 0 w 62"/>
              <a:gd name="T3" fmla="*/ 62 h 62"/>
              <a:gd name="T4" fmla="*/ 62 w 62"/>
              <a:gd name="T5" fmla="*/ 33 h 62"/>
              <a:gd name="T6" fmla="*/ 0 w 62"/>
              <a:gd name="T7" fmla="*/ 5 h 62"/>
              <a:gd name="T8" fmla="*/ 0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0" y="62"/>
                </a:lnTo>
                <a:lnTo>
                  <a:pt x="62" y="33"/>
                </a:lnTo>
                <a:lnTo>
                  <a:pt x="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24" name="Freeform 11086"/>
          <p:cNvSpPr>
            <a:spLocks/>
          </p:cNvSpPr>
          <p:nvPr/>
        </p:nvSpPr>
        <p:spPr bwMode="auto">
          <a:xfrm>
            <a:off x="2803207" y="3491230"/>
            <a:ext cx="1502410" cy="1271905"/>
          </a:xfrm>
          <a:custGeom>
            <a:avLst/>
            <a:gdLst>
              <a:gd name="T0" fmla="*/ 2366 w 2366"/>
              <a:gd name="T1" fmla="*/ 1998 h 2003"/>
              <a:gd name="T2" fmla="*/ 0 w 2366"/>
              <a:gd name="T3" fmla="*/ 2003 h 2003"/>
              <a:gd name="T4" fmla="*/ 0 w 2366"/>
              <a:gd name="T5" fmla="*/ 0 h 20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66" h="2003">
                <a:moveTo>
                  <a:pt x="2366" y="1998"/>
                </a:moveTo>
                <a:lnTo>
                  <a:pt x="0" y="2003"/>
                </a:lnTo>
                <a:lnTo>
                  <a:pt x="0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125" name="Line 11087"/>
          <p:cNvCxnSpPr/>
          <p:nvPr/>
        </p:nvCxnSpPr>
        <p:spPr bwMode="auto">
          <a:xfrm>
            <a:off x="2721927" y="2608580"/>
            <a:ext cx="27178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Rectangle 11088"/>
          <p:cNvSpPr>
            <a:spLocks noChangeArrowheads="1"/>
          </p:cNvSpPr>
          <p:nvPr/>
        </p:nvSpPr>
        <p:spPr bwMode="auto">
          <a:xfrm>
            <a:off x="4369117" y="2817495"/>
            <a:ext cx="1022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27" name="Freeform 11089"/>
          <p:cNvSpPr>
            <a:spLocks/>
          </p:cNvSpPr>
          <p:nvPr/>
        </p:nvSpPr>
        <p:spPr bwMode="auto">
          <a:xfrm>
            <a:off x="4336097" y="2484755"/>
            <a:ext cx="151130" cy="250825"/>
          </a:xfrm>
          <a:custGeom>
            <a:avLst/>
            <a:gdLst>
              <a:gd name="T0" fmla="*/ 233 w 238"/>
              <a:gd name="T1" fmla="*/ 395 h 395"/>
              <a:gd name="T2" fmla="*/ 238 w 238"/>
              <a:gd name="T3" fmla="*/ 0 h 395"/>
              <a:gd name="T4" fmla="*/ 0 w 238"/>
              <a:gd name="T5" fmla="*/ 0 h 395"/>
              <a:gd name="T6" fmla="*/ 0 w 238"/>
              <a:gd name="T7" fmla="*/ 395 h 395"/>
              <a:gd name="T8" fmla="*/ 238 w 238"/>
              <a:gd name="T9" fmla="*/ 395 h 395"/>
              <a:gd name="T10" fmla="*/ 238 w 238"/>
              <a:gd name="T11" fmla="*/ 395 h 395"/>
              <a:gd name="T12" fmla="*/ 233 w 238"/>
              <a:gd name="T13" fmla="*/ 395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95">
                <a:moveTo>
                  <a:pt x="233" y="395"/>
                </a:moveTo>
                <a:lnTo>
                  <a:pt x="238" y="0"/>
                </a:lnTo>
                <a:lnTo>
                  <a:pt x="0" y="0"/>
                </a:lnTo>
                <a:lnTo>
                  <a:pt x="0" y="395"/>
                </a:lnTo>
                <a:lnTo>
                  <a:pt x="238" y="395"/>
                </a:lnTo>
                <a:lnTo>
                  <a:pt x="238" y="395"/>
                </a:lnTo>
                <a:lnTo>
                  <a:pt x="233" y="3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28" name="Rectangle 11090"/>
          <p:cNvSpPr>
            <a:spLocks noChangeArrowheads="1"/>
          </p:cNvSpPr>
          <p:nvPr/>
        </p:nvSpPr>
        <p:spPr bwMode="auto">
          <a:xfrm>
            <a:off x="4378642" y="256667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29" name="Freeform 11091"/>
          <p:cNvSpPr>
            <a:spLocks/>
          </p:cNvSpPr>
          <p:nvPr/>
        </p:nvSpPr>
        <p:spPr bwMode="auto">
          <a:xfrm>
            <a:off x="4336097" y="2233930"/>
            <a:ext cx="151130" cy="250825"/>
          </a:xfrm>
          <a:custGeom>
            <a:avLst/>
            <a:gdLst>
              <a:gd name="T0" fmla="*/ 233 w 238"/>
              <a:gd name="T1" fmla="*/ 390 h 395"/>
              <a:gd name="T2" fmla="*/ 238 w 238"/>
              <a:gd name="T3" fmla="*/ 0 h 395"/>
              <a:gd name="T4" fmla="*/ 0 w 238"/>
              <a:gd name="T5" fmla="*/ 0 h 395"/>
              <a:gd name="T6" fmla="*/ 0 w 238"/>
              <a:gd name="T7" fmla="*/ 395 h 395"/>
              <a:gd name="T8" fmla="*/ 238 w 238"/>
              <a:gd name="T9" fmla="*/ 395 h 395"/>
              <a:gd name="T10" fmla="*/ 238 w 238"/>
              <a:gd name="T11" fmla="*/ 395 h 395"/>
              <a:gd name="T12" fmla="*/ 233 w 238"/>
              <a:gd name="T13" fmla="*/ 390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95">
                <a:moveTo>
                  <a:pt x="233" y="390"/>
                </a:moveTo>
                <a:lnTo>
                  <a:pt x="238" y="0"/>
                </a:lnTo>
                <a:lnTo>
                  <a:pt x="0" y="0"/>
                </a:lnTo>
                <a:lnTo>
                  <a:pt x="0" y="395"/>
                </a:lnTo>
                <a:lnTo>
                  <a:pt x="238" y="395"/>
                </a:lnTo>
                <a:lnTo>
                  <a:pt x="238" y="395"/>
                </a:lnTo>
                <a:lnTo>
                  <a:pt x="233" y="3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30" name="Rectangle 11092"/>
          <p:cNvSpPr>
            <a:spLocks noChangeArrowheads="1"/>
          </p:cNvSpPr>
          <p:nvPr/>
        </p:nvSpPr>
        <p:spPr bwMode="auto">
          <a:xfrm>
            <a:off x="4347527" y="2312670"/>
            <a:ext cx="1231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WB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31" name="Freeform 11093"/>
          <p:cNvSpPr>
            <a:spLocks/>
          </p:cNvSpPr>
          <p:nvPr/>
        </p:nvSpPr>
        <p:spPr bwMode="auto">
          <a:xfrm>
            <a:off x="4293552" y="2840990"/>
            <a:ext cx="39370" cy="39370"/>
          </a:xfrm>
          <a:custGeom>
            <a:avLst/>
            <a:gdLst>
              <a:gd name="T0" fmla="*/ 0 w 62"/>
              <a:gd name="T1" fmla="*/ 0 h 62"/>
              <a:gd name="T2" fmla="*/ 0 w 62"/>
              <a:gd name="T3" fmla="*/ 62 h 62"/>
              <a:gd name="T4" fmla="*/ 62 w 62"/>
              <a:gd name="T5" fmla="*/ 34 h 62"/>
              <a:gd name="T6" fmla="*/ 0 w 62"/>
              <a:gd name="T7" fmla="*/ 5 h 62"/>
              <a:gd name="T8" fmla="*/ 0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0" y="62"/>
                </a:lnTo>
                <a:lnTo>
                  <a:pt x="62" y="34"/>
                </a:lnTo>
                <a:lnTo>
                  <a:pt x="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32" name="Freeform 11094"/>
          <p:cNvSpPr>
            <a:spLocks/>
          </p:cNvSpPr>
          <p:nvPr/>
        </p:nvSpPr>
        <p:spPr bwMode="auto">
          <a:xfrm>
            <a:off x="4293552" y="2339340"/>
            <a:ext cx="39370" cy="36830"/>
          </a:xfrm>
          <a:custGeom>
            <a:avLst/>
            <a:gdLst>
              <a:gd name="T0" fmla="*/ 0 w 62"/>
              <a:gd name="T1" fmla="*/ 0 h 58"/>
              <a:gd name="T2" fmla="*/ 0 w 62"/>
              <a:gd name="T3" fmla="*/ 58 h 58"/>
              <a:gd name="T4" fmla="*/ 62 w 62"/>
              <a:gd name="T5" fmla="*/ 29 h 58"/>
              <a:gd name="T6" fmla="*/ 0 w 62"/>
              <a:gd name="T7" fmla="*/ 0 h 58"/>
              <a:gd name="T8" fmla="*/ 0 w 62"/>
              <a:gd name="T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58">
                <a:moveTo>
                  <a:pt x="0" y="0"/>
                </a:moveTo>
                <a:lnTo>
                  <a:pt x="0" y="58"/>
                </a:lnTo>
                <a:lnTo>
                  <a:pt x="62" y="2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33" name="Freeform 11095"/>
          <p:cNvSpPr>
            <a:spLocks/>
          </p:cNvSpPr>
          <p:nvPr/>
        </p:nvSpPr>
        <p:spPr bwMode="auto">
          <a:xfrm>
            <a:off x="5886767" y="2735580"/>
            <a:ext cx="151130" cy="250825"/>
          </a:xfrm>
          <a:custGeom>
            <a:avLst/>
            <a:gdLst>
              <a:gd name="T0" fmla="*/ 233 w 238"/>
              <a:gd name="T1" fmla="*/ 395 h 395"/>
              <a:gd name="T2" fmla="*/ 238 w 238"/>
              <a:gd name="T3" fmla="*/ 0 h 395"/>
              <a:gd name="T4" fmla="*/ 0 w 238"/>
              <a:gd name="T5" fmla="*/ 0 h 395"/>
              <a:gd name="T6" fmla="*/ 0 w 238"/>
              <a:gd name="T7" fmla="*/ 395 h 395"/>
              <a:gd name="T8" fmla="*/ 238 w 238"/>
              <a:gd name="T9" fmla="*/ 395 h 395"/>
              <a:gd name="T10" fmla="*/ 238 w 238"/>
              <a:gd name="T11" fmla="*/ 395 h 395"/>
              <a:gd name="T12" fmla="*/ 233 w 238"/>
              <a:gd name="T13" fmla="*/ 395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95">
                <a:moveTo>
                  <a:pt x="233" y="395"/>
                </a:moveTo>
                <a:lnTo>
                  <a:pt x="238" y="0"/>
                </a:lnTo>
                <a:lnTo>
                  <a:pt x="0" y="0"/>
                </a:lnTo>
                <a:lnTo>
                  <a:pt x="0" y="395"/>
                </a:lnTo>
                <a:lnTo>
                  <a:pt x="238" y="395"/>
                </a:lnTo>
                <a:lnTo>
                  <a:pt x="238" y="395"/>
                </a:lnTo>
                <a:lnTo>
                  <a:pt x="233" y="3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34" name="Freeform 11096"/>
          <p:cNvSpPr>
            <a:spLocks/>
          </p:cNvSpPr>
          <p:nvPr/>
        </p:nvSpPr>
        <p:spPr bwMode="auto">
          <a:xfrm>
            <a:off x="5886767" y="2986405"/>
            <a:ext cx="151130" cy="2187575"/>
          </a:xfrm>
          <a:custGeom>
            <a:avLst/>
            <a:gdLst>
              <a:gd name="T0" fmla="*/ 233 w 238"/>
              <a:gd name="T1" fmla="*/ 3440 h 3445"/>
              <a:gd name="T2" fmla="*/ 238 w 238"/>
              <a:gd name="T3" fmla="*/ 0 h 3445"/>
              <a:gd name="T4" fmla="*/ 0 w 238"/>
              <a:gd name="T5" fmla="*/ 0 h 3445"/>
              <a:gd name="T6" fmla="*/ 0 w 238"/>
              <a:gd name="T7" fmla="*/ 3445 h 3445"/>
              <a:gd name="T8" fmla="*/ 238 w 238"/>
              <a:gd name="T9" fmla="*/ 3445 h 3445"/>
              <a:gd name="T10" fmla="*/ 238 w 238"/>
              <a:gd name="T11" fmla="*/ 3445 h 3445"/>
              <a:gd name="T12" fmla="*/ 233 w 238"/>
              <a:gd name="T13" fmla="*/ 3440 h 3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445">
                <a:moveTo>
                  <a:pt x="233" y="3440"/>
                </a:moveTo>
                <a:lnTo>
                  <a:pt x="238" y="0"/>
                </a:lnTo>
                <a:lnTo>
                  <a:pt x="0" y="0"/>
                </a:lnTo>
                <a:lnTo>
                  <a:pt x="0" y="3445"/>
                </a:lnTo>
                <a:lnTo>
                  <a:pt x="238" y="3445"/>
                </a:lnTo>
                <a:lnTo>
                  <a:pt x="238" y="3445"/>
                </a:lnTo>
                <a:lnTo>
                  <a:pt x="233" y="34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35" name="Freeform 11097"/>
          <p:cNvSpPr>
            <a:spLocks/>
          </p:cNvSpPr>
          <p:nvPr/>
        </p:nvSpPr>
        <p:spPr bwMode="auto">
          <a:xfrm>
            <a:off x="5886767" y="2986405"/>
            <a:ext cx="151130" cy="2187575"/>
          </a:xfrm>
          <a:custGeom>
            <a:avLst/>
            <a:gdLst>
              <a:gd name="T0" fmla="*/ 233 w 238"/>
              <a:gd name="T1" fmla="*/ 3440 h 3445"/>
              <a:gd name="T2" fmla="*/ 238 w 238"/>
              <a:gd name="T3" fmla="*/ 0 h 3445"/>
              <a:gd name="T4" fmla="*/ 0 w 238"/>
              <a:gd name="T5" fmla="*/ 0 h 3445"/>
              <a:gd name="T6" fmla="*/ 0 w 238"/>
              <a:gd name="T7" fmla="*/ 3445 h 3445"/>
              <a:gd name="T8" fmla="*/ 238 w 238"/>
              <a:gd name="T9" fmla="*/ 3445 h 3445"/>
              <a:gd name="T10" fmla="*/ 238 w 238"/>
              <a:gd name="T11" fmla="*/ 3445 h 3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8" h="3445">
                <a:moveTo>
                  <a:pt x="233" y="3440"/>
                </a:moveTo>
                <a:lnTo>
                  <a:pt x="238" y="0"/>
                </a:lnTo>
                <a:lnTo>
                  <a:pt x="0" y="0"/>
                </a:lnTo>
                <a:lnTo>
                  <a:pt x="0" y="3445"/>
                </a:lnTo>
                <a:lnTo>
                  <a:pt x="238" y="3445"/>
                </a:lnTo>
                <a:lnTo>
                  <a:pt x="238" y="3445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36" name="Rectangle 11098"/>
          <p:cNvSpPr>
            <a:spLocks noChangeArrowheads="1"/>
          </p:cNvSpPr>
          <p:nvPr/>
        </p:nvSpPr>
        <p:spPr bwMode="auto">
          <a:xfrm>
            <a:off x="5929312" y="2817495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37" name="Freeform 11099"/>
          <p:cNvSpPr>
            <a:spLocks/>
          </p:cNvSpPr>
          <p:nvPr/>
        </p:nvSpPr>
        <p:spPr bwMode="auto">
          <a:xfrm>
            <a:off x="5886767" y="2484755"/>
            <a:ext cx="151130" cy="250825"/>
          </a:xfrm>
          <a:custGeom>
            <a:avLst/>
            <a:gdLst>
              <a:gd name="T0" fmla="*/ 233 w 238"/>
              <a:gd name="T1" fmla="*/ 395 h 395"/>
              <a:gd name="T2" fmla="*/ 238 w 238"/>
              <a:gd name="T3" fmla="*/ 0 h 395"/>
              <a:gd name="T4" fmla="*/ 0 w 238"/>
              <a:gd name="T5" fmla="*/ 0 h 395"/>
              <a:gd name="T6" fmla="*/ 0 w 238"/>
              <a:gd name="T7" fmla="*/ 395 h 395"/>
              <a:gd name="T8" fmla="*/ 238 w 238"/>
              <a:gd name="T9" fmla="*/ 395 h 395"/>
              <a:gd name="T10" fmla="*/ 238 w 238"/>
              <a:gd name="T11" fmla="*/ 395 h 395"/>
              <a:gd name="T12" fmla="*/ 233 w 238"/>
              <a:gd name="T13" fmla="*/ 395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8" h="395">
                <a:moveTo>
                  <a:pt x="233" y="395"/>
                </a:moveTo>
                <a:lnTo>
                  <a:pt x="238" y="0"/>
                </a:lnTo>
                <a:lnTo>
                  <a:pt x="0" y="0"/>
                </a:lnTo>
                <a:lnTo>
                  <a:pt x="0" y="395"/>
                </a:lnTo>
                <a:lnTo>
                  <a:pt x="238" y="395"/>
                </a:lnTo>
                <a:lnTo>
                  <a:pt x="238" y="395"/>
                </a:lnTo>
                <a:lnTo>
                  <a:pt x="233" y="3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38" name="Rectangle 11100"/>
          <p:cNvSpPr>
            <a:spLocks noChangeArrowheads="1"/>
          </p:cNvSpPr>
          <p:nvPr/>
        </p:nvSpPr>
        <p:spPr bwMode="auto">
          <a:xfrm>
            <a:off x="5907722" y="2566670"/>
            <a:ext cx="1231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WB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39" name="Freeform 11101"/>
          <p:cNvSpPr>
            <a:spLocks/>
          </p:cNvSpPr>
          <p:nvPr/>
        </p:nvSpPr>
        <p:spPr bwMode="auto">
          <a:xfrm>
            <a:off x="5844222" y="2823210"/>
            <a:ext cx="39370" cy="39370"/>
          </a:xfrm>
          <a:custGeom>
            <a:avLst/>
            <a:gdLst>
              <a:gd name="T0" fmla="*/ 0 w 62"/>
              <a:gd name="T1" fmla="*/ 0 h 62"/>
              <a:gd name="T2" fmla="*/ 0 w 62"/>
              <a:gd name="T3" fmla="*/ 62 h 62"/>
              <a:gd name="T4" fmla="*/ 62 w 62"/>
              <a:gd name="T5" fmla="*/ 33 h 62"/>
              <a:gd name="T6" fmla="*/ 0 w 62"/>
              <a:gd name="T7" fmla="*/ 5 h 62"/>
              <a:gd name="T8" fmla="*/ 0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0" y="62"/>
                </a:lnTo>
                <a:lnTo>
                  <a:pt x="62" y="33"/>
                </a:lnTo>
                <a:lnTo>
                  <a:pt x="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40" name="Freeform 11102"/>
          <p:cNvSpPr>
            <a:spLocks/>
          </p:cNvSpPr>
          <p:nvPr/>
        </p:nvSpPr>
        <p:spPr bwMode="auto">
          <a:xfrm>
            <a:off x="5844222" y="2590165"/>
            <a:ext cx="39370" cy="39370"/>
          </a:xfrm>
          <a:custGeom>
            <a:avLst/>
            <a:gdLst>
              <a:gd name="T0" fmla="*/ 0 w 62"/>
              <a:gd name="T1" fmla="*/ 0 h 62"/>
              <a:gd name="T2" fmla="*/ 0 w 62"/>
              <a:gd name="T3" fmla="*/ 62 h 62"/>
              <a:gd name="T4" fmla="*/ 62 w 62"/>
              <a:gd name="T5" fmla="*/ 29 h 62"/>
              <a:gd name="T6" fmla="*/ 0 w 62"/>
              <a:gd name="T7" fmla="*/ 0 h 62"/>
              <a:gd name="T8" fmla="*/ 0 w 62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0" y="62"/>
                </a:lnTo>
                <a:lnTo>
                  <a:pt x="62" y="2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41" name="Freeform 11103"/>
          <p:cNvSpPr>
            <a:spLocks/>
          </p:cNvSpPr>
          <p:nvPr/>
        </p:nvSpPr>
        <p:spPr bwMode="auto">
          <a:xfrm>
            <a:off x="7002462" y="2735580"/>
            <a:ext cx="147955" cy="250825"/>
          </a:xfrm>
          <a:custGeom>
            <a:avLst/>
            <a:gdLst>
              <a:gd name="T0" fmla="*/ 233 w 233"/>
              <a:gd name="T1" fmla="*/ 395 h 395"/>
              <a:gd name="T2" fmla="*/ 233 w 233"/>
              <a:gd name="T3" fmla="*/ 0 h 395"/>
              <a:gd name="T4" fmla="*/ 0 w 233"/>
              <a:gd name="T5" fmla="*/ 0 h 395"/>
              <a:gd name="T6" fmla="*/ 0 w 233"/>
              <a:gd name="T7" fmla="*/ 395 h 395"/>
              <a:gd name="T8" fmla="*/ 233 w 233"/>
              <a:gd name="T9" fmla="*/ 395 h 395"/>
              <a:gd name="T10" fmla="*/ 233 w 233"/>
              <a:gd name="T11" fmla="*/ 395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3" h="395">
                <a:moveTo>
                  <a:pt x="233" y="395"/>
                </a:moveTo>
                <a:lnTo>
                  <a:pt x="233" y="0"/>
                </a:lnTo>
                <a:lnTo>
                  <a:pt x="0" y="0"/>
                </a:lnTo>
                <a:lnTo>
                  <a:pt x="0" y="395"/>
                </a:lnTo>
                <a:lnTo>
                  <a:pt x="233" y="395"/>
                </a:lnTo>
                <a:lnTo>
                  <a:pt x="233" y="3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42" name="Freeform 11104"/>
          <p:cNvSpPr>
            <a:spLocks/>
          </p:cNvSpPr>
          <p:nvPr/>
        </p:nvSpPr>
        <p:spPr bwMode="auto">
          <a:xfrm>
            <a:off x="7002462" y="2986405"/>
            <a:ext cx="147955" cy="2187575"/>
          </a:xfrm>
          <a:custGeom>
            <a:avLst/>
            <a:gdLst>
              <a:gd name="T0" fmla="*/ 233 w 233"/>
              <a:gd name="T1" fmla="*/ 3440 h 3445"/>
              <a:gd name="T2" fmla="*/ 233 w 233"/>
              <a:gd name="T3" fmla="*/ 0 h 3445"/>
              <a:gd name="T4" fmla="*/ 0 w 233"/>
              <a:gd name="T5" fmla="*/ 0 h 3445"/>
              <a:gd name="T6" fmla="*/ 0 w 233"/>
              <a:gd name="T7" fmla="*/ 3445 h 3445"/>
              <a:gd name="T8" fmla="*/ 233 w 233"/>
              <a:gd name="T9" fmla="*/ 3445 h 3445"/>
              <a:gd name="T10" fmla="*/ 233 w 233"/>
              <a:gd name="T11" fmla="*/ 3445 h 3445"/>
              <a:gd name="T12" fmla="*/ 233 w 233"/>
              <a:gd name="T13" fmla="*/ 3440 h 3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3" h="3445">
                <a:moveTo>
                  <a:pt x="233" y="3440"/>
                </a:moveTo>
                <a:lnTo>
                  <a:pt x="233" y="0"/>
                </a:lnTo>
                <a:lnTo>
                  <a:pt x="0" y="0"/>
                </a:lnTo>
                <a:lnTo>
                  <a:pt x="0" y="3445"/>
                </a:lnTo>
                <a:lnTo>
                  <a:pt x="233" y="3445"/>
                </a:lnTo>
                <a:lnTo>
                  <a:pt x="233" y="3445"/>
                </a:lnTo>
                <a:lnTo>
                  <a:pt x="233" y="34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43" name="Freeform 11105"/>
          <p:cNvSpPr>
            <a:spLocks/>
          </p:cNvSpPr>
          <p:nvPr/>
        </p:nvSpPr>
        <p:spPr bwMode="auto">
          <a:xfrm>
            <a:off x="7002462" y="2986405"/>
            <a:ext cx="147955" cy="2187575"/>
          </a:xfrm>
          <a:custGeom>
            <a:avLst/>
            <a:gdLst>
              <a:gd name="T0" fmla="*/ 233 w 233"/>
              <a:gd name="T1" fmla="*/ 3440 h 3445"/>
              <a:gd name="T2" fmla="*/ 233 w 233"/>
              <a:gd name="T3" fmla="*/ 0 h 3445"/>
              <a:gd name="T4" fmla="*/ 0 w 233"/>
              <a:gd name="T5" fmla="*/ 0 h 3445"/>
              <a:gd name="T6" fmla="*/ 0 w 233"/>
              <a:gd name="T7" fmla="*/ 3445 h 3445"/>
              <a:gd name="T8" fmla="*/ 233 w 233"/>
              <a:gd name="T9" fmla="*/ 3445 h 3445"/>
              <a:gd name="T10" fmla="*/ 233 w 233"/>
              <a:gd name="T11" fmla="*/ 3445 h 3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3" h="3445">
                <a:moveTo>
                  <a:pt x="233" y="3440"/>
                </a:moveTo>
                <a:lnTo>
                  <a:pt x="233" y="0"/>
                </a:lnTo>
                <a:lnTo>
                  <a:pt x="0" y="0"/>
                </a:lnTo>
                <a:lnTo>
                  <a:pt x="0" y="3445"/>
                </a:lnTo>
                <a:lnTo>
                  <a:pt x="233" y="3445"/>
                </a:lnTo>
                <a:lnTo>
                  <a:pt x="233" y="3445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44" name="Rectangle 11106"/>
          <p:cNvSpPr>
            <a:spLocks noChangeArrowheads="1"/>
          </p:cNvSpPr>
          <p:nvPr/>
        </p:nvSpPr>
        <p:spPr bwMode="auto">
          <a:xfrm>
            <a:off x="7020242" y="2817495"/>
            <a:ext cx="1231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WB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45" name="Freeform 11107"/>
          <p:cNvSpPr>
            <a:spLocks/>
          </p:cNvSpPr>
          <p:nvPr/>
        </p:nvSpPr>
        <p:spPr bwMode="auto">
          <a:xfrm>
            <a:off x="3498532" y="303149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29 h 62"/>
              <a:gd name="T6" fmla="*/ 5 w 62"/>
              <a:gd name="T7" fmla="*/ 0 h 62"/>
              <a:gd name="T8" fmla="*/ 5 w 62"/>
              <a:gd name="T9" fmla="*/ 0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29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46" name="Freeform 11108"/>
          <p:cNvSpPr>
            <a:spLocks/>
          </p:cNvSpPr>
          <p:nvPr/>
        </p:nvSpPr>
        <p:spPr bwMode="auto">
          <a:xfrm>
            <a:off x="3495357" y="2747645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28 h 62"/>
              <a:gd name="T6" fmla="*/ 5 w 62"/>
              <a:gd name="T7" fmla="*/ 0 h 62"/>
              <a:gd name="T8" fmla="*/ 5 w 62"/>
              <a:gd name="T9" fmla="*/ 0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28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47" name="Freeform 11109"/>
          <p:cNvSpPr>
            <a:spLocks/>
          </p:cNvSpPr>
          <p:nvPr/>
        </p:nvSpPr>
        <p:spPr bwMode="auto">
          <a:xfrm>
            <a:off x="5844222" y="3771900"/>
            <a:ext cx="39370" cy="36195"/>
          </a:xfrm>
          <a:custGeom>
            <a:avLst/>
            <a:gdLst>
              <a:gd name="T0" fmla="*/ 0 w 62"/>
              <a:gd name="T1" fmla="*/ 0 h 57"/>
              <a:gd name="T2" fmla="*/ 0 w 62"/>
              <a:gd name="T3" fmla="*/ 57 h 57"/>
              <a:gd name="T4" fmla="*/ 62 w 62"/>
              <a:gd name="T5" fmla="*/ 29 h 57"/>
              <a:gd name="T6" fmla="*/ 0 w 62"/>
              <a:gd name="T7" fmla="*/ 0 h 57"/>
              <a:gd name="T8" fmla="*/ 0 w 62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0" y="57"/>
                </a:lnTo>
                <a:lnTo>
                  <a:pt x="62" y="2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148" name="Line 11110"/>
          <p:cNvCxnSpPr/>
          <p:nvPr/>
        </p:nvCxnSpPr>
        <p:spPr bwMode="auto">
          <a:xfrm flipH="1">
            <a:off x="5747702" y="3790315"/>
            <a:ext cx="106045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9" name="Freeform 11111"/>
          <p:cNvSpPr>
            <a:spLocks/>
          </p:cNvSpPr>
          <p:nvPr/>
        </p:nvSpPr>
        <p:spPr bwMode="auto">
          <a:xfrm>
            <a:off x="6956742" y="284099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4 h 62"/>
              <a:gd name="T6" fmla="*/ 5 w 62"/>
              <a:gd name="T7" fmla="*/ 5 h 62"/>
              <a:gd name="T8" fmla="*/ 5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4"/>
                </a:lnTo>
                <a:lnTo>
                  <a:pt x="5" y="5"/>
                </a:lnTo>
                <a:lnTo>
                  <a:pt x="5" y="5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50" name="Freeform 11112"/>
          <p:cNvSpPr>
            <a:spLocks/>
          </p:cNvSpPr>
          <p:nvPr/>
        </p:nvSpPr>
        <p:spPr bwMode="auto">
          <a:xfrm>
            <a:off x="6956742" y="3917315"/>
            <a:ext cx="39370" cy="38735"/>
          </a:xfrm>
          <a:custGeom>
            <a:avLst/>
            <a:gdLst>
              <a:gd name="T0" fmla="*/ 0 w 62"/>
              <a:gd name="T1" fmla="*/ 0 h 61"/>
              <a:gd name="T2" fmla="*/ 5 w 62"/>
              <a:gd name="T3" fmla="*/ 61 h 61"/>
              <a:gd name="T4" fmla="*/ 62 w 62"/>
              <a:gd name="T5" fmla="*/ 33 h 61"/>
              <a:gd name="T6" fmla="*/ 5 w 62"/>
              <a:gd name="T7" fmla="*/ 4 h 61"/>
              <a:gd name="T8" fmla="*/ 5 w 62"/>
              <a:gd name="T9" fmla="*/ 4 h 61"/>
              <a:gd name="T10" fmla="*/ 0 w 62"/>
              <a:gd name="T11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1">
                <a:moveTo>
                  <a:pt x="0" y="0"/>
                </a:moveTo>
                <a:lnTo>
                  <a:pt x="5" y="61"/>
                </a:lnTo>
                <a:lnTo>
                  <a:pt x="62" y="33"/>
                </a:lnTo>
                <a:lnTo>
                  <a:pt x="5" y="4"/>
                </a:lnTo>
                <a:lnTo>
                  <a:pt x="5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151" name="Line 11113"/>
          <p:cNvCxnSpPr/>
          <p:nvPr/>
        </p:nvCxnSpPr>
        <p:spPr bwMode="auto">
          <a:xfrm flipH="1">
            <a:off x="7150417" y="3938270"/>
            <a:ext cx="33528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2" name="Line 11114"/>
          <p:cNvCxnSpPr/>
          <p:nvPr/>
        </p:nvCxnSpPr>
        <p:spPr bwMode="auto">
          <a:xfrm flipH="1">
            <a:off x="6875462" y="3938270"/>
            <a:ext cx="8763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" name="Freeform 11115"/>
          <p:cNvSpPr>
            <a:spLocks/>
          </p:cNvSpPr>
          <p:nvPr/>
        </p:nvSpPr>
        <p:spPr bwMode="auto">
          <a:xfrm>
            <a:off x="6956742" y="441579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3 h 62"/>
              <a:gd name="T6" fmla="*/ 5 w 62"/>
              <a:gd name="T7" fmla="*/ 4 h 62"/>
              <a:gd name="T8" fmla="*/ 5 w 62"/>
              <a:gd name="T9" fmla="*/ 4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3"/>
                </a:lnTo>
                <a:lnTo>
                  <a:pt x="5" y="4"/>
                </a:lnTo>
                <a:lnTo>
                  <a:pt x="5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54" name="Freeform 11116"/>
          <p:cNvSpPr>
            <a:spLocks/>
          </p:cNvSpPr>
          <p:nvPr/>
        </p:nvSpPr>
        <p:spPr bwMode="auto">
          <a:xfrm>
            <a:off x="7150417" y="4067810"/>
            <a:ext cx="335280" cy="353695"/>
          </a:xfrm>
          <a:custGeom>
            <a:avLst/>
            <a:gdLst>
              <a:gd name="T0" fmla="*/ 528 w 528"/>
              <a:gd name="T1" fmla="*/ 0 h 557"/>
              <a:gd name="T2" fmla="*/ 395 w 528"/>
              <a:gd name="T3" fmla="*/ 0 h 557"/>
              <a:gd name="T4" fmla="*/ 395 w 528"/>
              <a:gd name="T5" fmla="*/ 557 h 557"/>
              <a:gd name="T6" fmla="*/ 0 w 528"/>
              <a:gd name="T7" fmla="*/ 557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8" h="557">
                <a:moveTo>
                  <a:pt x="528" y="0"/>
                </a:moveTo>
                <a:lnTo>
                  <a:pt x="395" y="0"/>
                </a:lnTo>
                <a:lnTo>
                  <a:pt x="395" y="557"/>
                </a:lnTo>
                <a:lnTo>
                  <a:pt x="0" y="557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155" name="Line 11117"/>
          <p:cNvCxnSpPr/>
          <p:nvPr/>
        </p:nvCxnSpPr>
        <p:spPr bwMode="auto">
          <a:xfrm flipH="1">
            <a:off x="6288722" y="4433570"/>
            <a:ext cx="677545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6" name="Rectangle 11118"/>
          <p:cNvSpPr>
            <a:spLocks noChangeArrowheads="1"/>
          </p:cNvSpPr>
          <p:nvPr/>
        </p:nvSpPr>
        <p:spPr bwMode="auto">
          <a:xfrm>
            <a:off x="4315142" y="210693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57" name="Rectangle 11119"/>
          <p:cNvSpPr>
            <a:spLocks noChangeArrowheads="1"/>
          </p:cNvSpPr>
          <p:nvPr/>
        </p:nvSpPr>
        <p:spPr bwMode="auto">
          <a:xfrm>
            <a:off x="4336097" y="2106930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58" name="Rectangle 11120"/>
          <p:cNvSpPr>
            <a:spLocks noChangeArrowheads="1"/>
          </p:cNvSpPr>
          <p:nvPr/>
        </p:nvSpPr>
        <p:spPr bwMode="auto">
          <a:xfrm>
            <a:off x="4390707" y="210693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/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59" name="Rectangle 11121"/>
          <p:cNvSpPr>
            <a:spLocks noChangeArrowheads="1"/>
          </p:cNvSpPr>
          <p:nvPr/>
        </p:nvSpPr>
        <p:spPr bwMode="auto">
          <a:xfrm>
            <a:off x="4411662" y="2106930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0" name="Rectangle 11122"/>
          <p:cNvSpPr>
            <a:spLocks noChangeArrowheads="1"/>
          </p:cNvSpPr>
          <p:nvPr/>
        </p:nvSpPr>
        <p:spPr bwMode="auto">
          <a:xfrm>
            <a:off x="4459922" y="2106930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1" name="Rectangle 11123"/>
          <p:cNvSpPr>
            <a:spLocks noChangeArrowheads="1"/>
          </p:cNvSpPr>
          <p:nvPr/>
        </p:nvSpPr>
        <p:spPr bwMode="auto">
          <a:xfrm>
            <a:off x="5817552" y="2357755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2" name="Rectangle 11124"/>
          <p:cNvSpPr>
            <a:spLocks noChangeArrowheads="1"/>
          </p:cNvSpPr>
          <p:nvPr/>
        </p:nvSpPr>
        <p:spPr bwMode="auto">
          <a:xfrm>
            <a:off x="5868352" y="2357755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3" name="Rectangle 11125"/>
          <p:cNvSpPr>
            <a:spLocks noChangeArrowheads="1"/>
          </p:cNvSpPr>
          <p:nvPr/>
        </p:nvSpPr>
        <p:spPr bwMode="auto">
          <a:xfrm>
            <a:off x="5917247" y="235775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/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4" name="Rectangle 11126"/>
          <p:cNvSpPr>
            <a:spLocks noChangeArrowheads="1"/>
          </p:cNvSpPr>
          <p:nvPr/>
        </p:nvSpPr>
        <p:spPr bwMode="auto">
          <a:xfrm>
            <a:off x="5938202" y="2357755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5" name="Rectangle 11127"/>
          <p:cNvSpPr>
            <a:spLocks noChangeArrowheads="1"/>
          </p:cNvSpPr>
          <p:nvPr/>
        </p:nvSpPr>
        <p:spPr bwMode="auto">
          <a:xfrm>
            <a:off x="6001702" y="2357755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6" name="Rectangle 11128"/>
          <p:cNvSpPr>
            <a:spLocks noChangeArrowheads="1"/>
          </p:cNvSpPr>
          <p:nvPr/>
        </p:nvSpPr>
        <p:spPr bwMode="auto">
          <a:xfrm>
            <a:off x="6049962" y="2357755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7" name="Rectangle 11129"/>
          <p:cNvSpPr>
            <a:spLocks noChangeArrowheads="1"/>
          </p:cNvSpPr>
          <p:nvPr/>
        </p:nvSpPr>
        <p:spPr bwMode="auto">
          <a:xfrm>
            <a:off x="6920547" y="260858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8" name="Rectangle 11130"/>
          <p:cNvSpPr>
            <a:spLocks noChangeArrowheads="1"/>
          </p:cNvSpPr>
          <p:nvPr/>
        </p:nvSpPr>
        <p:spPr bwMode="auto">
          <a:xfrm>
            <a:off x="6980872" y="2608580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69" name="Rectangle 11131"/>
          <p:cNvSpPr>
            <a:spLocks noChangeArrowheads="1"/>
          </p:cNvSpPr>
          <p:nvPr/>
        </p:nvSpPr>
        <p:spPr bwMode="auto">
          <a:xfrm>
            <a:off x="7032307" y="260858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70" name="Rectangle 11132"/>
          <p:cNvSpPr>
            <a:spLocks noChangeArrowheads="1"/>
          </p:cNvSpPr>
          <p:nvPr/>
        </p:nvSpPr>
        <p:spPr bwMode="auto">
          <a:xfrm>
            <a:off x="7092632" y="260858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/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71" name="Rectangle 11133"/>
          <p:cNvSpPr>
            <a:spLocks noChangeArrowheads="1"/>
          </p:cNvSpPr>
          <p:nvPr/>
        </p:nvSpPr>
        <p:spPr bwMode="auto">
          <a:xfrm>
            <a:off x="7114222" y="2608580"/>
            <a:ext cx="723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W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72" name="Rectangle 11134"/>
          <p:cNvSpPr>
            <a:spLocks noChangeArrowheads="1"/>
          </p:cNvSpPr>
          <p:nvPr/>
        </p:nvSpPr>
        <p:spPr bwMode="auto">
          <a:xfrm>
            <a:off x="7183437" y="2608580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B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73" name="Freeform 11135"/>
          <p:cNvSpPr>
            <a:spLocks/>
          </p:cNvSpPr>
          <p:nvPr/>
        </p:nvSpPr>
        <p:spPr bwMode="auto">
          <a:xfrm>
            <a:off x="2359342" y="3031490"/>
            <a:ext cx="38735" cy="39370"/>
          </a:xfrm>
          <a:custGeom>
            <a:avLst/>
            <a:gdLst>
              <a:gd name="T0" fmla="*/ 0 w 61"/>
              <a:gd name="T1" fmla="*/ 0 h 62"/>
              <a:gd name="T2" fmla="*/ 4 w 61"/>
              <a:gd name="T3" fmla="*/ 62 h 62"/>
              <a:gd name="T4" fmla="*/ 61 w 61"/>
              <a:gd name="T5" fmla="*/ 29 h 62"/>
              <a:gd name="T6" fmla="*/ 4 w 61"/>
              <a:gd name="T7" fmla="*/ 0 h 62"/>
              <a:gd name="T8" fmla="*/ 4 w 61"/>
              <a:gd name="T9" fmla="*/ 0 h 62"/>
              <a:gd name="T10" fmla="*/ 0 w 61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" h="62">
                <a:moveTo>
                  <a:pt x="0" y="0"/>
                </a:moveTo>
                <a:lnTo>
                  <a:pt x="4" y="62"/>
                </a:lnTo>
                <a:lnTo>
                  <a:pt x="61" y="29"/>
                </a:lnTo>
                <a:lnTo>
                  <a:pt x="4" y="0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174" name="Line 11136"/>
          <p:cNvCxnSpPr/>
          <p:nvPr/>
        </p:nvCxnSpPr>
        <p:spPr bwMode="auto">
          <a:xfrm flipH="1">
            <a:off x="2162492" y="3049905"/>
            <a:ext cx="135128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5" name="Line 11137"/>
          <p:cNvCxnSpPr/>
          <p:nvPr/>
        </p:nvCxnSpPr>
        <p:spPr bwMode="auto">
          <a:xfrm flipH="1">
            <a:off x="2153602" y="3049905"/>
            <a:ext cx="21463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6" name="Freeform 11138"/>
          <p:cNvSpPr>
            <a:spLocks/>
          </p:cNvSpPr>
          <p:nvPr/>
        </p:nvSpPr>
        <p:spPr bwMode="auto">
          <a:xfrm>
            <a:off x="2026602" y="2110105"/>
            <a:ext cx="36195" cy="39370"/>
          </a:xfrm>
          <a:custGeom>
            <a:avLst/>
            <a:gdLst>
              <a:gd name="T0" fmla="*/ 0 w 57"/>
              <a:gd name="T1" fmla="*/ 0 h 62"/>
              <a:gd name="T2" fmla="*/ 0 w 57"/>
              <a:gd name="T3" fmla="*/ 62 h 62"/>
              <a:gd name="T4" fmla="*/ 57 w 57"/>
              <a:gd name="T5" fmla="*/ 33 h 62"/>
              <a:gd name="T6" fmla="*/ 0 w 57"/>
              <a:gd name="T7" fmla="*/ 5 h 62"/>
              <a:gd name="T8" fmla="*/ 0 w 57"/>
              <a:gd name="T9" fmla="*/ 5 h 62"/>
              <a:gd name="T10" fmla="*/ 0 w 57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2">
                <a:moveTo>
                  <a:pt x="0" y="0"/>
                </a:moveTo>
                <a:lnTo>
                  <a:pt x="0" y="62"/>
                </a:lnTo>
                <a:lnTo>
                  <a:pt x="57" y="33"/>
                </a:lnTo>
                <a:lnTo>
                  <a:pt x="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77" name="Freeform 11139"/>
          <p:cNvSpPr>
            <a:spLocks/>
          </p:cNvSpPr>
          <p:nvPr/>
        </p:nvSpPr>
        <p:spPr bwMode="auto">
          <a:xfrm>
            <a:off x="2117407" y="1979930"/>
            <a:ext cx="36195" cy="36195"/>
          </a:xfrm>
          <a:custGeom>
            <a:avLst/>
            <a:gdLst>
              <a:gd name="T0" fmla="*/ 57 w 57"/>
              <a:gd name="T1" fmla="*/ 0 h 57"/>
              <a:gd name="T2" fmla="*/ 0 w 57"/>
              <a:gd name="T3" fmla="*/ 0 h 57"/>
              <a:gd name="T4" fmla="*/ 28 w 57"/>
              <a:gd name="T5" fmla="*/ 57 h 57"/>
              <a:gd name="T6" fmla="*/ 57 w 57"/>
              <a:gd name="T7" fmla="*/ 0 h 57"/>
              <a:gd name="T8" fmla="*/ 57 w 57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57">
                <a:moveTo>
                  <a:pt x="57" y="0"/>
                </a:moveTo>
                <a:lnTo>
                  <a:pt x="0" y="0"/>
                </a:lnTo>
                <a:lnTo>
                  <a:pt x="28" y="57"/>
                </a:lnTo>
                <a:lnTo>
                  <a:pt x="57" y="0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78" name="Freeform 11140"/>
          <p:cNvSpPr>
            <a:spLocks/>
          </p:cNvSpPr>
          <p:nvPr/>
        </p:nvSpPr>
        <p:spPr bwMode="auto">
          <a:xfrm>
            <a:off x="2183447" y="1306195"/>
            <a:ext cx="36830" cy="39370"/>
          </a:xfrm>
          <a:custGeom>
            <a:avLst/>
            <a:gdLst>
              <a:gd name="T0" fmla="*/ 58 w 58"/>
              <a:gd name="T1" fmla="*/ 0 h 62"/>
              <a:gd name="T2" fmla="*/ 0 w 58"/>
              <a:gd name="T3" fmla="*/ 0 h 62"/>
              <a:gd name="T4" fmla="*/ 29 w 58"/>
              <a:gd name="T5" fmla="*/ 62 h 62"/>
              <a:gd name="T6" fmla="*/ 58 w 58"/>
              <a:gd name="T7" fmla="*/ 0 h 62"/>
              <a:gd name="T8" fmla="*/ 58 w 58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" h="62">
                <a:moveTo>
                  <a:pt x="58" y="0"/>
                </a:moveTo>
                <a:lnTo>
                  <a:pt x="0" y="0"/>
                </a:lnTo>
                <a:lnTo>
                  <a:pt x="29" y="62"/>
                </a:lnTo>
                <a:lnTo>
                  <a:pt x="58" y="0"/>
                </a:lnTo>
                <a:lnTo>
                  <a:pt x="58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79" name="Freeform 11141"/>
          <p:cNvSpPr>
            <a:spLocks/>
          </p:cNvSpPr>
          <p:nvPr/>
        </p:nvSpPr>
        <p:spPr bwMode="auto">
          <a:xfrm>
            <a:off x="2059622" y="1306195"/>
            <a:ext cx="36195" cy="39370"/>
          </a:xfrm>
          <a:custGeom>
            <a:avLst/>
            <a:gdLst>
              <a:gd name="T0" fmla="*/ 57 w 57"/>
              <a:gd name="T1" fmla="*/ 0 h 62"/>
              <a:gd name="T2" fmla="*/ 0 w 57"/>
              <a:gd name="T3" fmla="*/ 0 h 62"/>
              <a:gd name="T4" fmla="*/ 29 w 57"/>
              <a:gd name="T5" fmla="*/ 62 h 62"/>
              <a:gd name="T6" fmla="*/ 57 w 57"/>
              <a:gd name="T7" fmla="*/ 0 h 62"/>
              <a:gd name="T8" fmla="*/ 57 w 57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62">
                <a:moveTo>
                  <a:pt x="57" y="0"/>
                </a:moveTo>
                <a:lnTo>
                  <a:pt x="0" y="0"/>
                </a:lnTo>
                <a:lnTo>
                  <a:pt x="29" y="62"/>
                </a:lnTo>
                <a:lnTo>
                  <a:pt x="57" y="0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80" name="Freeform 11142"/>
          <p:cNvSpPr>
            <a:spLocks/>
          </p:cNvSpPr>
          <p:nvPr/>
        </p:nvSpPr>
        <p:spPr bwMode="auto">
          <a:xfrm>
            <a:off x="2065972" y="2022475"/>
            <a:ext cx="139065" cy="417195"/>
          </a:xfrm>
          <a:custGeom>
            <a:avLst/>
            <a:gdLst>
              <a:gd name="T0" fmla="*/ 0 w 219"/>
              <a:gd name="T1" fmla="*/ 109 h 657"/>
              <a:gd name="T2" fmla="*/ 4 w 219"/>
              <a:gd name="T3" fmla="*/ 90 h 657"/>
              <a:gd name="T4" fmla="*/ 9 w 219"/>
              <a:gd name="T5" fmla="*/ 76 h 657"/>
              <a:gd name="T6" fmla="*/ 14 w 219"/>
              <a:gd name="T7" fmla="*/ 62 h 657"/>
              <a:gd name="T8" fmla="*/ 24 w 219"/>
              <a:gd name="T9" fmla="*/ 47 h 657"/>
              <a:gd name="T10" fmla="*/ 33 w 219"/>
              <a:gd name="T11" fmla="*/ 33 h 657"/>
              <a:gd name="T12" fmla="*/ 47 w 219"/>
              <a:gd name="T13" fmla="*/ 24 h 657"/>
              <a:gd name="T14" fmla="*/ 62 w 219"/>
              <a:gd name="T15" fmla="*/ 14 h 657"/>
              <a:gd name="T16" fmla="*/ 76 w 219"/>
              <a:gd name="T17" fmla="*/ 5 h 657"/>
              <a:gd name="T18" fmla="*/ 95 w 219"/>
              <a:gd name="T19" fmla="*/ 0 h 657"/>
              <a:gd name="T20" fmla="*/ 109 w 219"/>
              <a:gd name="T21" fmla="*/ 0 h 657"/>
              <a:gd name="T22" fmla="*/ 128 w 219"/>
              <a:gd name="T23" fmla="*/ 0 h 657"/>
              <a:gd name="T24" fmla="*/ 147 w 219"/>
              <a:gd name="T25" fmla="*/ 5 h 657"/>
              <a:gd name="T26" fmla="*/ 162 w 219"/>
              <a:gd name="T27" fmla="*/ 14 h 657"/>
              <a:gd name="T28" fmla="*/ 176 w 219"/>
              <a:gd name="T29" fmla="*/ 24 h 657"/>
              <a:gd name="T30" fmla="*/ 190 w 219"/>
              <a:gd name="T31" fmla="*/ 33 h 657"/>
              <a:gd name="T32" fmla="*/ 200 w 219"/>
              <a:gd name="T33" fmla="*/ 47 h 657"/>
              <a:gd name="T34" fmla="*/ 209 w 219"/>
              <a:gd name="T35" fmla="*/ 62 h 657"/>
              <a:gd name="T36" fmla="*/ 214 w 219"/>
              <a:gd name="T37" fmla="*/ 76 h 657"/>
              <a:gd name="T38" fmla="*/ 219 w 219"/>
              <a:gd name="T39" fmla="*/ 90 h 657"/>
              <a:gd name="T40" fmla="*/ 219 w 219"/>
              <a:gd name="T41" fmla="*/ 109 h 657"/>
              <a:gd name="T42" fmla="*/ 219 w 219"/>
              <a:gd name="T43" fmla="*/ 547 h 657"/>
              <a:gd name="T44" fmla="*/ 219 w 219"/>
              <a:gd name="T45" fmla="*/ 566 h 657"/>
              <a:gd name="T46" fmla="*/ 214 w 219"/>
              <a:gd name="T47" fmla="*/ 585 h 657"/>
              <a:gd name="T48" fmla="*/ 209 w 219"/>
              <a:gd name="T49" fmla="*/ 599 h 657"/>
              <a:gd name="T50" fmla="*/ 200 w 219"/>
              <a:gd name="T51" fmla="*/ 614 h 657"/>
              <a:gd name="T52" fmla="*/ 190 w 219"/>
              <a:gd name="T53" fmla="*/ 628 h 657"/>
              <a:gd name="T54" fmla="*/ 176 w 219"/>
              <a:gd name="T55" fmla="*/ 637 h 657"/>
              <a:gd name="T56" fmla="*/ 162 w 219"/>
              <a:gd name="T57" fmla="*/ 647 h 657"/>
              <a:gd name="T58" fmla="*/ 147 w 219"/>
              <a:gd name="T59" fmla="*/ 652 h 657"/>
              <a:gd name="T60" fmla="*/ 128 w 219"/>
              <a:gd name="T61" fmla="*/ 657 h 657"/>
              <a:gd name="T62" fmla="*/ 109 w 219"/>
              <a:gd name="T63" fmla="*/ 657 h 657"/>
              <a:gd name="T64" fmla="*/ 95 w 219"/>
              <a:gd name="T65" fmla="*/ 657 h 657"/>
              <a:gd name="T66" fmla="*/ 76 w 219"/>
              <a:gd name="T67" fmla="*/ 652 h 657"/>
              <a:gd name="T68" fmla="*/ 62 w 219"/>
              <a:gd name="T69" fmla="*/ 647 h 657"/>
              <a:gd name="T70" fmla="*/ 47 w 219"/>
              <a:gd name="T71" fmla="*/ 637 h 657"/>
              <a:gd name="T72" fmla="*/ 33 w 219"/>
              <a:gd name="T73" fmla="*/ 628 h 657"/>
              <a:gd name="T74" fmla="*/ 24 w 219"/>
              <a:gd name="T75" fmla="*/ 614 h 657"/>
              <a:gd name="T76" fmla="*/ 14 w 219"/>
              <a:gd name="T77" fmla="*/ 599 h 657"/>
              <a:gd name="T78" fmla="*/ 9 w 219"/>
              <a:gd name="T79" fmla="*/ 585 h 657"/>
              <a:gd name="T80" fmla="*/ 4 w 219"/>
              <a:gd name="T81" fmla="*/ 566 h 657"/>
              <a:gd name="T82" fmla="*/ 0 w 219"/>
              <a:gd name="T83" fmla="*/ 547 h 657"/>
              <a:gd name="T84" fmla="*/ 0 w 219"/>
              <a:gd name="T85" fmla="*/ 109 h 657"/>
              <a:gd name="T86" fmla="*/ 0 w 219"/>
              <a:gd name="T87" fmla="*/ 10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9" h="657">
                <a:moveTo>
                  <a:pt x="0" y="109"/>
                </a:moveTo>
                <a:lnTo>
                  <a:pt x="4" y="90"/>
                </a:lnTo>
                <a:lnTo>
                  <a:pt x="9" y="76"/>
                </a:lnTo>
                <a:lnTo>
                  <a:pt x="14" y="62"/>
                </a:lnTo>
                <a:lnTo>
                  <a:pt x="24" y="47"/>
                </a:lnTo>
                <a:lnTo>
                  <a:pt x="33" y="33"/>
                </a:lnTo>
                <a:lnTo>
                  <a:pt x="47" y="24"/>
                </a:lnTo>
                <a:lnTo>
                  <a:pt x="62" y="14"/>
                </a:lnTo>
                <a:lnTo>
                  <a:pt x="76" y="5"/>
                </a:lnTo>
                <a:lnTo>
                  <a:pt x="95" y="0"/>
                </a:lnTo>
                <a:lnTo>
                  <a:pt x="109" y="0"/>
                </a:lnTo>
                <a:lnTo>
                  <a:pt x="128" y="0"/>
                </a:lnTo>
                <a:lnTo>
                  <a:pt x="147" y="5"/>
                </a:lnTo>
                <a:lnTo>
                  <a:pt x="162" y="14"/>
                </a:lnTo>
                <a:lnTo>
                  <a:pt x="176" y="24"/>
                </a:lnTo>
                <a:lnTo>
                  <a:pt x="190" y="33"/>
                </a:lnTo>
                <a:lnTo>
                  <a:pt x="200" y="47"/>
                </a:lnTo>
                <a:lnTo>
                  <a:pt x="209" y="62"/>
                </a:lnTo>
                <a:lnTo>
                  <a:pt x="214" y="76"/>
                </a:lnTo>
                <a:lnTo>
                  <a:pt x="219" y="90"/>
                </a:lnTo>
                <a:lnTo>
                  <a:pt x="219" y="109"/>
                </a:lnTo>
                <a:lnTo>
                  <a:pt x="219" y="547"/>
                </a:lnTo>
                <a:lnTo>
                  <a:pt x="219" y="566"/>
                </a:lnTo>
                <a:lnTo>
                  <a:pt x="214" y="585"/>
                </a:lnTo>
                <a:lnTo>
                  <a:pt x="209" y="599"/>
                </a:lnTo>
                <a:lnTo>
                  <a:pt x="200" y="614"/>
                </a:lnTo>
                <a:lnTo>
                  <a:pt x="190" y="628"/>
                </a:lnTo>
                <a:lnTo>
                  <a:pt x="176" y="637"/>
                </a:lnTo>
                <a:lnTo>
                  <a:pt x="162" y="647"/>
                </a:lnTo>
                <a:lnTo>
                  <a:pt x="147" y="652"/>
                </a:lnTo>
                <a:lnTo>
                  <a:pt x="128" y="657"/>
                </a:lnTo>
                <a:lnTo>
                  <a:pt x="109" y="657"/>
                </a:lnTo>
                <a:lnTo>
                  <a:pt x="95" y="657"/>
                </a:lnTo>
                <a:lnTo>
                  <a:pt x="76" y="652"/>
                </a:lnTo>
                <a:lnTo>
                  <a:pt x="62" y="647"/>
                </a:lnTo>
                <a:lnTo>
                  <a:pt x="47" y="637"/>
                </a:lnTo>
                <a:lnTo>
                  <a:pt x="33" y="628"/>
                </a:lnTo>
                <a:lnTo>
                  <a:pt x="24" y="614"/>
                </a:lnTo>
                <a:lnTo>
                  <a:pt x="14" y="599"/>
                </a:lnTo>
                <a:lnTo>
                  <a:pt x="9" y="585"/>
                </a:lnTo>
                <a:lnTo>
                  <a:pt x="4" y="566"/>
                </a:lnTo>
                <a:lnTo>
                  <a:pt x="0" y="547"/>
                </a:lnTo>
                <a:lnTo>
                  <a:pt x="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81" name="Freeform 11143"/>
          <p:cNvSpPr>
            <a:spLocks/>
          </p:cNvSpPr>
          <p:nvPr/>
        </p:nvSpPr>
        <p:spPr bwMode="auto">
          <a:xfrm>
            <a:off x="2065972" y="2022475"/>
            <a:ext cx="139065" cy="417195"/>
          </a:xfrm>
          <a:custGeom>
            <a:avLst/>
            <a:gdLst>
              <a:gd name="T0" fmla="*/ 0 w 219"/>
              <a:gd name="T1" fmla="*/ 109 h 657"/>
              <a:gd name="T2" fmla="*/ 4 w 219"/>
              <a:gd name="T3" fmla="*/ 90 h 657"/>
              <a:gd name="T4" fmla="*/ 9 w 219"/>
              <a:gd name="T5" fmla="*/ 76 h 657"/>
              <a:gd name="T6" fmla="*/ 14 w 219"/>
              <a:gd name="T7" fmla="*/ 62 h 657"/>
              <a:gd name="T8" fmla="*/ 24 w 219"/>
              <a:gd name="T9" fmla="*/ 47 h 657"/>
              <a:gd name="T10" fmla="*/ 33 w 219"/>
              <a:gd name="T11" fmla="*/ 33 h 657"/>
              <a:gd name="T12" fmla="*/ 47 w 219"/>
              <a:gd name="T13" fmla="*/ 24 h 657"/>
              <a:gd name="T14" fmla="*/ 62 w 219"/>
              <a:gd name="T15" fmla="*/ 14 h 657"/>
              <a:gd name="T16" fmla="*/ 76 w 219"/>
              <a:gd name="T17" fmla="*/ 5 h 657"/>
              <a:gd name="T18" fmla="*/ 95 w 219"/>
              <a:gd name="T19" fmla="*/ 0 h 657"/>
              <a:gd name="T20" fmla="*/ 109 w 219"/>
              <a:gd name="T21" fmla="*/ 0 h 657"/>
              <a:gd name="T22" fmla="*/ 128 w 219"/>
              <a:gd name="T23" fmla="*/ 0 h 657"/>
              <a:gd name="T24" fmla="*/ 147 w 219"/>
              <a:gd name="T25" fmla="*/ 5 h 657"/>
              <a:gd name="T26" fmla="*/ 162 w 219"/>
              <a:gd name="T27" fmla="*/ 14 h 657"/>
              <a:gd name="T28" fmla="*/ 176 w 219"/>
              <a:gd name="T29" fmla="*/ 24 h 657"/>
              <a:gd name="T30" fmla="*/ 190 w 219"/>
              <a:gd name="T31" fmla="*/ 33 h 657"/>
              <a:gd name="T32" fmla="*/ 200 w 219"/>
              <a:gd name="T33" fmla="*/ 47 h 657"/>
              <a:gd name="T34" fmla="*/ 209 w 219"/>
              <a:gd name="T35" fmla="*/ 62 h 657"/>
              <a:gd name="T36" fmla="*/ 214 w 219"/>
              <a:gd name="T37" fmla="*/ 76 h 657"/>
              <a:gd name="T38" fmla="*/ 219 w 219"/>
              <a:gd name="T39" fmla="*/ 90 h 657"/>
              <a:gd name="T40" fmla="*/ 219 w 219"/>
              <a:gd name="T41" fmla="*/ 109 h 657"/>
              <a:gd name="T42" fmla="*/ 219 w 219"/>
              <a:gd name="T43" fmla="*/ 547 h 657"/>
              <a:gd name="T44" fmla="*/ 219 w 219"/>
              <a:gd name="T45" fmla="*/ 566 h 657"/>
              <a:gd name="T46" fmla="*/ 214 w 219"/>
              <a:gd name="T47" fmla="*/ 585 h 657"/>
              <a:gd name="T48" fmla="*/ 209 w 219"/>
              <a:gd name="T49" fmla="*/ 599 h 657"/>
              <a:gd name="T50" fmla="*/ 200 w 219"/>
              <a:gd name="T51" fmla="*/ 614 h 657"/>
              <a:gd name="T52" fmla="*/ 190 w 219"/>
              <a:gd name="T53" fmla="*/ 628 h 657"/>
              <a:gd name="T54" fmla="*/ 176 w 219"/>
              <a:gd name="T55" fmla="*/ 637 h 657"/>
              <a:gd name="T56" fmla="*/ 162 w 219"/>
              <a:gd name="T57" fmla="*/ 647 h 657"/>
              <a:gd name="T58" fmla="*/ 147 w 219"/>
              <a:gd name="T59" fmla="*/ 652 h 657"/>
              <a:gd name="T60" fmla="*/ 128 w 219"/>
              <a:gd name="T61" fmla="*/ 657 h 657"/>
              <a:gd name="T62" fmla="*/ 109 w 219"/>
              <a:gd name="T63" fmla="*/ 657 h 657"/>
              <a:gd name="T64" fmla="*/ 95 w 219"/>
              <a:gd name="T65" fmla="*/ 657 h 657"/>
              <a:gd name="T66" fmla="*/ 76 w 219"/>
              <a:gd name="T67" fmla="*/ 652 h 657"/>
              <a:gd name="T68" fmla="*/ 62 w 219"/>
              <a:gd name="T69" fmla="*/ 647 h 657"/>
              <a:gd name="T70" fmla="*/ 47 w 219"/>
              <a:gd name="T71" fmla="*/ 637 h 657"/>
              <a:gd name="T72" fmla="*/ 33 w 219"/>
              <a:gd name="T73" fmla="*/ 628 h 657"/>
              <a:gd name="T74" fmla="*/ 24 w 219"/>
              <a:gd name="T75" fmla="*/ 614 h 657"/>
              <a:gd name="T76" fmla="*/ 14 w 219"/>
              <a:gd name="T77" fmla="*/ 599 h 657"/>
              <a:gd name="T78" fmla="*/ 9 w 219"/>
              <a:gd name="T79" fmla="*/ 585 h 657"/>
              <a:gd name="T80" fmla="*/ 4 w 219"/>
              <a:gd name="T81" fmla="*/ 566 h 657"/>
              <a:gd name="T82" fmla="*/ 0 w 219"/>
              <a:gd name="T83" fmla="*/ 547 h 657"/>
              <a:gd name="T84" fmla="*/ 0 w 219"/>
              <a:gd name="T85" fmla="*/ 109 h 657"/>
              <a:gd name="T86" fmla="*/ 0 w 219"/>
              <a:gd name="T87" fmla="*/ 109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9" h="657">
                <a:moveTo>
                  <a:pt x="0" y="109"/>
                </a:moveTo>
                <a:lnTo>
                  <a:pt x="4" y="90"/>
                </a:lnTo>
                <a:lnTo>
                  <a:pt x="9" y="76"/>
                </a:lnTo>
                <a:lnTo>
                  <a:pt x="14" y="62"/>
                </a:lnTo>
                <a:lnTo>
                  <a:pt x="24" y="47"/>
                </a:lnTo>
                <a:lnTo>
                  <a:pt x="33" y="33"/>
                </a:lnTo>
                <a:lnTo>
                  <a:pt x="47" y="24"/>
                </a:lnTo>
                <a:lnTo>
                  <a:pt x="62" y="14"/>
                </a:lnTo>
                <a:lnTo>
                  <a:pt x="76" y="5"/>
                </a:lnTo>
                <a:lnTo>
                  <a:pt x="95" y="0"/>
                </a:lnTo>
                <a:lnTo>
                  <a:pt x="109" y="0"/>
                </a:lnTo>
                <a:lnTo>
                  <a:pt x="128" y="0"/>
                </a:lnTo>
                <a:lnTo>
                  <a:pt x="147" y="5"/>
                </a:lnTo>
                <a:lnTo>
                  <a:pt x="162" y="14"/>
                </a:lnTo>
                <a:lnTo>
                  <a:pt x="176" y="24"/>
                </a:lnTo>
                <a:lnTo>
                  <a:pt x="190" y="33"/>
                </a:lnTo>
                <a:lnTo>
                  <a:pt x="200" y="47"/>
                </a:lnTo>
                <a:lnTo>
                  <a:pt x="209" y="62"/>
                </a:lnTo>
                <a:lnTo>
                  <a:pt x="214" y="76"/>
                </a:lnTo>
                <a:lnTo>
                  <a:pt x="219" y="90"/>
                </a:lnTo>
                <a:lnTo>
                  <a:pt x="219" y="109"/>
                </a:lnTo>
                <a:lnTo>
                  <a:pt x="219" y="547"/>
                </a:lnTo>
                <a:lnTo>
                  <a:pt x="219" y="566"/>
                </a:lnTo>
                <a:lnTo>
                  <a:pt x="214" y="585"/>
                </a:lnTo>
                <a:lnTo>
                  <a:pt x="209" y="599"/>
                </a:lnTo>
                <a:lnTo>
                  <a:pt x="200" y="614"/>
                </a:lnTo>
                <a:lnTo>
                  <a:pt x="190" y="628"/>
                </a:lnTo>
                <a:lnTo>
                  <a:pt x="176" y="637"/>
                </a:lnTo>
                <a:lnTo>
                  <a:pt x="162" y="647"/>
                </a:lnTo>
                <a:lnTo>
                  <a:pt x="147" y="652"/>
                </a:lnTo>
                <a:lnTo>
                  <a:pt x="128" y="657"/>
                </a:lnTo>
                <a:lnTo>
                  <a:pt x="109" y="657"/>
                </a:lnTo>
                <a:lnTo>
                  <a:pt x="95" y="657"/>
                </a:lnTo>
                <a:lnTo>
                  <a:pt x="76" y="652"/>
                </a:lnTo>
                <a:lnTo>
                  <a:pt x="62" y="647"/>
                </a:lnTo>
                <a:lnTo>
                  <a:pt x="47" y="637"/>
                </a:lnTo>
                <a:lnTo>
                  <a:pt x="33" y="628"/>
                </a:lnTo>
                <a:lnTo>
                  <a:pt x="24" y="614"/>
                </a:lnTo>
                <a:lnTo>
                  <a:pt x="14" y="599"/>
                </a:lnTo>
                <a:lnTo>
                  <a:pt x="9" y="585"/>
                </a:lnTo>
                <a:lnTo>
                  <a:pt x="4" y="566"/>
                </a:lnTo>
                <a:lnTo>
                  <a:pt x="0" y="547"/>
                </a:lnTo>
                <a:lnTo>
                  <a:pt x="0" y="109"/>
                </a:lnTo>
                <a:lnTo>
                  <a:pt x="0" y="109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82" name="Rectangle 11144"/>
          <p:cNvSpPr>
            <a:spLocks noChangeArrowheads="1"/>
          </p:cNvSpPr>
          <p:nvPr/>
        </p:nvSpPr>
        <p:spPr bwMode="auto">
          <a:xfrm>
            <a:off x="2102167" y="211328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83" name="Rectangle 11145"/>
          <p:cNvSpPr>
            <a:spLocks noChangeArrowheads="1"/>
          </p:cNvSpPr>
          <p:nvPr/>
        </p:nvSpPr>
        <p:spPr bwMode="auto">
          <a:xfrm>
            <a:off x="2165667" y="211328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184" name="Rectangle 11146"/>
          <p:cNvSpPr>
            <a:spLocks noChangeArrowheads="1"/>
          </p:cNvSpPr>
          <p:nvPr/>
        </p:nvSpPr>
        <p:spPr bwMode="auto">
          <a:xfrm>
            <a:off x="2114232" y="21856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85" name="Rectangle 11147"/>
          <p:cNvSpPr>
            <a:spLocks noChangeArrowheads="1"/>
          </p:cNvSpPr>
          <p:nvPr/>
        </p:nvSpPr>
        <p:spPr bwMode="auto">
          <a:xfrm>
            <a:off x="2156777" y="218567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186" name="Rectangle 11148"/>
          <p:cNvSpPr>
            <a:spLocks noChangeArrowheads="1"/>
          </p:cNvSpPr>
          <p:nvPr/>
        </p:nvSpPr>
        <p:spPr bwMode="auto">
          <a:xfrm>
            <a:off x="2114232" y="226123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87" name="Freeform 11149"/>
          <p:cNvSpPr>
            <a:spLocks/>
          </p:cNvSpPr>
          <p:nvPr/>
        </p:nvSpPr>
        <p:spPr bwMode="auto">
          <a:xfrm>
            <a:off x="1817687" y="2239645"/>
            <a:ext cx="429260" cy="810260"/>
          </a:xfrm>
          <a:custGeom>
            <a:avLst/>
            <a:gdLst>
              <a:gd name="T0" fmla="*/ 676 w 676"/>
              <a:gd name="T1" fmla="*/ 1099 h 1099"/>
              <a:gd name="T2" fmla="*/ 676 w 676"/>
              <a:gd name="T3" fmla="*/ 366 h 1099"/>
              <a:gd name="T4" fmla="*/ 0 w 676"/>
              <a:gd name="T5" fmla="*/ 366 h 1099"/>
              <a:gd name="T6" fmla="*/ 0 w 676"/>
              <a:gd name="T7" fmla="*/ 0 h 1099"/>
              <a:gd name="T8" fmla="*/ 343 w 676"/>
              <a:gd name="T9" fmla="*/ 0 h 1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6" h="1099">
                <a:moveTo>
                  <a:pt x="676" y="1099"/>
                </a:moveTo>
                <a:lnTo>
                  <a:pt x="676" y="366"/>
                </a:lnTo>
                <a:lnTo>
                  <a:pt x="0" y="366"/>
                </a:lnTo>
                <a:lnTo>
                  <a:pt x="0" y="0"/>
                </a:lnTo>
                <a:lnTo>
                  <a:pt x="343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88" name="Freeform 11150"/>
          <p:cNvSpPr>
            <a:spLocks/>
          </p:cNvSpPr>
          <p:nvPr/>
        </p:nvSpPr>
        <p:spPr bwMode="auto">
          <a:xfrm>
            <a:off x="2229167" y="3031490"/>
            <a:ext cx="39370" cy="39370"/>
          </a:xfrm>
          <a:custGeom>
            <a:avLst/>
            <a:gdLst>
              <a:gd name="T0" fmla="*/ 28 w 62"/>
              <a:gd name="T1" fmla="*/ 57 h 62"/>
              <a:gd name="T2" fmla="*/ 33 w 62"/>
              <a:gd name="T3" fmla="*/ 57 h 62"/>
              <a:gd name="T4" fmla="*/ 38 w 62"/>
              <a:gd name="T5" fmla="*/ 57 h 62"/>
              <a:gd name="T6" fmla="*/ 43 w 62"/>
              <a:gd name="T7" fmla="*/ 57 h 62"/>
              <a:gd name="T8" fmla="*/ 47 w 62"/>
              <a:gd name="T9" fmla="*/ 53 h 62"/>
              <a:gd name="T10" fmla="*/ 52 w 62"/>
              <a:gd name="T11" fmla="*/ 53 h 62"/>
              <a:gd name="T12" fmla="*/ 52 w 62"/>
              <a:gd name="T13" fmla="*/ 48 h 62"/>
              <a:gd name="T14" fmla="*/ 57 w 62"/>
              <a:gd name="T15" fmla="*/ 43 h 62"/>
              <a:gd name="T16" fmla="*/ 57 w 62"/>
              <a:gd name="T17" fmla="*/ 38 h 62"/>
              <a:gd name="T18" fmla="*/ 57 w 62"/>
              <a:gd name="T19" fmla="*/ 34 h 62"/>
              <a:gd name="T20" fmla="*/ 62 w 62"/>
              <a:gd name="T21" fmla="*/ 29 h 62"/>
              <a:gd name="T22" fmla="*/ 57 w 62"/>
              <a:gd name="T23" fmla="*/ 24 h 62"/>
              <a:gd name="T24" fmla="*/ 57 w 62"/>
              <a:gd name="T25" fmla="*/ 19 h 62"/>
              <a:gd name="T26" fmla="*/ 57 w 62"/>
              <a:gd name="T27" fmla="*/ 19 h 62"/>
              <a:gd name="T28" fmla="*/ 52 w 62"/>
              <a:gd name="T29" fmla="*/ 14 h 62"/>
              <a:gd name="T30" fmla="*/ 52 w 62"/>
              <a:gd name="T31" fmla="*/ 10 h 62"/>
              <a:gd name="T32" fmla="*/ 47 w 62"/>
              <a:gd name="T33" fmla="*/ 5 h 62"/>
              <a:gd name="T34" fmla="*/ 43 w 62"/>
              <a:gd name="T35" fmla="*/ 5 h 62"/>
              <a:gd name="T36" fmla="*/ 38 w 62"/>
              <a:gd name="T37" fmla="*/ 5 h 62"/>
              <a:gd name="T38" fmla="*/ 33 w 62"/>
              <a:gd name="T39" fmla="*/ 0 h 62"/>
              <a:gd name="T40" fmla="*/ 28 w 62"/>
              <a:gd name="T41" fmla="*/ 0 h 62"/>
              <a:gd name="T42" fmla="*/ 24 w 62"/>
              <a:gd name="T43" fmla="*/ 0 h 62"/>
              <a:gd name="T44" fmla="*/ 19 w 62"/>
              <a:gd name="T45" fmla="*/ 5 h 62"/>
              <a:gd name="T46" fmla="*/ 19 w 62"/>
              <a:gd name="T47" fmla="*/ 5 h 62"/>
              <a:gd name="T48" fmla="*/ 14 w 62"/>
              <a:gd name="T49" fmla="*/ 5 h 62"/>
              <a:gd name="T50" fmla="*/ 9 w 62"/>
              <a:gd name="T51" fmla="*/ 10 h 62"/>
              <a:gd name="T52" fmla="*/ 5 w 62"/>
              <a:gd name="T53" fmla="*/ 14 h 62"/>
              <a:gd name="T54" fmla="*/ 5 w 62"/>
              <a:gd name="T55" fmla="*/ 19 h 62"/>
              <a:gd name="T56" fmla="*/ 5 w 62"/>
              <a:gd name="T57" fmla="*/ 19 h 62"/>
              <a:gd name="T58" fmla="*/ 0 w 62"/>
              <a:gd name="T59" fmla="*/ 24 h 62"/>
              <a:gd name="T60" fmla="*/ 0 w 62"/>
              <a:gd name="T61" fmla="*/ 29 h 62"/>
              <a:gd name="T62" fmla="*/ 0 w 62"/>
              <a:gd name="T63" fmla="*/ 34 h 62"/>
              <a:gd name="T64" fmla="*/ 5 w 62"/>
              <a:gd name="T65" fmla="*/ 38 h 62"/>
              <a:gd name="T66" fmla="*/ 5 w 62"/>
              <a:gd name="T67" fmla="*/ 43 h 62"/>
              <a:gd name="T68" fmla="*/ 5 w 62"/>
              <a:gd name="T69" fmla="*/ 48 h 62"/>
              <a:gd name="T70" fmla="*/ 9 w 62"/>
              <a:gd name="T71" fmla="*/ 53 h 62"/>
              <a:gd name="T72" fmla="*/ 14 w 62"/>
              <a:gd name="T73" fmla="*/ 53 h 62"/>
              <a:gd name="T74" fmla="*/ 19 w 62"/>
              <a:gd name="T75" fmla="*/ 57 h 62"/>
              <a:gd name="T76" fmla="*/ 19 w 62"/>
              <a:gd name="T77" fmla="*/ 57 h 62"/>
              <a:gd name="T78" fmla="*/ 24 w 62"/>
              <a:gd name="T79" fmla="*/ 57 h 62"/>
              <a:gd name="T80" fmla="*/ 28 w 62"/>
              <a:gd name="T81" fmla="*/ 62 h 62"/>
              <a:gd name="T82" fmla="*/ 28 w 62"/>
              <a:gd name="T83" fmla="*/ 62 h 62"/>
              <a:gd name="T84" fmla="*/ 28 w 62"/>
              <a:gd name="T85" fmla="*/ 5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2" h="62">
                <a:moveTo>
                  <a:pt x="28" y="57"/>
                </a:moveTo>
                <a:lnTo>
                  <a:pt x="33" y="57"/>
                </a:lnTo>
                <a:lnTo>
                  <a:pt x="38" y="57"/>
                </a:lnTo>
                <a:lnTo>
                  <a:pt x="43" y="57"/>
                </a:lnTo>
                <a:lnTo>
                  <a:pt x="47" y="53"/>
                </a:lnTo>
                <a:lnTo>
                  <a:pt x="52" y="53"/>
                </a:lnTo>
                <a:lnTo>
                  <a:pt x="52" y="48"/>
                </a:lnTo>
                <a:lnTo>
                  <a:pt x="57" y="43"/>
                </a:lnTo>
                <a:lnTo>
                  <a:pt x="57" y="38"/>
                </a:lnTo>
                <a:lnTo>
                  <a:pt x="57" y="34"/>
                </a:lnTo>
                <a:lnTo>
                  <a:pt x="62" y="29"/>
                </a:lnTo>
                <a:lnTo>
                  <a:pt x="57" y="24"/>
                </a:lnTo>
                <a:lnTo>
                  <a:pt x="57" y="19"/>
                </a:lnTo>
                <a:lnTo>
                  <a:pt x="57" y="19"/>
                </a:lnTo>
                <a:lnTo>
                  <a:pt x="52" y="14"/>
                </a:lnTo>
                <a:lnTo>
                  <a:pt x="52" y="10"/>
                </a:lnTo>
                <a:lnTo>
                  <a:pt x="47" y="5"/>
                </a:lnTo>
                <a:lnTo>
                  <a:pt x="43" y="5"/>
                </a:lnTo>
                <a:lnTo>
                  <a:pt x="38" y="5"/>
                </a:lnTo>
                <a:lnTo>
                  <a:pt x="33" y="0"/>
                </a:lnTo>
                <a:lnTo>
                  <a:pt x="28" y="0"/>
                </a:lnTo>
                <a:lnTo>
                  <a:pt x="24" y="0"/>
                </a:lnTo>
                <a:lnTo>
                  <a:pt x="19" y="5"/>
                </a:lnTo>
                <a:lnTo>
                  <a:pt x="19" y="5"/>
                </a:lnTo>
                <a:lnTo>
                  <a:pt x="14" y="5"/>
                </a:lnTo>
                <a:lnTo>
                  <a:pt x="9" y="10"/>
                </a:lnTo>
                <a:lnTo>
                  <a:pt x="5" y="14"/>
                </a:lnTo>
                <a:lnTo>
                  <a:pt x="5" y="19"/>
                </a:lnTo>
                <a:lnTo>
                  <a:pt x="5" y="19"/>
                </a:lnTo>
                <a:lnTo>
                  <a:pt x="0" y="24"/>
                </a:lnTo>
                <a:lnTo>
                  <a:pt x="0" y="29"/>
                </a:lnTo>
                <a:lnTo>
                  <a:pt x="0" y="34"/>
                </a:lnTo>
                <a:lnTo>
                  <a:pt x="5" y="38"/>
                </a:lnTo>
                <a:lnTo>
                  <a:pt x="5" y="43"/>
                </a:lnTo>
                <a:lnTo>
                  <a:pt x="5" y="48"/>
                </a:lnTo>
                <a:lnTo>
                  <a:pt x="9" y="53"/>
                </a:lnTo>
                <a:lnTo>
                  <a:pt x="14" y="53"/>
                </a:lnTo>
                <a:lnTo>
                  <a:pt x="19" y="57"/>
                </a:lnTo>
                <a:lnTo>
                  <a:pt x="19" y="57"/>
                </a:lnTo>
                <a:lnTo>
                  <a:pt x="24" y="57"/>
                </a:lnTo>
                <a:lnTo>
                  <a:pt x="28" y="62"/>
                </a:lnTo>
                <a:lnTo>
                  <a:pt x="28" y="62"/>
                </a:lnTo>
                <a:lnTo>
                  <a:pt x="28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189" name="Rectangle 11151"/>
          <p:cNvSpPr>
            <a:spLocks noChangeArrowheads="1"/>
          </p:cNvSpPr>
          <p:nvPr/>
        </p:nvSpPr>
        <p:spPr bwMode="auto">
          <a:xfrm>
            <a:off x="6557962" y="3458210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90" name="Rectangle 11152"/>
          <p:cNvSpPr>
            <a:spLocks noChangeArrowheads="1"/>
          </p:cNvSpPr>
          <p:nvPr/>
        </p:nvSpPr>
        <p:spPr bwMode="auto">
          <a:xfrm>
            <a:off x="6612572" y="345821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91" name="Rectangle 11153"/>
          <p:cNvSpPr>
            <a:spLocks noChangeArrowheads="1"/>
          </p:cNvSpPr>
          <p:nvPr/>
        </p:nvSpPr>
        <p:spPr bwMode="auto">
          <a:xfrm>
            <a:off x="6654482" y="345821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92" name="Rectangle 11154"/>
          <p:cNvSpPr>
            <a:spLocks noChangeArrowheads="1"/>
          </p:cNvSpPr>
          <p:nvPr/>
        </p:nvSpPr>
        <p:spPr bwMode="auto">
          <a:xfrm>
            <a:off x="6676072" y="345821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93" name="Rectangle 11155"/>
          <p:cNvSpPr>
            <a:spLocks noChangeArrowheads="1"/>
          </p:cNvSpPr>
          <p:nvPr/>
        </p:nvSpPr>
        <p:spPr bwMode="auto">
          <a:xfrm>
            <a:off x="6714807" y="345821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194" name="Rectangle 11156"/>
          <p:cNvSpPr>
            <a:spLocks noChangeArrowheads="1"/>
          </p:cNvSpPr>
          <p:nvPr/>
        </p:nvSpPr>
        <p:spPr bwMode="auto">
          <a:xfrm>
            <a:off x="6506527" y="354584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95" name="Rectangle 11157"/>
          <p:cNvSpPr>
            <a:spLocks noChangeArrowheads="1"/>
          </p:cNvSpPr>
          <p:nvPr/>
        </p:nvSpPr>
        <p:spPr bwMode="auto">
          <a:xfrm>
            <a:off x="6566852" y="354584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96" name="Rectangle 11158"/>
          <p:cNvSpPr>
            <a:spLocks noChangeArrowheads="1"/>
          </p:cNvSpPr>
          <p:nvPr/>
        </p:nvSpPr>
        <p:spPr bwMode="auto">
          <a:xfrm>
            <a:off x="6609397" y="354584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97" name="Rectangle 11159"/>
          <p:cNvSpPr>
            <a:spLocks noChangeArrowheads="1"/>
          </p:cNvSpPr>
          <p:nvPr/>
        </p:nvSpPr>
        <p:spPr bwMode="auto">
          <a:xfrm>
            <a:off x="6672897" y="354584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o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98" name="Rectangle 11160"/>
          <p:cNvSpPr>
            <a:spLocks noChangeArrowheads="1"/>
          </p:cNvSpPr>
          <p:nvPr/>
        </p:nvSpPr>
        <p:spPr bwMode="auto">
          <a:xfrm>
            <a:off x="6712267" y="354584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199" name="Rectangle 11161"/>
          <p:cNvSpPr>
            <a:spLocks noChangeArrowheads="1"/>
          </p:cNvSpPr>
          <p:nvPr/>
        </p:nvSpPr>
        <p:spPr bwMode="auto">
          <a:xfrm>
            <a:off x="6738937" y="354584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y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00" name="Freeform 11162"/>
          <p:cNvSpPr>
            <a:spLocks/>
          </p:cNvSpPr>
          <p:nvPr/>
        </p:nvSpPr>
        <p:spPr bwMode="auto">
          <a:xfrm>
            <a:off x="2068512" y="3025775"/>
            <a:ext cx="48895" cy="48260"/>
          </a:xfrm>
          <a:custGeom>
            <a:avLst/>
            <a:gdLst>
              <a:gd name="T0" fmla="*/ 39 w 77"/>
              <a:gd name="T1" fmla="*/ 0 h 76"/>
              <a:gd name="T2" fmla="*/ 43 w 77"/>
              <a:gd name="T3" fmla="*/ 33 h 76"/>
              <a:gd name="T4" fmla="*/ 77 w 77"/>
              <a:gd name="T5" fmla="*/ 33 h 76"/>
              <a:gd name="T6" fmla="*/ 77 w 77"/>
              <a:gd name="T7" fmla="*/ 43 h 76"/>
              <a:gd name="T8" fmla="*/ 43 w 77"/>
              <a:gd name="T9" fmla="*/ 43 h 76"/>
              <a:gd name="T10" fmla="*/ 43 w 77"/>
              <a:gd name="T11" fmla="*/ 76 h 76"/>
              <a:gd name="T12" fmla="*/ 34 w 77"/>
              <a:gd name="T13" fmla="*/ 76 h 76"/>
              <a:gd name="T14" fmla="*/ 34 w 77"/>
              <a:gd name="T15" fmla="*/ 43 h 76"/>
              <a:gd name="T16" fmla="*/ 0 w 77"/>
              <a:gd name="T17" fmla="*/ 43 h 76"/>
              <a:gd name="T18" fmla="*/ 0 w 77"/>
              <a:gd name="T19" fmla="*/ 33 h 76"/>
              <a:gd name="T20" fmla="*/ 34 w 77"/>
              <a:gd name="T21" fmla="*/ 33 h 76"/>
              <a:gd name="T22" fmla="*/ 34 w 77"/>
              <a:gd name="T23" fmla="*/ 0 h 76"/>
              <a:gd name="T24" fmla="*/ 43 w 77"/>
              <a:gd name="T25" fmla="*/ 0 h 76"/>
              <a:gd name="T26" fmla="*/ 43 w 77"/>
              <a:gd name="T27" fmla="*/ 0 h 76"/>
              <a:gd name="T28" fmla="*/ 39 w 77"/>
              <a:gd name="T29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7" h="76">
                <a:moveTo>
                  <a:pt x="39" y="0"/>
                </a:moveTo>
                <a:lnTo>
                  <a:pt x="43" y="33"/>
                </a:lnTo>
                <a:lnTo>
                  <a:pt x="77" y="33"/>
                </a:lnTo>
                <a:lnTo>
                  <a:pt x="77" y="43"/>
                </a:lnTo>
                <a:lnTo>
                  <a:pt x="43" y="43"/>
                </a:lnTo>
                <a:lnTo>
                  <a:pt x="43" y="76"/>
                </a:lnTo>
                <a:lnTo>
                  <a:pt x="34" y="76"/>
                </a:lnTo>
                <a:lnTo>
                  <a:pt x="34" y="43"/>
                </a:lnTo>
                <a:lnTo>
                  <a:pt x="0" y="43"/>
                </a:lnTo>
                <a:lnTo>
                  <a:pt x="0" y="33"/>
                </a:lnTo>
                <a:lnTo>
                  <a:pt x="34" y="33"/>
                </a:lnTo>
                <a:lnTo>
                  <a:pt x="34" y="0"/>
                </a:lnTo>
                <a:lnTo>
                  <a:pt x="43" y="0"/>
                </a:lnTo>
                <a:lnTo>
                  <a:pt x="43" y="0"/>
                </a:lnTo>
                <a:lnTo>
                  <a:pt x="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01" name="Freeform 11163"/>
          <p:cNvSpPr>
            <a:spLocks/>
          </p:cNvSpPr>
          <p:nvPr/>
        </p:nvSpPr>
        <p:spPr bwMode="auto">
          <a:xfrm>
            <a:off x="5500052" y="3415665"/>
            <a:ext cx="244475" cy="749300"/>
          </a:xfrm>
          <a:custGeom>
            <a:avLst/>
            <a:gdLst>
              <a:gd name="T0" fmla="*/ 0 w 385"/>
              <a:gd name="T1" fmla="*/ 0 h 1180"/>
              <a:gd name="T2" fmla="*/ 4 w 385"/>
              <a:gd name="T3" fmla="*/ 475 h 1180"/>
              <a:gd name="T4" fmla="*/ 123 w 385"/>
              <a:gd name="T5" fmla="*/ 590 h 1180"/>
              <a:gd name="T6" fmla="*/ 4 w 385"/>
              <a:gd name="T7" fmla="*/ 704 h 1180"/>
              <a:gd name="T8" fmla="*/ 4 w 385"/>
              <a:gd name="T9" fmla="*/ 1180 h 1180"/>
              <a:gd name="T10" fmla="*/ 385 w 385"/>
              <a:gd name="T11" fmla="*/ 818 h 1180"/>
              <a:gd name="T12" fmla="*/ 385 w 385"/>
              <a:gd name="T13" fmla="*/ 361 h 1180"/>
              <a:gd name="T14" fmla="*/ 4 w 385"/>
              <a:gd name="T15" fmla="*/ 0 h 1180"/>
              <a:gd name="T16" fmla="*/ 4 w 385"/>
              <a:gd name="T17" fmla="*/ 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5" h="1180">
                <a:moveTo>
                  <a:pt x="0" y="0"/>
                </a:moveTo>
                <a:lnTo>
                  <a:pt x="4" y="475"/>
                </a:lnTo>
                <a:lnTo>
                  <a:pt x="123" y="590"/>
                </a:lnTo>
                <a:lnTo>
                  <a:pt x="4" y="704"/>
                </a:lnTo>
                <a:lnTo>
                  <a:pt x="4" y="1180"/>
                </a:lnTo>
                <a:lnTo>
                  <a:pt x="385" y="818"/>
                </a:lnTo>
                <a:lnTo>
                  <a:pt x="385" y="361"/>
                </a:lnTo>
                <a:lnTo>
                  <a:pt x="4" y="0"/>
                </a:lnTo>
                <a:lnTo>
                  <a:pt x="4" y="0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02" name="Freeform 11164"/>
          <p:cNvSpPr>
            <a:spLocks/>
          </p:cNvSpPr>
          <p:nvPr/>
        </p:nvSpPr>
        <p:spPr bwMode="auto">
          <a:xfrm>
            <a:off x="3541077" y="2639060"/>
            <a:ext cx="180975" cy="561975"/>
          </a:xfrm>
          <a:custGeom>
            <a:avLst/>
            <a:gdLst>
              <a:gd name="T0" fmla="*/ 0 w 285"/>
              <a:gd name="T1" fmla="*/ 0 h 885"/>
              <a:gd name="T2" fmla="*/ 0 w 285"/>
              <a:gd name="T3" fmla="*/ 356 h 885"/>
              <a:gd name="T4" fmla="*/ 90 w 285"/>
              <a:gd name="T5" fmla="*/ 442 h 885"/>
              <a:gd name="T6" fmla="*/ 0 w 285"/>
              <a:gd name="T7" fmla="*/ 528 h 885"/>
              <a:gd name="T8" fmla="*/ 0 w 285"/>
              <a:gd name="T9" fmla="*/ 885 h 885"/>
              <a:gd name="T10" fmla="*/ 285 w 285"/>
              <a:gd name="T11" fmla="*/ 613 h 885"/>
              <a:gd name="T12" fmla="*/ 285 w 285"/>
              <a:gd name="T13" fmla="*/ 271 h 885"/>
              <a:gd name="T14" fmla="*/ 0 w 285"/>
              <a:gd name="T15" fmla="*/ 0 h 885"/>
              <a:gd name="T16" fmla="*/ 0 w 285"/>
              <a:gd name="T17" fmla="*/ 0 h 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5" h="885">
                <a:moveTo>
                  <a:pt x="0" y="0"/>
                </a:moveTo>
                <a:lnTo>
                  <a:pt x="0" y="356"/>
                </a:lnTo>
                <a:lnTo>
                  <a:pt x="90" y="442"/>
                </a:lnTo>
                <a:lnTo>
                  <a:pt x="0" y="528"/>
                </a:lnTo>
                <a:lnTo>
                  <a:pt x="0" y="885"/>
                </a:lnTo>
                <a:lnTo>
                  <a:pt x="285" y="613"/>
                </a:lnTo>
                <a:lnTo>
                  <a:pt x="285" y="271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03" name="Freeform 11165"/>
          <p:cNvSpPr>
            <a:spLocks/>
          </p:cNvSpPr>
          <p:nvPr/>
        </p:nvSpPr>
        <p:spPr bwMode="auto">
          <a:xfrm>
            <a:off x="3637597" y="2895600"/>
            <a:ext cx="48260" cy="48260"/>
          </a:xfrm>
          <a:custGeom>
            <a:avLst/>
            <a:gdLst>
              <a:gd name="T0" fmla="*/ 43 w 76"/>
              <a:gd name="T1" fmla="*/ 0 h 76"/>
              <a:gd name="T2" fmla="*/ 43 w 76"/>
              <a:gd name="T3" fmla="*/ 33 h 76"/>
              <a:gd name="T4" fmla="*/ 76 w 76"/>
              <a:gd name="T5" fmla="*/ 33 h 76"/>
              <a:gd name="T6" fmla="*/ 76 w 76"/>
              <a:gd name="T7" fmla="*/ 43 h 76"/>
              <a:gd name="T8" fmla="*/ 43 w 76"/>
              <a:gd name="T9" fmla="*/ 43 h 76"/>
              <a:gd name="T10" fmla="*/ 43 w 76"/>
              <a:gd name="T11" fmla="*/ 76 h 76"/>
              <a:gd name="T12" fmla="*/ 34 w 76"/>
              <a:gd name="T13" fmla="*/ 76 h 76"/>
              <a:gd name="T14" fmla="*/ 34 w 76"/>
              <a:gd name="T15" fmla="*/ 43 h 76"/>
              <a:gd name="T16" fmla="*/ 0 w 76"/>
              <a:gd name="T17" fmla="*/ 43 h 76"/>
              <a:gd name="T18" fmla="*/ 0 w 76"/>
              <a:gd name="T19" fmla="*/ 33 h 76"/>
              <a:gd name="T20" fmla="*/ 34 w 76"/>
              <a:gd name="T21" fmla="*/ 33 h 76"/>
              <a:gd name="T22" fmla="*/ 34 w 76"/>
              <a:gd name="T23" fmla="*/ 0 h 76"/>
              <a:gd name="T24" fmla="*/ 43 w 76"/>
              <a:gd name="T25" fmla="*/ 0 h 76"/>
              <a:gd name="T26" fmla="*/ 43 w 76"/>
              <a:gd name="T27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" h="76">
                <a:moveTo>
                  <a:pt x="43" y="0"/>
                </a:moveTo>
                <a:lnTo>
                  <a:pt x="43" y="33"/>
                </a:lnTo>
                <a:lnTo>
                  <a:pt x="76" y="33"/>
                </a:lnTo>
                <a:lnTo>
                  <a:pt x="76" y="43"/>
                </a:lnTo>
                <a:lnTo>
                  <a:pt x="43" y="43"/>
                </a:lnTo>
                <a:lnTo>
                  <a:pt x="43" y="76"/>
                </a:lnTo>
                <a:lnTo>
                  <a:pt x="34" y="76"/>
                </a:lnTo>
                <a:lnTo>
                  <a:pt x="34" y="43"/>
                </a:lnTo>
                <a:lnTo>
                  <a:pt x="0" y="43"/>
                </a:lnTo>
                <a:lnTo>
                  <a:pt x="0" y="33"/>
                </a:lnTo>
                <a:lnTo>
                  <a:pt x="34" y="33"/>
                </a:lnTo>
                <a:lnTo>
                  <a:pt x="34" y="0"/>
                </a:lnTo>
                <a:lnTo>
                  <a:pt x="43" y="0"/>
                </a:lnTo>
                <a:lnTo>
                  <a:pt x="4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04" name="Freeform 11166"/>
          <p:cNvSpPr>
            <a:spLocks/>
          </p:cNvSpPr>
          <p:nvPr/>
        </p:nvSpPr>
        <p:spPr bwMode="auto">
          <a:xfrm>
            <a:off x="4985702" y="3288665"/>
            <a:ext cx="139065" cy="416560"/>
          </a:xfrm>
          <a:custGeom>
            <a:avLst/>
            <a:gdLst>
              <a:gd name="T0" fmla="*/ 0 w 219"/>
              <a:gd name="T1" fmla="*/ 109 h 656"/>
              <a:gd name="T2" fmla="*/ 0 w 219"/>
              <a:gd name="T3" fmla="*/ 90 h 656"/>
              <a:gd name="T4" fmla="*/ 5 w 219"/>
              <a:gd name="T5" fmla="*/ 76 h 656"/>
              <a:gd name="T6" fmla="*/ 15 w 219"/>
              <a:gd name="T7" fmla="*/ 57 h 656"/>
              <a:gd name="T8" fmla="*/ 19 w 219"/>
              <a:gd name="T9" fmla="*/ 43 h 656"/>
              <a:gd name="T10" fmla="*/ 34 w 219"/>
              <a:gd name="T11" fmla="*/ 33 h 656"/>
              <a:gd name="T12" fmla="*/ 43 w 219"/>
              <a:gd name="T13" fmla="*/ 19 h 656"/>
              <a:gd name="T14" fmla="*/ 58 w 219"/>
              <a:gd name="T15" fmla="*/ 14 h 656"/>
              <a:gd name="T16" fmla="*/ 77 w 219"/>
              <a:gd name="T17" fmla="*/ 4 h 656"/>
              <a:gd name="T18" fmla="*/ 91 w 219"/>
              <a:gd name="T19" fmla="*/ 0 h 656"/>
              <a:gd name="T20" fmla="*/ 110 w 219"/>
              <a:gd name="T21" fmla="*/ 0 h 656"/>
              <a:gd name="T22" fmla="*/ 129 w 219"/>
              <a:gd name="T23" fmla="*/ 0 h 656"/>
              <a:gd name="T24" fmla="*/ 143 w 219"/>
              <a:gd name="T25" fmla="*/ 4 h 656"/>
              <a:gd name="T26" fmla="*/ 162 w 219"/>
              <a:gd name="T27" fmla="*/ 14 h 656"/>
              <a:gd name="T28" fmla="*/ 177 w 219"/>
              <a:gd name="T29" fmla="*/ 19 h 656"/>
              <a:gd name="T30" fmla="*/ 186 w 219"/>
              <a:gd name="T31" fmla="*/ 33 h 656"/>
              <a:gd name="T32" fmla="*/ 200 w 219"/>
              <a:gd name="T33" fmla="*/ 43 h 656"/>
              <a:gd name="T34" fmla="*/ 205 w 219"/>
              <a:gd name="T35" fmla="*/ 57 h 656"/>
              <a:gd name="T36" fmla="*/ 215 w 219"/>
              <a:gd name="T37" fmla="*/ 76 h 656"/>
              <a:gd name="T38" fmla="*/ 219 w 219"/>
              <a:gd name="T39" fmla="*/ 90 h 656"/>
              <a:gd name="T40" fmla="*/ 219 w 219"/>
              <a:gd name="T41" fmla="*/ 109 h 656"/>
              <a:gd name="T42" fmla="*/ 219 w 219"/>
              <a:gd name="T43" fmla="*/ 547 h 656"/>
              <a:gd name="T44" fmla="*/ 219 w 219"/>
              <a:gd name="T45" fmla="*/ 566 h 656"/>
              <a:gd name="T46" fmla="*/ 215 w 219"/>
              <a:gd name="T47" fmla="*/ 585 h 656"/>
              <a:gd name="T48" fmla="*/ 205 w 219"/>
              <a:gd name="T49" fmla="*/ 599 h 656"/>
              <a:gd name="T50" fmla="*/ 200 w 219"/>
              <a:gd name="T51" fmla="*/ 614 h 656"/>
              <a:gd name="T52" fmla="*/ 186 w 219"/>
              <a:gd name="T53" fmla="*/ 628 h 656"/>
              <a:gd name="T54" fmla="*/ 177 w 219"/>
              <a:gd name="T55" fmla="*/ 637 h 656"/>
              <a:gd name="T56" fmla="*/ 162 w 219"/>
              <a:gd name="T57" fmla="*/ 647 h 656"/>
              <a:gd name="T58" fmla="*/ 143 w 219"/>
              <a:gd name="T59" fmla="*/ 652 h 656"/>
              <a:gd name="T60" fmla="*/ 129 w 219"/>
              <a:gd name="T61" fmla="*/ 656 h 656"/>
              <a:gd name="T62" fmla="*/ 110 w 219"/>
              <a:gd name="T63" fmla="*/ 656 h 656"/>
              <a:gd name="T64" fmla="*/ 91 w 219"/>
              <a:gd name="T65" fmla="*/ 656 h 656"/>
              <a:gd name="T66" fmla="*/ 77 w 219"/>
              <a:gd name="T67" fmla="*/ 652 h 656"/>
              <a:gd name="T68" fmla="*/ 58 w 219"/>
              <a:gd name="T69" fmla="*/ 647 h 656"/>
              <a:gd name="T70" fmla="*/ 43 w 219"/>
              <a:gd name="T71" fmla="*/ 637 h 656"/>
              <a:gd name="T72" fmla="*/ 34 w 219"/>
              <a:gd name="T73" fmla="*/ 628 h 656"/>
              <a:gd name="T74" fmla="*/ 19 w 219"/>
              <a:gd name="T75" fmla="*/ 614 h 656"/>
              <a:gd name="T76" fmla="*/ 15 w 219"/>
              <a:gd name="T77" fmla="*/ 599 h 656"/>
              <a:gd name="T78" fmla="*/ 5 w 219"/>
              <a:gd name="T79" fmla="*/ 585 h 656"/>
              <a:gd name="T80" fmla="*/ 0 w 219"/>
              <a:gd name="T81" fmla="*/ 566 h 656"/>
              <a:gd name="T82" fmla="*/ 0 w 219"/>
              <a:gd name="T83" fmla="*/ 547 h 656"/>
              <a:gd name="T84" fmla="*/ 0 w 219"/>
              <a:gd name="T85" fmla="*/ 109 h 656"/>
              <a:gd name="T86" fmla="*/ 0 w 219"/>
              <a:gd name="T87" fmla="*/ 109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9" h="656">
                <a:moveTo>
                  <a:pt x="0" y="109"/>
                </a:moveTo>
                <a:lnTo>
                  <a:pt x="0" y="90"/>
                </a:lnTo>
                <a:lnTo>
                  <a:pt x="5" y="76"/>
                </a:lnTo>
                <a:lnTo>
                  <a:pt x="15" y="57"/>
                </a:lnTo>
                <a:lnTo>
                  <a:pt x="19" y="43"/>
                </a:lnTo>
                <a:lnTo>
                  <a:pt x="34" y="33"/>
                </a:lnTo>
                <a:lnTo>
                  <a:pt x="43" y="19"/>
                </a:lnTo>
                <a:lnTo>
                  <a:pt x="58" y="14"/>
                </a:lnTo>
                <a:lnTo>
                  <a:pt x="77" y="4"/>
                </a:lnTo>
                <a:lnTo>
                  <a:pt x="91" y="0"/>
                </a:lnTo>
                <a:lnTo>
                  <a:pt x="110" y="0"/>
                </a:lnTo>
                <a:lnTo>
                  <a:pt x="129" y="0"/>
                </a:lnTo>
                <a:lnTo>
                  <a:pt x="143" y="4"/>
                </a:lnTo>
                <a:lnTo>
                  <a:pt x="162" y="14"/>
                </a:lnTo>
                <a:lnTo>
                  <a:pt x="177" y="19"/>
                </a:lnTo>
                <a:lnTo>
                  <a:pt x="186" y="33"/>
                </a:lnTo>
                <a:lnTo>
                  <a:pt x="200" y="43"/>
                </a:lnTo>
                <a:lnTo>
                  <a:pt x="205" y="57"/>
                </a:lnTo>
                <a:lnTo>
                  <a:pt x="215" y="76"/>
                </a:lnTo>
                <a:lnTo>
                  <a:pt x="219" y="90"/>
                </a:lnTo>
                <a:lnTo>
                  <a:pt x="219" y="109"/>
                </a:lnTo>
                <a:lnTo>
                  <a:pt x="219" y="547"/>
                </a:lnTo>
                <a:lnTo>
                  <a:pt x="219" y="566"/>
                </a:lnTo>
                <a:lnTo>
                  <a:pt x="215" y="585"/>
                </a:lnTo>
                <a:lnTo>
                  <a:pt x="205" y="599"/>
                </a:lnTo>
                <a:lnTo>
                  <a:pt x="200" y="614"/>
                </a:lnTo>
                <a:lnTo>
                  <a:pt x="186" y="628"/>
                </a:lnTo>
                <a:lnTo>
                  <a:pt x="177" y="637"/>
                </a:lnTo>
                <a:lnTo>
                  <a:pt x="162" y="647"/>
                </a:lnTo>
                <a:lnTo>
                  <a:pt x="143" y="652"/>
                </a:lnTo>
                <a:lnTo>
                  <a:pt x="129" y="656"/>
                </a:lnTo>
                <a:lnTo>
                  <a:pt x="110" y="656"/>
                </a:lnTo>
                <a:lnTo>
                  <a:pt x="91" y="656"/>
                </a:lnTo>
                <a:lnTo>
                  <a:pt x="77" y="652"/>
                </a:lnTo>
                <a:lnTo>
                  <a:pt x="58" y="647"/>
                </a:lnTo>
                <a:lnTo>
                  <a:pt x="43" y="637"/>
                </a:lnTo>
                <a:lnTo>
                  <a:pt x="34" y="628"/>
                </a:lnTo>
                <a:lnTo>
                  <a:pt x="19" y="614"/>
                </a:lnTo>
                <a:lnTo>
                  <a:pt x="15" y="599"/>
                </a:lnTo>
                <a:lnTo>
                  <a:pt x="5" y="585"/>
                </a:lnTo>
                <a:lnTo>
                  <a:pt x="0" y="566"/>
                </a:lnTo>
                <a:lnTo>
                  <a:pt x="0" y="547"/>
                </a:lnTo>
                <a:lnTo>
                  <a:pt x="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05" name="Freeform 11167"/>
          <p:cNvSpPr>
            <a:spLocks/>
          </p:cNvSpPr>
          <p:nvPr/>
        </p:nvSpPr>
        <p:spPr bwMode="auto">
          <a:xfrm>
            <a:off x="4985702" y="3288665"/>
            <a:ext cx="139065" cy="416560"/>
          </a:xfrm>
          <a:custGeom>
            <a:avLst/>
            <a:gdLst>
              <a:gd name="T0" fmla="*/ 0 w 219"/>
              <a:gd name="T1" fmla="*/ 109 h 656"/>
              <a:gd name="T2" fmla="*/ 0 w 219"/>
              <a:gd name="T3" fmla="*/ 90 h 656"/>
              <a:gd name="T4" fmla="*/ 5 w 219"/>
              <a:gd name="T5" fmla="*/ 76 h 656"/>
              <a:gd name="T6" fmla="*/ 15 w 219"/>
              <a:gd name="T7" fmla="*/ 57 h 656"/>
              <a:gd name="T8" fmla="*/ 19 w 219"/>
              <a:gd name="T9" fmla="*/ 43 h 656"/>
              <a:gd name="T10" fmla="*/ 34 w 219"/>
              <a:gd name="T11" fmla="*/ 33 h 656"/>
              <a:gd name="T12" fmla="*/ 43 w 219"/>
              <a:gd name="T13" fmla="*/ 19 h 656"/>
              <a:gd name="T14" fmla="*/ 58 w 219"/>
              <a:gd name="T15" fmla="*/ 14 h 656"/>
              <a:gd name="T16" fmla="*/ 77 w 219"/>
              <a:gd name="T17" fmla="*/ 4 h 656"/>
              <a:gd name="T18" fmla="*/ 91 w 219"/>
              <a:gd name="T19" fmla="*/ 0 h 656"/>
              <a:gd name="T20" fmla="*/ 110 w 219"/>
              <a:gd name="T21" fmla="*/ 0 h 656"/>
              <a:gd name="T22" fmla="*/ 129 w 219"/>
              <a:gd name="T23" fmla="*/ 0 h 656"/>
              <a:gd name="T24" fmla="*/ 143 w 219"/>
              <a:gd name="T25" fmla="*/ 4 h 656"/>
              <a:gd name="T26" fmla="*/ 162 w 219"/>
              <a:gd name="T27" fmla="*/ 14 h 656"/>
              <a:gd name="T28" fmla="*/ 177 w 219"/>
              <a:gd name="T29" fmla="*/ 19 h 656"/>
              <a:gd name="T30" fmla="*/ 186 w 219"/>
              <a:gd name="T31" fmla="*/ 33 h 656"/>
              <a:gd name="T32" fmla="*/ 200 w 219"/>
              <a:gd name="T33" fmla="*/ 43 h 656"/>
              <a:gd name="T34" fmla="*/ 205 w 219"/>
              <a:gd name="T35" fmla="*/ 57 h 656"/>
              <a:gd name="T36" fmla="*/ 215 w 219"/>
              <a:gd name="T37" fmla="*/ 76 h 656"/>
              <a:gd name="T38" fmla="*/ 219 w 219"/>
              <a:gd name="T39" fmla="*/ 90 h 656"/>
              <a:gd name="T40" fmla="*/ 219 w 219"/>
              <a:gd name="T41" fmla="*/ 109 h 656"/>
              <a:gd name="T42" fmla="*/ 219 w 219"/>
              <a:gd name="T43" fmla="*/ 547 h 656"/>
              <a:gd name="T44" fmla="*/ 219 w 219"/>
              <a:gd name="T45" fmla="*/ 566 h 656"/>
              <a:gd name="T46" fmla="*/ 215 w 219"/>
              <a:gd name="T47" fmla="*/ 585 h 656"/>
              <a:gd name="T48" fmla="*/ 205 w 219"/>
              <a:gd name="T49" fmla="*/ 599 h 656"/>
              <a:gd name="T50" fmla="*/ 200 w 219"/>
              <a:gd name="T51" fmla="*/ 614 h 656"/>
              <a:gd name="T52" fmla="*/ 186 w 219"/>
              <a:gd name="T53" fmla="*/ 628 h 656"/>
              <a:gd name="T54" fmla="*/ 177 w 219"/>
              <a:gd name="T55" fmla="*/ 637 h 656"/>
              <a:gd name="T56" fmla="*/ 162 w 219"/>
              <a:gd name="T57" fmla="*/ 647 h 656"/>
              <a:gd name="T58" fmla="*/ 143 w 219"/>
              <a:gd name="T59" fmla="*/ 652 h 656"/>
              <a:gd name="T60" fmla="*/ 129 w 219"/>
              <a:gd name="T61" fmla="*/ 656 h 656"/>
              <a:gd name="T62" fmla="*/ 110 w 219"/>
              <a:gd name="T63" fmla="*/ 656 h 656"/>
              <a:gd name="T64" fmla="*/ 91 w 219"/>
              <a:gd name="T65" fmla="*/ 656 h 656"/>
              <a:gd name="T66" fmla="*/ 77 w 219"/>
              <a:gd name="T67" fmla="*/ 652 h 656"/>
              <a:gd name="T68" fmla="*/ 58 w 219"/>
              <a:gd name="T69" fmla="*/ 647 h 656"/>
              <a:gd name="T70" fmla="*/ 43 w 219"/>
              <a:gd name="T71" fmla="*/ 637 h 656"/>
              <a:gd name="T72" fmla="*/ 34 w 219"/>
              <a:gd name="T73" fmla="*/ 628 h 656"/>
              <a:gd name="T74" fmla="*/ 19 w 219"/>
              <a:gd name="T75" fmla="*/ 614 h 656"/>
              <a:gd name="T76" fmla="*/ 15 w 219"/>
              <a:gd name="T77" fmla="*/ 599 h 656"/>
              <a:gd name="T78" fmla="*/ 5 w 219"/>
              <a:gd name="T79" fmla="*/ 585 h 656"/>
              <a:gd name="T80" fmla="*/ 0 w 219"/>
              <a:gd name="T81" fmla="*/ 566 h 656"/>
              <a:gd name="T82" fmla="*/ 0 w 219"/>
              <a:gd name="T83" fmla="*/ 547 h 656"/>
              <a:gd name="T84" fmla="*/ 0 w 219"/>
              <a:gd name="T85" fmla="*/ 109 h 656"/>
              <a:gd name="T86" fmla="*/ 0 w 219"/>
              <a:gd name="T87" fmla="*/ 109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9" h="656">
                <a:moveTo>
                  <a:pt x="0" y="109"/>
                </a:moveTo>
                <a:lnTo>
                  <a:pt x="0" y="90"/>
                </a:lnTo>
                <a:lnTo>
                  <a:pt x="5" y="76"/>
                </a:lnTo>
                <a:lnTo>
                  <a:pt x="15" y="57"/>
                </a:lnTo>
                <a:lnTo>
                  <a:pt x="19" y="43"/>
                </a:lnTo>
                <a:lnTo>
                  <a:pt x="34" y="33"/>
                </a:lnTo>
                <a:lnTo>
                  <a:pt x="43" y="19"/>
                </a:lnTo>
                <a:lnTo>
                  <a:pt x="58" y="14"/>
                </a:lnTo>
                <a:lnTo>
                  <a:pt x="77" y="4"/>
                </a:lnTo>
                <a:lnTo>
                  <a:pt x="91" y="0"/>
                </a:lnTo>
                <a:lnTo>
                  <a:pt x="110" y="0"/>
                </a:lnTo>
                <a:lnTo>
                  <a:pt x="129" y="0"/>
                </a:lnTo>
                <a:lnTo>
                  <a:pt x="143" y="4"/>
                </a:lnTo>
                <a:lnTo>
                  <a:pt x="162" y="14"/>
                </a:lnTo>
                <a:lnTo>
                  <a:pt x="177" y="19"/>
                </a:lnTo>
                <a:lnTo>
                  <a:pt x="186" y="33"/>
                </a:lnTo>
                <a:lnTo>
                  <a:pt x="200" y="43"/>
                </a:lnTo>
                <a:lnTo>
                  <a:pt x="205" y="57"/>
                </a:lnTo>
                <a:lnTo>
                  <a:pt x="215" y="76"/>
                </a:lnTo>
                <a:lnTo>
                  <a:pt x="219" y="90"/>
                </a:lnTo>
                <a:lnTo>
                  <a:pt x="219" y="109"/>
                </a:lnTo>
                <a:lnTo>
                  <a:pt x="219" y="547"/>
                </a:lnTo>
                <a:lnTo>
                  <a:pt x="219" y="566"/>
                </a:lnTo>
                <a:lnTo>
                  <a:pt x="215" y="585"/>
                </a:lnTo>
                <a:lnTo>
                  <a:pt x="205" y="599"/>
                </a:lnTo>
                <a:lnTo>
                  <a:pt x="200" y="614"/>
                </a:lnTo>
                <a:lnTo>
                  <a:pt x="186" y="628"/>
                </a:lnTo>
                <a:lnTo>
                  <a:pt x="177" y="637"/>
                </a:lnTo>
                <a:lnTo>
                  <a:pt x="162" y="647"/>
                </a:lnTo>
                <a:lnTo>
                  <a:pt x="143" y="652"/>
                </a:lnTo>
                <a:lnTo>
                  <a:pt x="129" y="656"/>
                </a:lnTo>
                <a:lnTo>
                  <a:pt x="110" y="656"/>
                </a:lnTo>
                <a:lnTo>
                  <a:pt x="91" y="656"/>
                </a:lnTo>
                <a:lnTo>
                  <a:pt x="77" y="652"/>
                </a:lnTo>
                <a:lnTo>
                  <a:pt x="58" y="647"/>
                </a:lnTo>
                <a:lnTo>
                  <a:pt x="43" y="637"/>
                </a:lnTo>
                <a:lnTo>
                  <a:pt x="34" y="628"/>
                </a:lnTo>
                <a:lnTo>
                  <a:pt x="19" y="614"/>
                </a:lnTo>
                <a:lnTo>
                  <a:pt x="15" y="599"/>
                </a:lnTo>
                <a:lnTo>
                  <a:pt x="5" y="585"/>
                </a:lnTo>
                <a:lnTo>
                  <a:pt x="0" y="566"/>
                </a:lnTo>
                <a:lnTo>
                  <a:pt x="0" y="547"/>
                </a:lnTo>
                <a:lnTo>
                  <a:pt x="0" y="109"/>
                </a:lnTo>
                <a:lnTo>
                  <a:pt x="0" y="109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06" name="Rectangle 11168"/>
          <p:cNvSpPr>
            <a:spLocks noChangeArrowheads="1"/>
          </p:cNvSpPr>
          <p:nvPr/>
        </p:nvSpPr>
        <p:spPr bwMode="auto">
          <a:xfrm>
            <a:off x="5022532" y="337947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07" name="Rectangle 11169"/>
          <p:cNvSpPr>
            <a:spLocks noChangeArrowheads="1"/>
          </p:cNvSpPr>
          <p:nvPr/>
        </p:nvSpPr>
        <p:spPr bwMode="auto">
          <a:xfrm>
            <a:off x="5082857" y="337947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208" name="Rectangle 11170"/>
          <p:cNvSpPr>
            <a:spLocks noChangeArrowheads="1"/>
          </p:cNvSpPr>
          <p:nvPr/>
        </p:nvSpPr>
        <p:spPr bwMode="auto">
          <a:xfrm>
            <a:off x="5034597" y="345186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09" name="Rectangle 11171"/>
          <p:cNvSpPr>
            <a:spLocks noChangeArrowheads="1"/>
          </p:cNvSpPr>
          <p:nvPr/>
        </p:nvSpPr>
        <p:spPr bwMode="auto">
          <a:xfrm>
            <a:off x="5076507" y="345186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210" name="Rectangle 11172"/>
          <p:cNvSpPr>
            <a:spLocks noChangeArrowheads="1"/>
          </p:cNvSpPr>
          <p:nvPr/>
        </p:nvSpPr>
        <p:spPr bwMode="auto">
          <a:xfrm>
            <a:off x="5034597" y="352742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11" name="Freeform 11173"/>
          <p:cNvSpPr>
            <a:spLocks/>
          </p:cNvSpPr>
          <p:nvPr/>
        </p:nvSpPr>
        <p:spPr bwMode="auto">
          <a:xfrm>
            <a:off x="2854642" y="1792605"/>
            <a:ext cx="559435" cy="335280"/>
          </a:xfrm>
          <a:custGeom>
            <a:avLst/>
            <a:gdLst>
              <a:gd name="T0" fmla="*/ 700 w 881"/>
              <a:gd name="T1" fmla="*/ 524 h 528"/>
              <a:gd name="T2" fmla="*/ 733 w 881"/>
              <a:gd name="T3" fmla="*/ 524 h 528"/>
              <a:gd name="T4" fmla="*/ 757 w 881"/>
              <a:gd name="T5" fmla="*/ 519 h 528"/>
              <a:gd name="T6" fmla="*/ 786 w 881"/>
              <a:gd name="T7" fmla="*/ 505 h 528"/>
              <a:gd name="T8" fmla="*/ 805 w 881"/>
              <a:gd name="T9" fmla="*/ 490 h 528"/>
              <a:gd name="T10" fmla="*/ 829 w 881"/>
              <a:gd name="T11" fmla="*/ 476 h 528"/>
              <a:gd name="T12" fmla="*/ 843 w 881"/>
              <a:gd name="T13" fmla="*/ 452 h 528"/>
              <a:gd name="T14" fmla="*/ 857 w 881"/>
              <a:gd name="T15" fmla="*/ 433 h 528"/>
              <a:gd name="T16" fmla="*/ 871 w 881"/>
              <a:gd name="T17" fmla="*/ 405 h 528"/>
              <a:gd name="T18" fmla="*/ 876 w 881"/>
              <a:gd name="T19" fmla="*/ 381 h 528"/>
              <a:gd name="T20" fmla="*/ 881 w 881"/>
              <a:gd name="T21" fmla="*/ 352 h 528"/>
              <a:gd name="T22" fmla="*/ 881 w 881"/>
              <a:gd name="T23" fmla="*/ 176 h 528"/>
              <a:gd name="T24" fmla="*/ 876 w 881"/>
              <a:gd name="T25" fmla="*/ 148 h 528"/>
              <a:gd name="T26" fmla="*/ 871 w 881"/>
              <a:gd name="T27" fmla="*/ 119 h 528"/>
              <a:gd name="T28" fmla="*/ 857 w 881"/>
              <a:gd name="T29" fmla="*/ 95 h 528"/>
              <a:gd name="T30" fmla="*/ 843 w 881"/>
              <a:gd name="T31" fmla="*/ 72 h 528"/>
              <a:gd name="T32" fmla="*/ 829 w 881"/>
              <a:gd name="T33" fmla="*/ 48 h 528"/>
              <a:gd name="T34" fmla="*/ 805 w 881"/>
              <a:gd name="T35" fmla="*/ 33 h 528"/>
              <a:gd name="T36" fmla="*/ 786 w 881"/>
              <a:gd name="T37" fmla="*/ 19 h 528"/>
              <a:gd name="T38" fmla="*/ 757 w 881"/>
              <a:gd name="T39" fmla="*/ 10 h 528"/>
              <a:gd name="T40" fmla="*/ 733 w 881"/>
              <a:gd name="T41" fmla="*/ 0 h 528"/>
              <a:gd name="T42" fmla="*/ 705 w 881"/>
              <a:gd name="T43" fmla="*/ 0 h 528"/>
              <a:gd name="T44" fmla="*/ 176 w 881"/>
              <a:gd name="T45" fmla="*/ 0 h 528"/>
              <a:gd name="T46" fmla="*/ 148 w 881"/>
              <a:gd name="T47" fmla="*/ 0 h 528"/>
              <a:gd name="T48" fmla="*/ 119 w 881"/>
              <a:gd name="T49" fmla="*/ 10 h 528"/>
              <a:gd name="T50" fmla="*/ 95 w 881"/>
              <a:gd name="T51" fmla="*/ 19 h 528"/>
              <a:gd name="T52" fmla="*/ 72 w 881"/>
              <a:gd name="T53" fmla="*/ 33 h 528"/>
              <a:gd name="T54" fmla="*/ 48 w 881"/>
              <a:gd name="T55" fmla="*/ 48 h 528"/>
              <a:gd name="T56" fmla="*/ 34 w 881"/>
              <a:gd name="T57" fmla="*/ 72 h 528"/>
              <a:gd name="T58" fmla="*/ 19 w 881"/>
              <a:gd name="T59" fmla="*/ 95 h 528"/>
              <a:gd name="T60" fmla="*/ 10 w 881"/>
              <a:gd name="T61" fmla="*/ 119 h 528"/>
              <a:gd name="T62" fmla="*/ 0 w 881"/>
              <a:gd name="T63" fmla="*/ 148 h 528"/>
              <a:gd name="T64" fmla="*/ 0 w 881"/>
              <a:gd name="T65" fmla="*/ 176 h 528"/>
              <a:gd name="T66" fmla="*/ 0 w 881"/>
              <a:gd name="T67" fmla="*/ 352 h 528"/>
              <a:gd name="T68" fmla="*/ 0 w 881"/>
              <a:gd name="T69" fmla="*/ 381 h 528"/>
              <a:gd name="T70" fmla="*/ 10 w 881"/>
              <a:gd name="T71" fmla="*/ 405 h 528"/>
              <a:gd name="T72" fmla="*/ 19 w 881"/>
              <a:gd name="T73" fmla="*/ 433 h 528"/>
              <a:gd name="T74" fmla="*/ 34 w 881"/>
              <a:gd name="T75" fmla="*/ 452 h 528"/>
              <a:gd name="T76" fmla="*/ 48 w 881"/>
              <a:gd name="T77" fmla="*/ 476 h 528"/>
              <a:gd name="T78" fmla="*/ 72 w 881"/>
              <a:gd name="T79" fmla="*/ 490 h 528"/>
              <a:gd name="T80" fmla="*/ 95 w 881"/>
              <a:gd name="T81" fmla="*/ 505 h 528"/>
              <a:gd name="T82" fmla="*/ 119 w 881"/>
              <a:gd name="T83" fmla="*/ 519 h 528"/>
              <a:gd name="T84" fmla="*/ 148 w 881"/>
              <a:gd name="T85" fmla="*/ 524 h 528"/>
              <a:gd name="T86" fmla="*/ 176 w 881"/>
              <a:gd name="T87" fmla="*/ 528 h 528"/>
              <a:gd name="T88" fmla="*/ 705 w 881"/>
              <a:gd name="T89" fmla="*/ 528 h 528"/>
              <a:gd name="T90" fmla="*/ 705 w 881"/>
              <a:gd name="T91" fmla="*/ 528 h 528"/>
              <a:gd name="T92" fmla="*/ 700 w 881"/>
              <a:gd name="T93" fmla="*/ 524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81" h="528">
                <a:moveTo>
                  <a:pt x="700" y="524"/>
                </a:moveTo>
                <a:lnTo>
                  <a:pt x="733" y="524"/>
                </a:lnTo>
                <a:lnTo>
                  <a:pt x="757" y="519"/>
                </a:lnTo>
                <a:lnTo>
                  <a:pt x="786" y="505"/>
                </a:lnTo>
                <a:lnTo>
                  <a:pt x="805" y="490"/>
                </a:lnTo>
                <a:lnTo>
                  <a:pt x="829" y="476"/>
                </a:lnTo>
                <a:lnTo>
                  <a:pt x="843" y="452"/>
                </a:lnTo>
                <a:lnTo>
                  <a:pt x="857" y="433"/>
                </a:lnTo>
                <a:lnTo>
                  <a:pt x="871" y="405"/>
                </a:lnTo>
                <a:lnTo>
                  <a:pt x="876" y="381"/>
                </a:lnTo>
                <a:lnTo>
                  <a:pt x="881" y="352"/>
                </a:lnTo>
                <a:lnTo>
                  <a:pt x="881" y="176"/>
                </a:lnTo>
                <a:lnTo>
                  <a:pt x="876" y="148"/>
                </a:lnTo>
                <a:lnTo>
                  <a:pt x="871" y="119"/>
                </a:lnTo>
                <a:lnTo>
                  <a:pt x="857" y="95"/>
                </a:lnTo>
                <a:lnTo>
                  <a:pt x="843" y="72"/>
                </a:lnTo>
                <a:lnTo>
                  <a:pt x="829" y="48"/>
                </a:lnTo>
                <a:lnTo>
                  <a:pt x="805" y="33"/>
                </a:lnTo>
                <a:lnTo>
                  <a:pt x="786" y="19"/>
                </a:lnTo>
                <a:lnTo>
                  <a:pt x="757" y="10"/>
                </a:lnTo>
                <a:lnTo>
                  <a:pt x="733" y="0"/>
                </a:lnTo>
                <a:lnTo>
                  <a:pt x="705" y="0"/>
                </a:lnTo>
                <a:lnTo>
                  <a:pt x="176" y="0"/>
                </a:lnTo>
                <a:lnTo>
                  <a:pt x="148" y="0"/>
                </a:lnTo>
                <a:lnTo>
                  <a:pt x="119" y="10"/>
                </a:lnTo>
                <a:lnTo>
                  <a:pt x="95" y="19"/>
                </a:lnTo>
                <a:lnTo>
                  <a:pt x="72" y="33"/>
                </a:lnTo>
                <a:lnTo>
                  <a:pt x="48" y="48"/>
                </a:lnTo>
                <a:lnTo>
                  <a:pt x="34" y="72"/>
                </a:lnTo>
                <a:lnTo>
                  <a:pt x="19" y="95"/>
                </a:lnTo>
                <a:lnTo>
                  <a:pt x="10" y="119"/>
                </a:lnTo>
                <a:lnTo>
                  <a:pt x="0" y="148"/>
                </a:lnTo>
                <a:lnTo>
                  <a:pt x="0" y="176"/>
                </a:lnTo>
                <a:lnTo>
                  <a:pt x="0" y="352"/>
                </a:lnTo>
                <a:lnTo>
                  <a:pt x="0" y="381"/>
                </a:lnTo>
                <a:lnTo>
                  <a:pt x="10" y="405"/>
                </a:lnTo>
                <a:lnTo>
                  <a:pt x="19" y="433"/>
                </a:lnTo>
                <a:lnTo>
                  <a:pt x="34" y="452"/>
                </a:lnTo>
                <a:lnTo>
                  <a:pt x="48" y="476"/>
                </a:lnTo>
                <a:lnTo>
                  <a:pt x="72" y="490"/>
                </a:lnTo>
                <a:lnTo>
                  <a:pt x="95" y="505"/>
                </a:lnTo>
                <a:lnTo>
                  <a:pt x="119" y="519"/>
                </a:lnTo>
                <a:lnTo>
                  <a:pt x="148" y="524"/>
                </a:lnTo>
                <a:lnTo>
                  <a:pt x="176" y="528"/>
                </a:lnTo>
                <a:lnTo>
                  <a:pt x="705" y="528"/>
                </a:lnTo>
                <a:lnTo>
                  <a:pt x="705" y="528"/>
                </a:lnTo>
                <a:lnTo>
                  <a:pt x="700" y="5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12" name="Freeform 11174"/>
          <p:cNvSpPr>
            <a:spLocks/>
          </p:cNvSpPr>
          <p:nvPr/>
        </p:nvSpPr>
        <p:spPr bwMode="auto">
          <a:xfrm>
            <a:off x="5285422" y="5116830"/>
            <a:ext cx="558800" cy="335280"/>
          </a:xfrm>
          <a:custGeom>
            <a:avLst/>
            <a:gdLst>
              <a:gd name="T0" fmla="*/ 699 w 880"/>
              <a:gd name="T1" fmla="*/ 528 h 528"/>
              <a:gd name="T2" fmla="*/ 733 w 880"/>
              <a:gd name="T3" fmla="*/ 528 h 528"/>
              <a:gd name="T4" fmla="*/ 757 w 880"/>
              <a:gd name="T5" fmla="*/ 518 h 528"/>
              <a:gd name="T6" fmla="*/ 785 w 880"/>
              <a:gd name="T7" fmla="*/ 509 h 528"/>
              <a:gd name="T8" fmla="*/ 804 w 880"/>
              <a:gd name="T9" fmla="*/ 495 h 528"/>
              <a:gd name="T10" fmla="*/ 828 w 880"/>
              <a:gd name="T11" fmla="*/ 476 h 528"/>
              <a:gd name="T12" fmla="*/ 842 w 880"/>
              <a:gd name="T13" fmla="*/ 457 h 528"/>
              <a:gd name="T14" fmla="*/ 857 w 880"/>
              <a:gd name="T15" fmla="*/ 433 h 528"/>
              <a:gd name="T16" fmla="*/ 871 w 880"/>
              <a:gd name="T17" fmla="*/ 409 h 528"/>
              <a:gd name="T18" fmla="*/ 876 w 880"/>
              <a:gd name="T19" fmla="*/ 380 h 528"/>
              <a:gd name="T20" fmla="*/ 880 w 880"/>
              <a:gd name="T21" fmla="*/ 352 h 528"/>
              <a:gd name="T22" fmla="*/ 880 w 880"/>
              <a:gd name="T23" fmla="*/ 176 h 528"/>
              <a:gd name="T24" fmla="*/ 876 w 880"/>
              <a:gd name="T25" fmla="*/ 147 h 528"/>
              <a:gd name="T26" fmla="*/ 871 w 880"/>
              <a:gd name="T27" fmla="*/ 119 h 528"/>
              <a:gd name="T28" fmla="*/ 857 w 880"/>
              <a:gd name="T29" fmla="*/ 95 h 528"/>
              <a:gd name="T30" fmla="*/ 842 w 880"/>
              <a:gd name="T31" fmla="*/ 71 h 528"/>
              <a:gd name="T32" fmla="*/ 828 w 880"/>
              <a:gd name="T33" fmla="*/ 52 h 528"/>
              <a:gd name="T34" fmla="*/ 804 w 880"/>
              <a:gd name="T35" fmla="*/ 33 h 528"/>
              <a:gd name="T36" fmla="*/ 785 w 880"/>
              <a:gd name="T37" fmla="*/ 19 h 528"/>
              <a:gd name="T38" fmla="*/ 757 w 880"/>
              <a:gd name="T39" fmla="*/ 9 h 528"/>
              <a:gd name="T40" fmla="*/ 733 w 880"/>
              <a:gd name="T41" fmla="*/ 5 h 528"/>
              <a:gd name="T42" fmla="*/ 704 w 880"/>
              <a:gd name="T43" fmla="*/ 0 h 528"/>
              <a:gd name="T44" fmla="*/ 176 w 880"/>
              <a:gd name="T45" fmla="*/ 0 h 528"/>
              <a:gd name="T46" fmla="*/ 147 w 880"/>
              <a:gd name="T47" fmla="*/ 5 h 528"/>
              <a:gd name="T48" fmla="*/ 119 w 880"/>
              <a:gd name="T49" fmla="*/ 9 h 528"/>
              <a:gd name="T50" fmla="*/ 95 w 880"/>
              <a:gd name="T51" fmla="*/ 19 h 528"/>
              <a:gd name="T52" fmla="*/ 71 w 880"/>
              <a:gd name="T53" fmla="*/ 33 h 528"/>
              <a:gd name="T54" fmla="*/ 47 w 880"/>
              <a:gd name="T55" fmla="*/ 52 h 528"/>
              <a:gd name="T56" fmla="*/ 33 w 880"/>
              <a:gd name="T57" fmla="*/ 71 h 528"/>
              <a:gd name="T58" fmla="*/ 19 w 880"/>
              <a:gd name="T59" fmla="*/ 95 h 528"/>
              <a:gd name="T60" fmla="*/ 4 w 880"/>
              <a:gd name="T61" fmla="*/ 119 h 528"/>
              <a:gd name="T62" fmla="*/ 0 w 880"/>
              <a:gd name="T63" fmla="*/ 147 h 528"/>
              <a:gd name="T64" fmla="*/ 0 w 880"/>
              <a:gd name="T65" fmla="*/ 176 h 528"/>
              <a:gd name="T66" fmla="*/ 0 w 880"/>
              <a:gd name="T67" fmla="*/ 352 h 528"/>
              <a:gd name="T68" fmla="*/ 0 w 880"/>
              <a:gd name="T69" fmla="*/ 380 h 528"/>
              <a:gd name="T70" fmla="*/ 4 w 880"/>
              <a:gd name="T71" fmla="*/ 409 h 528"/>
              <a:gd name="T72" fmla="*/ 19 w 880"/>
              <a:gd name="T73" fmla="*/ 433 h 528"/>
              <a:gd name="T74" fmla="*/ 33 w 880"/>
              <a:gd name="T75" fmla="*/ 457 h 528"/>
              <a:gd name="T76" fmla="*/ 47 w 880"/>
              <a:gd name="T77" fmla="*/ 476 h 528"/>
              <a:gd name="T78" fmla="*/ 71 w 880"/>
              <a:gd name="T79" fmla="*/ 495 h 528"/>
              <a:gd name="T80" fmla="*/ 95 w 880"/>
              <a:gd name="T81" fmla="*/ 509 h 528"/>
              <a:gd name="T82" fmla="*/ 119 w 880"/>
              <a:gd name="T83" fmla="*/ 518 h 528"/>
              <a:gd name="T84" fmla="*/ 147 w 880"/>
              <a:gd name="T85" fmla="*/ 528 h 528"/>
              <a:gd name="T86" fmla="*/ 176 w 880"/>
              <a:gd name="T87" fmla="*/ 528 h 528"/>
              <a:gd name="T88" fmla="*/ 704 w 880"/>
              <a:gd name="T89" fmla="*/ 528 h 528"/>
              <a:gd name="T90" fmla="*/ 704 w 880"/>
              <a:gd name="T91" fmla="*/ 528 h 528"/>
              <a:gd name="T92" fmla="*/ 699 w 880"/>
              <a:gd name="T93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80" h="528">
                <a:moveTo>
                  <a:pt x="699" y="528"/>
                </a:moveTo>
                <a:lnTo>
                  <a:pt x="733" y="528"/>
                </a:lnTo>
                <a:lnTo>
                  <a:pt x="757" y="518"/>
                </a:lnTo>
                <a:lnTo>
                  <a:pt x="785" y="509"/>
                </a:lnTo>
                <a:lnTo>
                  <a:pt x="804" y="495"/>
                </a:lnTo>
                <a:lnTo>
                  <a:pt x="828" y="476"/>
                </a:lnTo>
                <a:lnTo>
                  <a:pt x="842" y="457"/>
                </a:lnTo>
                <a:lnTo>
                  <a:pt x="857" y="433"/>
                </a:lnTo>
                <a:lnTo>
                  <a:pt x="871" y="409"/>
                </a:lnTo>
                <a:lnTo>
                  <a:pt x="876" y="380"/>
                </a:lnTo>
                <a:lnTo>
                  <a:pt x="880" y="352"/>
                </a:lnTo>
                <a:lnTo>
                  <a:pt x="880" y="176"/>
                </a:lnTo>
                <a:lnTo>
                  <a:pt x="876" y="147"/>
                </a:lnTo>
                <a:lnTo>
                  <a:pt x="871" y="119"/>
                </a:lnTo>
                <a:lnTo>
                  <a:pt x="857" y="95"/>
                </a:lnTo>
                <a:lnTo>
                  <a:pt x="842" y="71"/>
                </a:lnTo>
                <a:lnTo>
                  <a:pt x="828" y="52"/>
                </a:lnTo>
                <a:lnTo>
                  <a:pt x="804" y="33"/>
                </a:lnTo>
                <a:lnTo>
                  <a:pt x="785" y="19"/>
                </a:lnTo>
                <a:lnTo>
                  <a:pt x="757" y="9"/>
                </a:lnTo>
                <a:lnTo>
                  <a:pt x="733" y="5"/>
                </a:lnTo>
                <a:lnTo>
                  <a:pt x="704" y="0"/>
                </a:lnTo>
                <a:lnTo>
                  <a:pt x="176" y="0"/>
                </a:lnTo>
                <a:lnTo>
                  <a:pt x="147" y="5"/>
                </a:lnTo>
                <a:lnTo>
                  <a:pt x="119" y="9"/>
                </a:lnTo>
                <a:lnTo>
                  <a:pt x="95" y="19"/>
                </a:lnTo>
                <a:lnTo>
                  <a:pt x="71" y="33"/>
                </a:lnTo>
                <a:lnTo>
                  <a:pt x="47" y="52"/>
                </a:lnTo>
                <a:lnTo>
                  <a:pt x="33" y="71"/>
                </a:lnTo>
                <a:lnTo>
                  <a:pt x="19" y="95"/>
                </a:lnTo>
                <a:lnTo>
                  <a:pt x="4" y="119"/>
                </a:lnTo>
                <a:lnTo>
                  <a:pt x="0" y="147"/>
                </a:lnTo>
                <a:lnTo>
                  <a:pt x="0" y="176"/>
                </a:lnTo>
                <a:lnTo>
                  <a:pt x="0" y="352"/>
                </a:lnTo>
                <a:lnTo>
                  <a:pt x="0" y="380"/>
                </a:lnTo>
                <a:lnTo>
                  <a:pt x="4" y="409"/>
                </a:lnTo>
                <a:lnTo>
                  <a:pt x="19" y="433"/>
                </a:lnTo>
                <a:lnTo>
                  <a:pt x="33" y="457"/>
                </a:lnTo>
                <a:lnTo>
                  <a:pt x="47" y="476"/>
                </a:lnTo>
                <a:lnTo>
                  <a:pt x="71" y="495"/>
                </a:lnTo>
                <a:lnTo>
                  <a:pt x="95" y="509"/>
                </a:lnTo>
                <a:lnTo>
                  <a:pt x="119" y="518"/>
                </a:lnTo>
                <a:lnTo>
                  <a:pt x="147" y="528"/>
                </a:lnTo>
                <a:lnTo>
                  <a:pt x="176" y="528"/>
                </a:lnTo>
                <a:lnTo>
                  <a:pt x="704" y="528"/>
                </a:lnTo>
                <a:lnTo>
                  <a:pt x="704" y="528"/>
                </a:lnTo>
                <a:lnTo>
                  <a:pt x="699" y="5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13" name="Rectangle 11175"/>
          <p:cNvSpPr>
            <a:spLocks noChangeArrowheads="1"/>
          </p:cNvSpPr>
          <p:nvPr/>
        </p:nvSpPr>
        <p:spPr bwMode="auto">
          <a:xfrm>
            <a:off x="5378767" y="5195570"/>
            <a:ext cx="3816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Forwarding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14" name="Rectangle 11176"/>
          <p:cNvSpPr>
            <a:spLocks noChangeArrowheads="1"/>
          </p:cNvSpPr>
          <p:nvPr/>
        </p:nvSpPr>
        <p:spPr bwMode="auto">
          <a:xfrm>
            <a:off x="5750877" y="519557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215" name="Rectangle 11177"/>
          <p:cNvSpPr>
            <a:spLocks noChangeArrowheads="1"/>
          </p:cNvSpPr>
          <p:nvPr/>
        </p:nvSpPr>
        <p:spPr bwMode="auto">
          <a:xfrm>
            <a:off x="5496877" y="5283200"/>
            <a:ext cx="1231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unit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16" name="Freeform 11178"/>
          <p:cNvSpPr>
            <a:spLocks/>
          </p:cNvSpPr>
          <p:nvPr/>
        </p:nvSpPr>
        <p:spPr bwMode="auto">
          <a:xfrm>
            <a:off x="5460682" y="3479165"/>
            <a:ext cx="39370" cy="36195"/>
          </a:xfrm>
          <a:custGeom>
            <a:avLst/>
            <a:gdLst>
              <a:gd name="T0" fmla="*/ 0 w 62"/>
              <a:gd name="T1" fmla="*/ 0 h 57"/>
              <a:gd name="T2" fmla="*/ 0 w 62"/>
              <a:gd name="T3" fmla="*/ 57 h 57"/>
              <a:gd name="T4" fmla="*/ 62 w 62"/>
              <a:gd name="T5" fmla="*/ 28 h 57"/>
              <a:gd name="T6" fmla="*/ 0 w 62"/>
              <a:gd name="T7" fmla="*/ 0 h 57"/>
              <a:gd name="T8" fmla="*/ 0 w 62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0" y="57"/>
                </a:lnTo>
                <a:lnTo>
                  <a:pt x="62" y="2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17" name="Line 11179"/>
          <p:cNvCxnSpPr/>
          <p:nvPr/>
        </p:nvCxnSpPr>
        <p:spPr bwMode="auto">
          <a:xfrm flipH="1">
            <a:off x="5122227" y="3496945"/>
            <a:ext cx="338455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8" name="Freeform 11180"/>
          <p:cNvSpPr>
            <a:spLocks/>
          </p:cNvSpPr>
          <p:nvPr/>
        </p:nvSpPr>
        <p:spPr bwMode="auto">
          <a:xfrm>
            <a:off x="4940617" y="3336925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3 h 62"/>
              <a:gd name="T6" fmla="*/ 5 w 62"/>
              <a:gd name="T7" fmla="*/ 5 h 62"/>
              <a:gd name="T8" fmla="*/ 5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3"/>
                </a:lnTo>
                <a:lnTo>
                  <a:pt x="5" y="5"/>
                </a:lnTo>
                <a:lnTo>
                  <a:pt x="5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19" name="Line 11181"/>
          <p:cNvCxnSpPr/>
          <p:nvPr/>
        </p:nvCxnSpPr>
        <p:spPr bwMode="auto">
          <a:xfrm flipH="1">
            <a:off x="4487227" y="3357880"/>
            <a:ext cx="471805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0" name="Line 11182"/>
          <p:cNvCxnSpPr/>
          <p:nvPr/>
        </p:nvCxnSpPr>
        <p:spPr bwMode="auto">
          <a:xfrm>
            <a:off x="2552382" y="3986530"/>
            <a:ext cx="166370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1" name="Freeform 11183"/>
          <p:cNvSpPr>
            <a:spLocks/>
          </p:cNvSpPr>
          <p:nvPr/>
        </p:nvSpPr>
        <p:spPr bwMode="auto">
          <a:xfrm>
            <a:off x="4550727" y="2590165"/>
            <a:ext cx="39370" cy="36830"/>
          </a:xfrm>
          <a:custGeom>
            <a:avLst/>
            <a:gdLst>
              <a:gd name="T0" fmla="*/ 28 w 62"/>
              <a:gd name="T1" fmla="*/ 58 h 58"/>
              <a:gd name="T2" fmla="*/ 33 w 62"/>
              <a:gd name="T3" fmla="*/ 58 h 58"/>
              <a:gd name="T4" fmla="*/ 38 w 62"/>
              <a:gd name="T5" fmla="*/ 58 h 58"/>
              <a:gd name="T6" fmla="*/ 43 w 62"/>
              <a:gd name="T7" fmla="*/ 58 h 58"/>
              <a:gd name="T8" fmla="*/ 47 w 62"/>
              <a:gd name="T9" fmla="*/ 53 h 58"/>
              <a:gd name="T10" fmla="*/ 52 w 62"/>
              <a:gd name="T11" fmla="*/ 53 h 58"/>
              <a:gd name="T12" fmla="*/ 52 w 62"/>
              <a:gd name="T13" fmla="*/ 48 h 58"/>
              <a:gd name="T14" fmla="*/ 57 w 62"/>
              <a:gd name="T15" fmla="*/ 43 h 58"/>
              <a:gd name="T16" fmla="*/ 57 w 62"/>
              <a:gd name="T17" fmla="*/ 39 h 58"/>
              <a:gd name="T18" fmla="*/ 57 w 62"/>
              <a:gd name="T19" fmla="*/ 34 h 58"/>
              <a:gd name="T20" fmla="*/ 62 w 62"/>
              <a:gd name="T21" fmla="*/ 29 h 58"/>
              <a:gd name="T22" fmla="*/ 57 w 62"/>
              <a:gd name="T23" fmla="*/ 24 h 58"/>
              <a:gd name="T24" fmla="*/ 57 w 62"/>
              <a:gd name="T25" fmla="*/ 19 h 58"/>
              <a:gd name="T26" fmla="*/ 57 w 62"/>
              <a:gd name="T27" fmla="*/ 15 h 58"/>
              <a:gd name="T28" fmla="*/ 52 w 62"/>
              <a:gd name="T29" fmla="*/ 15 h 58"/>
              <a:gd name="T30" fmla="*/ 52 w 62"/>
              <a:gd name="T31" fmla="*/ 10 h 58"/>
              <a:gd name="T32" fmla="*/ 47 w 62"/>
              <a:gd name="T33" fmla="*/ 5 h 58"/>
              <a:gd name="T34" fmla="*/ 43 w 62"/>
              <a:gd name="T35" fmla="*/ 5 h 58"/>
              <a:gd name="T36" fmla="*/ 38 w 62"/>
              <a:gd name="T37" fmla="*/ 0 h 58"/>
              <a:gd name="T38" fmla="*/ 33 w 62"/>
              <a:gd name="T39" fmla="*/ 0 h 58"/>
              <a:gd name="T40" fmla="*/ 28 w 62"/>
              <a:gd name="T41" fmla="*/ 0 h 58"/>
              <a:gd name="T42" fmla="*/ 24 w 62"/>
              <a:gd name="T43" fmla="*/ 0 h 58"/>
              <a:gd name="T44" fmla="*/ 19 w 62"/>
              <a:gd name="T45" fmla="*/ 0 h 58"/>
              <a:gd name="T46" fmla="*/ 19 w 62"/>
              <a:gd name="T47" fmla="*/ 5 h 58"/>
              <a:gd name="T48" fmla="*/ 14 w 62"/>
              <a:gd name="T49" fmla="*/ 5 h 58"/>
              <a:gd name="T50" fmla="*/ 9 w 62"/>
              <a:gd name="T51" fmla="*/ 10 h 58"/>
              <a:gd name="T52" fmla="*/ 5 w 62"/>
              <a:gd name="T53" fmla="*/ 15 h 58"/>
              <a:gd name="T54" fmla="*/ 5 w 62"/>
              <a:gd name="T55" fmla="*/ 15 h 58"/>
              <a:gd name="T56" fmla="*/ 0 w 62"/>
              <a:gd name="T57" fmla="*/ 19 h 58"/>
              <a:gd name="T58" fmla="*/ 0 w 62"/>
              <a:gd name="T59" fmla="*/ 24 h 58"/>
              <a:gd name="T60" fmla="*/ 0 w 62"/>
              <a:gd name="T61" fmla="*/ 29 h 58"/>
              <a:gd name="T62" fmla="*/ 0 w 62"/>
              <a:gd name="T63" fmla="*/ 34 h 58"/>
              <a:gd name="T64" fmla="*/ 0 w 62"/>
              <a:gd name="T65" fmla="*/ 39 h 58"/>
              <a:gd name="T66" fmla="*/ 5 w 62"/>
              <a:gd name="T67" fmla="*/ 43 h 58"/>
              <a:gd name="T68" fmla="*/ 5 w 62"/>
              <a:gd name="T69" fmla="*/ 48 h 58"/>
              <a:gd name="T70" fmla="*/ 9 w 62"/>
              <a:gd name="T71" fmla="*/ 53 h 58"/>
              <a:gd name="T72" fmla="*/ 14 w 62"/>
              <a:gd name="T73" fmla="*/ 53 h 58"/>
              <a:gd name="T74" fmla="*/ 19 w 62"/>
              <a:gd name="T75" fmla="*/ 58 h 58"/>
              <a:gd name="T76" fmla="*/ 19 w 62"/>
              <a:gd name="T77" fmla="*/ 58 h 58"/>
              <a:gd name="T78" fmla="*/ 24 w 62"/>
              <a:gd name="T79" fmla="*/ 58 h 58"/>
              <a:gd name="T80" fmla="*/ 28 w 62"/>
              <a:gd name="T81" fmla="*/ 58 h 58"/>
              <a:gd name="T82" fmla="*/ 28 w 62"/>
              <a:gd name="T83" fmla="*/ 58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2" h="58">
                <a:moveTo>
                  <a:pt x="28" y="58"/>
                </a:moveTo>
                <a:lnTo>
                  <a:pt x="33" y="58"/>
                </a:lnTo>
                <a:lnTo>
                  <a:pt x="38" y="58"/>
                </a:lnTo>
                <a:lnTo>
                  <a:pt x="43" y="58"/>
                </a:lnTo>
                <a:lnTo>
                  <a:pt x="47" y="53"/>
                </a:lnTo>
                <a:lnTo>
                  <a:pt x="52" y="53"/>
                </a:lnTo>
                <a:lnTo>
                  <a:pt x="52" y="48"/>
                </a:lnTo>
                <a:lnTo>
                  <a:pt x="57" y="43"/>
                </a:lnTo>
                <a:lnTo>
                  <a:pt x="57" y="39"/>
                </a:lnTo>
                <a:lnTo>
                  <a:pt x="57" y="34"/>
                </a:lnTo>
                <a:lnTo>
                  <a:pt x="62" y="29"/>
                </a:lnTo>
                <a:lnTo>
                  <a:pt x="57" y="24"/>
                </a:lnTo>
                <a:lnTo>
                  <a:pt x="57" y="19"/>
                </a:lnTo>
                <a:lnTo>
                  <a:pt x="57" y="15"/>
                </a:lnTo>
                <a:lnTo>
                  <a:pt x="52" y="15"/>
                </a:lnTo>
                <a:lnTo>
                  <a:pt x="52" y="10"/>
                </a:lnTo>
                <a:lnTo>
                  <a:pt x="47" y="5"/>
                </a:lnTo>
                <a:lnTo>
                  <a:pt x="43" y="5"/>
                </a:lnTo>
                <a:lnTo>
                  <a:pt x="38" y="0"/>
                </a:lnTo>
                <a:lnTo>
                  <a:pt x="33" y="0"/>
                </a:lnTo>
                <a:lnTo>
                  <a:pt x="28" y="0"/>
                </a:lnTo>
                <a:lnTo>
                  <a:pt x="24" y="0"/>
                </a:lnTo>
                <a:lnTo>
                  <a:pt x="19" y="0"/>
                </a:lnTo>
                <a:lnTo>
                  <a:pt x="19" y="5"/>
                </a:lnTo>
                <a:lnTo>
                  <a:pt x="14" y="5"/>
                </a:lnTo>
                <a:lnTo>
                  <a:pt x="9" y="10"/>
                </a:lnTo>
                <a:lnTo>
                  <a:pt x="5" y="15"/>
                </a:lnTo>
                <a:lnTo>
                  <a:pt x="5" y="15"/>
                </a:lnTo>
                <a:lnTo>
                  <a:pt x="0" y="19"/>
                </a:lnTo>
                <a:lnTo>
                  <a:pt x="0" y="24"/>
                </a:lnTo>
                <a:lnTo>
                  <a:pt x="0" y="29"/>
                </a:lnTo>
                <a:lnTo>
                  <a:pt x="0" y="34"/>
                </a:lnTo>
                <a:lnTo>
                  <a:pt x="0" y="39"/>
                </a:lnTo>
                <a:lnTo>
                  <a:pt x="5" y="43"/>
                </a:lnTo>
                <a:lnTo>
                  <a:pt x="5" y="48"/>
                </a:lnTo>
                <a:lnTo>
                  <a:pt x="9" y="53"/>
                </a:lnTo>
                <a:lnTo>
                  <a:pt x="14" y="53"/>
                </a:lnTo>
                <a:lnTo>
                  <a:pt x="19" y="58"/>
                </a:lnTo>
                <a:lnTo>
                  <a:pt x="19" y="58"/>
                </a:lnTo>
                <a:lnTo>
                  <a:pt x="24" y="58"/>
                </a:lnTo>
                <a:lnTo>
                  <a:pt x="28" y="58"/>
                </a:lnTo>
                <a:lnTo>
                  <a:pt x="28" y="5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22" name="Freeform 11184"/>
          <p:cNvSpPr>
            <a:spLocks/>
          </p:cNvSpPr>
          <p:nvPr/>
        </p:nvSpPr>
        <p:spPr bwMode="auto">
          <a:xfrm>
            <a:off x="3417252" y="1880235"/>
            <a:ext cx="39370" cy="36195"/>
          </a:xfrm>
          <a:custGeom>
            <a:avLst/>
            <a:gdLst>
              <a:gd name="T0" fmla="*/ 57 w 62"/>
              <a:gd name="T1" fmla="*/ 52 h 57"/>
              <a:gd name="T2" fmla="*/ 57 w 62"/>
              <a:gd name="T3" fmla="*/ 0 h 57"/>
              <a:gd name="T4" fmla="*/ 0 w 62"/>
              <a:gd name="T5" fmla="*/ 29 h 57"/>
              <a:gd name="T6" fmla="*/ 62 w 62"/>
              <a:gd name="T7" fmla="*/ 57 h 57"/>
              <a:gd name="T8" fmla="*/ 62 w 62"/>
              <a:gd name="T9" fmla="*/ 57 h 57"/>
              <a:gd name="T10" fmla="*/ 57 w 62"/>
              <a:gd name="T11" fmla="*/ 52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57">
                <a:moveTo>
                  <a:pt x="57" y="52"/>
                </a:moveTo>
                <a:lnTo>
                  <a:pt x="57" y="0"/>
                </a:lnTo>
                <a:lnTo>
                  <a:pt x="0" y="29"/>
                </a:lnTo>
                <a:lnTo>
                  <a:pt x="62" y="57"/>
                </a:lnTo>
                <a:lnTo>
                  <a:pt x="62" y="57"/>
                </a:lnTo>
                <a:lnTo>
                  <a:pt x="57" y="52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23" name="Freeform 11185"/>
          <p:cNvSpPr>
            <a:spLocks/>
          </p:cNvSpPr>
          <p:nvPr/>
        </p:nvSpPr>
        <p:spPr bwMode="auto">
          <a:xfrm>
            <a:off x="2809557" y="198882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4 h 62"/>
              <a:gd name="T6" fmla="*/ 5 w 62"/>
              <a:gd name="T7" fmla="*/ 5 h 62"/>
              <a:gd name="T8" fmla="*/ 5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4"/>
                </a:lnTo>
                <a:lnTo>
                  <a:pt x="5" y="5"/>
                </a:lnTo>
                <a:lnTo>
                  <a:pt x="5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24" name="Freeform 11186"/>
          <p:cNvSpPr>
            <a:spLocks/>
          </p:cNvSpPr>
          <p:nvPr/>
        </p:nvSpPr>
        <p:spPr bwMode="auto">
          <a:xfrm>
            <a:off x="4293552" y="4857115"/>
            <a:ext cx="39370" cy="38735"/>
          </a:xfrm>
          <a:custGeom>
            <a:avLst/>
            <a:gdLst>
              <a:gd name="T0" fmla="*/ 0 w 62"/>
              <a:gd name="T1" fmla="*/ 0 h 61"/>
              <a:gd name="T2" fmla="*/ 0 w 62"/>
              <a:gd name="T3" fmla="*/ 61 h 61"/>
              <a:gd name="T4" fmla="*/ 62 w 62"/>
              <a:gd name="T5" fmla="*/ 33 h 61"/>
              <a:gd name="T6" fmla="*/ 0 w 62"/>
              <a:gd name="T7" fmla="*/ 4 h 61"/>
              <a:gd name="T8" fmla="*/ 0 w 62"/>
              <a:gd name="T9" fmla="*/ 4 h 61"/>
              <a:gd name="T10" fmla="*/ 0 w 62"/>
              <a:gd name="T11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1">
                <a:moveTo>
                  <a:pt x="0" y="0"/>
                </a:moveTo>
                <a:lnTo>
                  <a:pt x="0" y="61"/>
                </a:lnTo>
                <a:lnTo>
                  <a:pt x="62" y="33"/>
                </a:lnTo>
                <a:lnTo>
                  <a:pt x="0" y="4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25" name="Freeform 11187"/>
          <p:cNvSpPr>
            <a:spLocks/>
          </p:cNvSpPr>
          <p:nvPr/>
        </p:nvSpPr>
        <p:spPr bwMode="auto">
          <a:xfrm>
            <a:off x="2888297" y="3581400"/>
            <a:ext cx="1417320" cy="1296670"/>
          </a:xfrm>
          <a:custGeom>
            <a:avLst/>
            <a:gdLst>
              <a:gd name="T0" fmla="*/ 2232 w 2232"/>
              <a:gd name="T1" fmla="*/ 2042 h 2042"/>
              <a:gd name="T2" fmla="*/ 0 w 2232"/>
              <a:gd name="T3" fmla="*/ 2042 h 2042"/>
              <a:gd name="T4" fmla="*/ 0 w 2232"/>
              <a:gd name="T5" fmla="*/ 0 h 2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32" h="2042">
                <a:moveTo>
                  <a:pt x="2232" y="2042"/>
                </a:moveTo>
                <a:lnTo>
                  <a:pt x="0" y="2042"/>
                </a:lnTo>
                <a:lnTo>
                  <a:pt x="0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26" name="Freeform 11188"/>
          <p:cNvSpPr>
            <a:spLocks/>
          </p:cNvSpPr>
          <p:nvPr/>
        </p:nvSpPr>
        <p:spPr bwMode="auto">
          <a:xfrm>
            <a:off x="4293552" y="4968875"/>
            <a:ext cx="39370" cy="36195"/>
          </a:xfrm>
          <a:custGeom>
            <a:avLst/>
            <a:gdLst>
              <a:gd name="T0" fmla="*/ 0 w 62"/>
              <a:gd name="T1" fmla="*/ 0 h 57"/>
              <a:gd name="T2" fmla="*/ 0 w 62"/>
              <a:gd name="T3" fmla="*/ 57 h 57"/>
              <a:gd name="T4" fmla="*/ 62 w 62"/>
              <a:gd name="T5" fmla="*/ 28 h 57"/>
              <a:gd name="T6" fmla="*/ 0 w 62"/>
              <a:gd name="T7" fmla="*/ 0 h 57"/>
              <a:gd name="T8" fmla="*/ 0 w 62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0" y="57"/>
                </a:lnTo>
                <a:lnTo>
                  <a:pt x="62" y="2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27" name="Line 11189"/>
          <p:cNvCxnSpPr/>
          <p:nvPr/>
        </p:nvCxnSpPr>
        <p:spPr bwMode="auto">
          <a:xfrm>
            <a:off x="2718752" y="4986655"/>
            <a:ext cx="1586865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8" name="Freeform 11190"/>
          <p:cNvSpPr>
            <a:spLocks/>
          </p:cNvSpPr>
          <p:nvPr/>
        </p:nvSpPr>
        <p:spPr bwMode="auto">
          <a:xfrm>
            <a:off x="4293552" y="5083175"/>
            <a:ext cx="39370" cy="39370"/>
          </a:xfrm>
          <a:custGeom>
            <a:avLst/>
            <a:gdLst>
              <a:gd name="T0" fmla="*/ 0 w 62"/>
              <a:gd name="T1" fmla="*/ 0 h 62"/>
              <a:gd name="T2" fmla="*/ 0 w 62"/>
              <a:gd name="T3" fmla="*/ 62 h 62"/>
              <a:gd name="T4" fmla="*/ 62 w 62"/>
              <a:gd name="T5" fmla="*/ 34 h 62"/>
              <a:gd name="T6" fmla="*/ 0 w 62"/>
              <a:gd name="T7" fmla="*/ 0 h 62"/>
              <a:gd name="T8" fmla="*/ 0 w 62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0" y="62"/>
                </a:lnTo>
                <a:lnTo>
                  <a:pt x="62" y="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29" name="Freeform 11191"/>
          <p:cNvSpPr>
            <a:spLocks/>
          </p:cNvSpPr>
          <p:nvPr/>
        </p:nvSpPr>
        <p:spPr bwMode="auto">
          <a:xfrm>
            <a:off x="2703512" y="4968875"/>
            <a:ext cx="36195" cy="36195"/>
          </a:xfrm>
          <a:custGeom>
            <a:avLst/>
            <a:gdLst>
              <a:gd name="T0" fmla="*/ 24 w 57"/>
              <a:gd name="T1" fmla="*/ 57 h 57"/>
              <a:gd name="T2" fmla="*/ 34 w 57"/>
              <a:gd name="T3" fmla="*/ 57 h 57"/>
              <a:gd name="T4" fmla="*/ 38 w 57"/>
              <a:gd name="T5" fmla="*/ 57 h 57"/>
              <a:gd name="T6" fmla="*/ 43 w 57"/>
              <a:gd name="T7" fmla="*/ 57 h 57"/>
              <a:gd name="T8" fmla="*/ 48 w 57"/>
              <a:gd name="T9" fmla="*/ 52 h 57"/>
              <a:gd name="T10" fmla="*/ 48 w 57"/>
              <a:gd name="T11" fmla="*/ 47 h 57"/>
              <a:gd name="T12" fmla="*/ 53 w 57"/>
              <a:gd name="T13" fmla="*/ 47 h 57"/>
              <a:gd name="T14" fmla="*/ 53 w 57"/>
              <a:gd name="T15" fmla="*/ 42 h 57"/>
              <a:gd name="T16" fmla="*/ 57 w 57"/>
              <a:gd name="T17" fmla="*/ 38 h 57"/>
              <a:gd name="T18" fmla="*/ 57 w 57"/>
              <a:gd name="T19" fmla="*/ 33 h 57"/>
              <a:gd name="T20" fmla="*/ 57 w 57"/>
              <a:gd name="T21" fmla="*/ 28 h 57"/>
              <a:gd name="T22" fmla="*/ 57 w 57"/>
              <a:gd name="T23" fmla="*/ 23 h 57"/>
              <a:gd name="T24" fmla="*/ 57 w 57"/>
              <a:gd name="T25" fmla="*/ 19 h 57"/>
              <a:gd name="T26" fmla="*/ 53 w 57"/>
              <a:gd name="T27" fmla="*/ 14 h 57"/>
              <a:gd name="T28" fmla="*/ 53 w 57"/>
              <a:gd name="T29" fmla="*/ 9 h 57"/>
              <a:gd name="T30" fmla="*/ 48 w 57"/>
              <a:gd name="T31" fmla="*/ 9 h 57"/>
              <a:gd name="T32" fmla="*/ 48 w 57"/>
              <a:gd name="T33" fmla="*/ 4 h 57"/>
              <a:gd name="T34" fmla="*/ 43 w 57"/>
              <a:gd name="T35" fmla="*/ 4 h 57"/>
              <a:gd name="T36" fmla="*/ 38 w 57"/>
              <a:gd name="T37" fmla="*/ 0 h 57"/>
              <a:gd name="T38" fmla="*/ 34 w 57"/>
              <a:gd name="T39" fmla="*/ 0 h 57"/>
              <a:gd name="T40" fmla="*/ 29 w 57"/>
              <a:gd name="T41" fmla="*/ 0 h 57"/>
              <a:gd name="T42" fmla="*/ 24 w 57"/>
              <a:gd name="T43" fmla="*/ 0 h 57"/>
              <a:gd name="T44" fmla="*/ 19 w 57"/>
              <a:gd name="T45" fmla="*/ 0 h 57"/>
              <a:gd name="T46" fmla="*/ 14 w 57"/>
              <a:gd name="T47" fmla="*/ 4 h 57"/>
              <a:gd name="T48" fmla="*/ 10 w 57"/>
              <a:gd name="T49" fmla="*/ 4 h 57"/>
              <a:gd name="T50" fmla="*/ 10 w 57"/>
              <a:gd name="T51" fmla="*/ 9 h 57"/>
              <a:gd name="T52" fmla="*/ 5 w 57"/>
              <a:gd name="T53" fmla="*/ 9 h 57"/>
              <a:gd name="T54" fmla="*/ 0 w 57"/>
              <a:gd name="T55" fmla="*/ 14 h 57"/>
              <a:gd name="T56" fmla="*/ 0 w 57"/>
              <a:gd name="T57" fmla="*/ 19 h 57"/>
              <a:gd name="T58" fmla="*/ 0 w 57"/>
              <a:gd name="T59" fmla="*/ 23 h 57"/>
              <a:gd name="T60" fmla="*/ 0 w 57"/>
              <a:gd name="T61" fmla="*/ 28 h 57"/>
              <a:gd name="T62" fmla="*/ 0 w 57"/>
              <a:gd name="T63" fmla="*/ 33 h 57"/>
              <a:gd name="T64" fmla="*/ 0 w 57"/>
              <a:gd name="T65" fmla="*/ 38 h 57"/>
              <a:gd name="T66" fmla="*/ 0 w 57"/>
              <a:gd name="T67" fmla="*/ 42 h 57"/>
              <a:gd name="T68" fmla="*/ 5 w 57"/>
              <a:gd name="T69" fmla="*/ 47 h 57"/>
              <a:gd name="T70" fmla="*/ 10 w 57"/>
              <a:gd name="T71" fmla="*/ 47 h 57"/>
              <a:gd name="T72" fmla="*/ 10 w 57"/>
              <a:gd name="T73" fmla="*/ 52 h 57"/>
              <a:gd name="T74" fmla="*/ 14 w 57"/>
              <a:gd name="T75" fmla="*/ 57 h 57"/>
              <a:gd name="T76" fmla="*/ 19 w 57"/>
              <a:gd name="T77" fmla="*/ 57 h 57"/>
              <a:gd name="T78" fmla="*/ 24 w 57"/>
              <a:gd name="T79" fmla="*/ 57 h 57"/>
              <a:gd name="T80" fmla="*/ 29 w 57"/>
              <a:gd name="T81" fmla="*/ 57 h 57"/>
              <a:gd name="T82" fmla="*/ 29 w 57"/>
              <a:gd name="T83" fmla="*/ 57 h 57"/>
              <a:gd name="T84" fmla="*/ 24 w 57"/>
              <a:gd name="T85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7" h="57">
                <a:moveTo>
                  <a:pt x="24" y="57"/>
                </a:moveTo>
                <a:lnTo>
                  <a:pt x="34" y="57"/>
                </a:lnTo>
                <a:lnTo>
                  <a:pt x="38" y="57"/>
                </a:lnTo>
                <a:lnTo>
                  <a:pt x="43" y="57"/>
                </a:lnTo>
                <a:lnTo>
                  <a:pt x="48" y="52"/>
                </a:lnTo>
                <a:lnTo>
                  <a:pt x="48" y="47"/>
                </a:lnTo>
                <a:lnTo>
                  <a:pt x="53" y="47"/>
                </a:lnTo>
                <a:lnTo>
                  <a:pt x="53" y="42"/>
                </a:lnTo>
                <a:lnTo>
                  <a:pt x="57" y="38"/>
                </a:lnTo>
                <a:lnTo>
                  <a:pt x="57" y="33"/>
                </a:lnTo>
                <a:lnTo>
                  <a:pt x="57" y="28"/>
                </a:lnTo>
                <a:lnTo>
                  <a:pt x="57" y="23"/>
                </a:lnTo>
                <a:lnTo>
                  <a:pt x="57" y="19"/>
                </a:lnTo>
                <a:lnTo>
                  <a:pt x="53" y="14"/>
                </a:lnTo>
                <a:lnTo>
                  <a:pt x="53" y="9"/>
                </a:lnTo>
                <a:lnTo>
                  <a:pt x="48" y="9"/>
                </a:lnTo>
                <a:lnTo>
                  <a:pt x="48" y="4"/>
                </a:lnTo>
                <a:lnTo>
                  <a:pt x="43" y="4"/>
                </a:lnTo>
                <a:lnTo>
                  <a:pt x="38" y="0"/>
                </a:lnTo>
                <a:lnTo>
                  <a:pt x="34" y="0"/>
                </a:lnTo>
                <a:lnTo>
                  <a:pt x="29" y="0"/>
                </a:lnTo>
                <a:lnTo>
                  <a:pt x="24" y="0"/>
                </a:lnTo>
                <a:lnTo>
                  <a:pt x="19" y="0"/>
                </a:lnTo>
                <a:lnTo>
                  <a:pt x="14" y="4"/>
                </a:lnTo>
                <a:lnTo>
                  <a:pt x="10" y="4"/>
                </a:lnTo>
                <a:lnTo>
                  <a:pt x="10" y="9"/>
                </a:lnTo>
                <a:lnTo>
                  <a:pt x="5" y="9"/>
                </a:lnTo>
                <a:lnTo>
                  <a:pt x="0" y="14"/>
                </a:lnTo>
                <a:lnTo>
                  <a:pt x="0" y="19"/>
                </a:lnTo>
                <a:lnTo>
                  <a:pt x="0" y="23"/>
                </a:lnTo>
                <a:lnTo>
                  <a:pt x="0" y="28"/>
                </a:lnTo>
                <a:lnTo>
                  <a:pt x="0" y="33"/>
                </a:lnTo>
                <a:lnTo>
                  <a:pt x="0" y="38"/>
                </a:lnTo>
                <a:lnTo>
                  <a:pt x="0" y="42"/>
                </a:lnTo>
                <a:lnTo>
                  <a:pt x="5" y="47"/>
                </a:lnTo>
                <a:lnTo>
                  <a:pt x="10" y="47"/>
                </a:lnTo>
                <a:lnTo>
                  <a:pt x="10" y="52"/>
                </a:lnTo>
                <a:lnTo>
                  <a:pt x="14" y="57"/>
                </a:lnTo>
                <a:lnTo>
                  <a:pt x="19" y="57"/>
                </a:lnTo>
                <a:lnTo>
                  <a:pt x="24" y="57"/>
                </a:lnTo>
                <a:lnTo>
                  <a:pt x="29" y="57"/>
                </a:lnTo>
                <a:lnTo>
                  <a:pt x="29" y="57"/>
                </a:lnTo>
                <a:lnTo>
                  <a:pt x="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30" name="Freeform 11192"/>
          <p:cNvSpPr>
            <a:spLocks/>
          </p:cNvSpPr>
          <p:nvPr/>
        </p:nvSpPr>
        <p:spPr bwMode="auto">
          <a:xfrm>
            <a:off x="2700337" y="4451985"/>
            <a:ext cx="39370" cy="36195"/>
          </a:xfrm>
          <a:custGeom>
            <a:avLst/>
            <a:gdLst>
              <a:gd name="T0" fmla="*/ 29 w 62"/>
              <a:gd name="T1" fmla="*/ 57 h 57"/>
              <a:gd name="T2" fmla="*/ 34 w 62"/>
              <a:gd name="T3" fmla="*/ 57 h 57"/>
              <a:gd name="T4" fmla="*/ 39 w 62"/>
              <a:gd name="T5" fmla="*/ 57 h 57"/>
              <a:gd name="T6" fmla="*/ 43 w 62"/>
              <a:gd name="T7" fmla="*/ 57 h 57"/>
              <a:gd name="T8" fmla="*/ 48 w 62"/>
              <a:gd name="T9" fmla="*/ 52 h 57"/>
              <a:gd name="T10" fmla="*/ 53 w 62"/>
              <a:gd name="T11" fmla="*/ 52 h 57"/>
              <a:gd name="T12" fmla="*/ 53 w 62"/>
              <a:gd name="T13" fmla="*/ 47 h 57"/>
              <a:gd name="T14" fmla="*/ 58 w 62"/>
              <a:gd name="T15" fmla="*/ 43 h 57"/>
              <a:gd name="T16" fmla="*/ 58 w 62"/>
              <a:gd name="T17" fmla="*/ 38 h 57"/>
              <a:gd name="T18" fmla="*/ 62 w 62"/>
              <a:gd name="T19" fmla="*/ 33 h 57"/>
              <a:gd name="T20" fmla="*/ 62 w 62"/>
              <a:gd name="T21" fmla="*/ 28 h 57"/>
              <a:gd name="T22" fmla="*/ 62 w 62"/>
              <a:gd name="T23" fmla="*/ 24 h 57"/>
              <a:gd name="T24" fmla="*/ 58 w 62"/>
              <a:gd name="T25" fmla="*/ 19 h 57"/>
              <a:gd name="T26" fmla="*/ 58 w 62"/>
              <a:gd name="T27" fmla="*/ 14 h 57"/>
              <a:gd name="T28" fmla="*/ 53 w 62"/>
              <a:gd name="T29" fmla="*/ 14 h 57"/>
              <a:gd name="T30" fmla="*/ 53 w 62"/>
              <a:gd name="T31" fmla="*/ 9 h 57"/>
              <a:gd name="T32" fmla="*/ 48 w 62"/>
              <a:gd name="T33" fmla="*/ 5 h 57"/>
              <a:gd name="T34" fmla="*/ 43 w 62"/>
              <a:gd name="T35" fmla="*/ 5 h 57"/>
              <a:gd name="T36" fmla="*/ 39 w 62"/>
              <a:gd name="T37" fmla="*/ 0 h 57"/>
              <a:gd name="T38" fmla="*/ 34 w 62"/>
              <a:gd name="T39" fmla="*/ 0 h 57"/>
              <a:gd name="T40" fmla="*/ 29 w 62"/>
              <a:gd name="T41" fmla="*/ 0 h 57"/>
              <a:gd name="T42" fmla="*/ 24 w 62"/>
              <a:gd name="T43" fmla="*/ 0 h 57"/>
              <a:gd name="T44" fmla="*/ 24 w 62"/>
              <a:gd name="T45" fmla="*/ 0 h 57"/>
              <a:gd name="T46" fmla="*/ 19 w 62"/>
              <a:gd name="T47" fmla="*/ 5 h 57"/>
              <a:gd name="T48" fmla="*/ 15 w 62"/>
              <a:gd name="T49" fmla="*/ 5 h 57"/>
              <a:gd name="T50" fmla="*/ 10 w 62"/>
              <a:gd name="T51" fmla="*/ 9 h 57"/>
              <a:gd name="T52" fmla="*/ 10 w 62"/>
              <a:gd name="T53" fmla="*/ 14 h 57"/>
              <a:gd name="T54" fmla="*/ 5 w 62"/>
              <a:gd name="T55" fmla="*/ 14 h 57"/>
              <a:gd name="T56" fmla="*/ 5 w 62"/>
              <a:gd name="T57" fmla="*/ 19 h 57"/>
              <a:gd name="T58" fmla="*/ 0 w 62"/>
              <a:gd name="T59" fmla="*/ 24 h 57"/>
              <a:gd name="T60" fmla="*/ 0 w 62"/>
              <a:gd name="T61" fmla="*/ 28 h 57"/>
              <a:gd name="T62" fmla="*/ 0 w 62"/>
              <a:gd name="T63" fmla="*/ 33 h 57"/>
              <a:gd name="T64" fmla="*/ 5 w 62"/>
              <a:gd name="T65" fmla="*/ 38 h 57"/>
              <a:gd name="T66" fmla="*/ 5 w 62"/>
              <a:gd name="T67" fmla="*/ 43 h 57"/>
              <a:gd name="T68" fmla="*/ 10 w 62"/>
              <a:gd name="T69" fmla="*/ 47 h 57"/>
              <a:gd name="T70" fmla="*/ 10 w 62"/>
              <a:gd name="T71" fmla="*/ 52 h 57"/>
              <a:gd name="T72" fmla="*/ 15 w 62"/>
              <a:gd name="T73" fmla="*/ 52 h 57"/>
              <a:gd name="T74" fmla="*/ 19 w 62"/>
              <a:gd name="T75" fmla="*/ 57 h 57"/>
              <a:gd name="T76" fmla="*/ 24 w 62"/>
              <a:gd name="T77" fmla="*/ 57 h 57"/>
              <a:gd name="T78" fmla="*/ 24 w 62"/>
              <a:gd name="T79" fmla="*/ 57 h 57"/>
              <a:gd name="T80" fmla="*/ 29 w 62"/>
              <a:gd name="T81" fmla="*/ 57 h 57"/>
              <a:gd name="T82" fmla="*/ 29 w 62"/>
              <a:gd name="T83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2" h="57">
                <a:moveTo>
                  <a:pt x="29" y="57"/>
                </a:moveTo>
                <a:lnTo>
                  <a:pt x="34" y="57"/>
                </a:lnTo>
                <a:lnTo>
                  <a:pt x="39" y="57"/>
                </a:lnTo>
                <a:lnTo>
                  <a:pt x="43" y="57"/>
                </a:lnTo>
                <a:lnTo>
                  <a:pt x="48" y="52"/>
                </a:lnTo>
                <a:lnTo>
                  <a:pt x="53" y="52"/>
                </a:lnTo>
                <a:lnTo>
                  <a:pt x="53" y="47"/>
                </a:lnTo>
                <a:lnTo>
                  <a:pt x="58" y="43"/>
                </a:lnTo>
                <a:lnTo>
                  <a:pt x="58" y="38"/>
                </a:lnTo>
                <a:lnTo>
                  <a:pt x="62" y="33"/>
                </a:lnTo>
                <a:lnTo>
                  <a:pt x="62" y="28"/>
                </a:lnTo>
                <a:lnTo>
                  <a:pt x="62" y="24"/>
                </a:lnTo>
                <a:lnTo>
                  <a:pt x="58" y="19"/>
                </a:lnTo>
                <a:lnTo>
                  <a:pt x="58" y="14"/>
                </a:lnTo>
                <a:lnTo>
                  <a:pt x="53" y="14"/>
                </a:lnTo>
                <a:lnTo>
                  <a:pt x="53" y="9"/>
                </a:lnTo>
                <a:lnTo>
                  <a:pt x="48" y="5"/>
                </a:lnTo>
                <a:lnTo>
                  <a:pt x="43" y="5"/>
                </a:lnTo>
                <a:lnTo>
                  <a:pt x="39" y="0"/>
                </a:lnTo>
                <a:lnTo>
                  <a:pt x="34" y="0"/>
                </a:lnTo>
                <a:lnTo>
                  <a:pt x="29" y="0"/>
                </a:lnTo>
                <a:lnTo>
                  <a:pt x="24" y="0"/>
                </a:lnTo>
                <a:lnTo>
                  <a:pt x="24" y="0"/>
                </a:lnTo>
                <a:lnTo>
                  <a:pt x="19" y="5"/>
                </a:lnTo>
                <a:lnTo>
                  <a:pt x="15" y="5"/>
                </a:lnTo>
                <a:lnTo>
                  <a:pt x="10" y="9"/>
                </a:lnTo>
                <a:lnTo>
                  <a:pt x="10" y="14"/>
                </a:lnTo>
                <a:lnTo>
                  <a:pt x="5" y="14"/>
                </a:lnTo>
                <a:lnTo>
                  <a:pt x="5" y="19"/>
                </a:lnTo>
                <a:lnTo>
                  <a:pt x="0" y="24"/>
                </a:lnTo>
                <a:lnTo>
                  <a:pt x="0" y="28"/>
                </a:lnTo>
                <a:lnTo>
                  <a:pt x="0" y="33"/>
                </a:lnTo>
                <a:lnTo>
                  <a:pt x="5" y="38"/>
                </a:lnTo>
                <a:lnTo>
                  <a:pt x="5" y="43"/>
                </a:lnTo>
                <a:lnTo>
                  <a:pt x="10" y="47"/>
                </a:lnTo>
                <a:lnTo>
                  <a:pt x="10" y="52"/>
                </a:lnTo>
                <a:lnTo>
                  <a:pt x="15" y="52"/>
                </a:lnTo>
                <a:lnTo>
                  <a:pt x="19" y="57"/>
                </a:lnTo>
                <a:lnTo>
                  <a:pt x="24" y="57"/>
                </a:lnTo>
                <a:lnTo>
                  <a:pt x="24" y="57"/>
                </a:lnTo>
                <a:lnTo>
                  <a:pt x="29" y="57"/>
                </a:lnTo>
                <a:lnTo>
                  <a:pt x="29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31" name="Freeform 11193"/>
          <p:cNvSpPr>
            <a:spLocks/>
          </p:cNvSpPr>
          <p:nvPr/>
        </p:nvSpPr>
        <p:spPr bwMode="auto">
          <a:xfrm>
            <a:off x="4145597" y="3342640"/>
            <a:ext cx="36195" cy="36195"/>
          </a:xfrm>
          <a:custGeom>
            <a:avLst/>
            <a:gdLst>
              <a:gd name="T0" fmla="*/ 29 w 57"/>
              <a:gd name="T1" fmla="*/ 57 h 57"/>
              <a:gd name="T2" fmla="*/ 33 w 57"/>
              <a:gd name="T3" fmla="*/ 57 h 57"/>
              <a:gd name="T4" fmla="*/ 38 w 57"/>
              <a:gd name="T5" fmla="*/ 57 h 57"/>
              <a:gd name="T6" fmla="*/ 43 w 57"/>
              <a:gd name="T7" fmla="*/ 53 h 57"/>
              <a:gd name="T8" fmla="*/ 48 w 57"/>
              <a:gd name="T9" fmla="*/ 53 h 57"/>
              <a:gd name="T10" fmla="*/ 48 w 57"/>
              <a:gd name="T11" fmla="*/ 48 h 57"/>
              <a:gd name="T12" fmla="*/ 52 w 57"/>
              <a:gd name="T13" fmla="*/ 48 h 57"/>
              <a:gd name="T14" fmla="*/ 57 w 57"/>
              <a:gd name="T15" fmla="*/ 43 h 57"/>
              <a:gd name="T16" fmla="*/ 57 w 57"/>
              <a:gd name="T17" fmla="*/ 38 h 57"/>
              <a:gd name="T18" fmla="*/ 57 w 57"/>
              <a:gd name="T19" fmla="*/ 34 h 57"/>
              <a:gd name="T20" fmla="*/ 57 w 57"/>
              <a:gd name="T21" fmla="*/ 29 h 57"/>
              <a:gd name="T22" fmla="*/ 57 w 57"/>
              <a:gd name="T23" fmla="*/ 24 h 57"/>
              <a:gd name="T24" fmla="*/ 57 w 57"/>
              <a:gd name="T25" fmla="*/ 19 h 57"/>
              <a:gd name="T26" fmla="*/ 57 w 57"/>
              <a:gd name="T27" fmla="*/ 15 h 57"/>
              <a:gd name="T28" fmla="*/ 52 w 57"/>
              <a:gd name="T29" fmla="*/ 10 h 57"/>
              <a:gd name="T30" fmla="*/ 48 w 57"/>
              <a:gd name="T31" fmla="*/ 10 h 57"/>
              <a:gd name="T32" fmla="*/ 48 w 57"/>
              <a:gd name="T33" fmla="*/ 5 h 57"/>
              <a:gd name="T34" fmla="*/ 43 w 57"/>
              <a:gd name="T35" fmla="*/ 0 h 57"/>
              <a:gd name="T36" fmla="*/ 38 w 57"/>
              <a:gd name="T37" fmla="*/ 0 h 57"/>
              <a:gd name="T38" fmla="*/ 33 w 57"/>
              <a:gd name="T39" fmla="*/ 0 h 57"/>
              <a:gd name="T40" fmla="*/ 29 w 57"/>
              <a:gd name="T41" fmla="*/ 0 h 57"/>
              <a:gd name="T42" fmla="*/ 24 w 57"/>
              <a:gd name="T43" fmla="*/ 0 h 57"/>
              <a:gd name="T44" fmla="*/ 19 w 57"/>
              <a:gd name="T45" fmla="*/ 0 h 57"/>
              <a:gd name="T46" fmla="*/ 14 w 57"/>
              <a:gd name="T47" fmla="*/ 0 h 57"/>
              <a:gd name="T48" fmla="*/ 9 w 57"/>
              <a:gd name="T49" fmla="*/ 5 h 57"/>
              <a:gd name="T50" fmla="*/ 9 w 57"/>
              <a:gd name="T51" fmla="*/ 10 h 57"/>
              <a:gd name="T52" fmla="*/ 5 w 57"/>
              <a:gd name="T53" fmla="*/ 10 h 57"/>
              <a:gd name="T54" fmla="*/ 5 w 57"/>
              <a:gd name="T55" fmla="*/ 15 h 57"/>
              <a:gd name="T56" fmla="*/ 0 w 57"/>
              <a:gd name="T57" fmla="*/ 19 h 57"/>
              <a:gd name="T58" fmla="*/ 0 w 57"/>
              <a:gd name="T59" fmla="*/ 24 h 57"/>
              <a:gd name="T60" fmla="*/ 0 w 57"/>
              <a:gd name="T61" fmla="*/ 29 h 57"/>
              <a:gd name="T62" fmla="*/ 0 w 57"/>
              <a:gd name="T63" fmla="*/ 34 h 57"/>
              <a:gd name="T64" fmla="*/ 0 w 57"/>
              <a:gd name="T65" fmla="*/ 38 h 57"/>
              <a:gd name="T66" fmla="*/ 5 w 57"/>
              <a:gd name="T67" fmla="*/ 43 h 57"/>
              <a:gd name="T68" fmla="*/ 5 w 57"/>
              <a:gd name="T69" fmla="*/ 48 h 57"/>
              <a:gd name="T70" fmla="*/ 9 w 57"/>
              <a:gd name="T71" fmla="*/ 48 h 57"/>
              <a:gd name="T72" fmla="*/ 9 w 57"/>
              <a:gd name="T73" fmla="*/ 53 h 57"/>
              <a:gd name="T74" fmla="*/ 14 w 57"/>
              <a:gd name="T75" fmla="*/ 53 h 57"/>
              <a:gd name="T76" fmla="*/ 19 w 57"/>
              <a:gd name="T77" fmla="*/ 57 h 57"/>
              <a:gd name="T78" fmla="*/ 24 w 57"/>
              <a:gd name="T79" fmla="*/ 57 h 57"/>
              <a:gd name="T80" fmla="*/ 29 w 57"/>
              <a:gd name="T81" fmla="*/ 57 h 57"/>
              <a:gd name="T82" fmla="*/ 29 w 57"/>
              <a:gd name="T83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7" h="57">
                <a:moveTo>
                  <a:pt x="29" y="57"/>
                </a:moveTo>
                <a:lnTo>
                  <a:pt x="33" y="57"/>
                </a:lnTo>
                <a:lnTo>
                  <a:pt x="38" y="57"/>
                </a:lnTo>
                <a:lnTo>
                  <a:pt x="43" y="53"/>
                </a:lnTo>
                <a:lnTo>
                  <a:pt x="48" y="53"/>
                </a:lnTo>
                <a:lnTo>
                  <a:pt x="48" y="48"/>
                </a:lnTo>
                <a:lnTo>
                  <a:pt x="52" y="48"/>
                </a:lnTo>
                <a:lnTo>
                  <a:pt x="57" y="43"/>
                </a:lnTo>
                <a:lnTo>
                  <a:pt x="57" y="38"/>
                </a:lnTo>
                <a:lnTo>
                  <a:pt x="57" y="34"/>
                </a:lnTo>
                <a:lnTo>
                  <a:pt x="57" y="29"/>
                </a:lnTo>
                <a:lnTo>
                  <a:pt x="57" y="24"/>
                </a:lnTo>
                <a:lnTo>
                  <a:pt x="57" y="19"/>
                </a:lnTo>
                <a:lnTo>
                  <a:pt x="57" y="15"/>
                </a:lnTo>
                <a:lnTo>
                  <a:pt x="52" y="10"/>
                </a:lnTo>
                <a:lnTo>
                  <a:pt x="48" y="10"/>
                </a:lnTo>
                <a:lnTo>
                  <a:pt x="48" y="5"/>
                </a:lnTo>
                <a:lnTo>
                  <a:pt x="43" y="0"/>
                </a:lnTo>
                <a:lnTo>
                  <a:pt x="38" y="0"/>
                </a:lnTo>
                <a:lnTo>
                  <a:pt x="33" y="0"/>
                </a:lnTo>
                <a:lnTo>
                  <a:pt x="29" y="0"/>
                </a:lnTo>
                <a:lnTo>
                  <a:pt x="24" y="0"/>
                </a:lnTo>
                <a:lnTo>
                  <a:pt x="19" y="0"/>
                </a:lnTo>
                <a:lnTo>
                  <a:pt x="14" y="0"/>
                </a:lnTo>
                <a:lnTo>
                  <a:pt x="9" y="5"/>
                </a:lnTo>
                <a:lnTo>
                  <a:pt x="9" y="10"/>
                </a:lnTo>
                <a:lnTo>
                  <a:pt x="5" y="10"/>
                </a:lnTo>
                <a:lnTo>
                  <a:pt x="5" y="15"/>
                </a:lnTo>
                <a:lnTo>
                  <a:pt x="0" y="19"/>
                </a:lnTo>
                <a:lnTo>
                  <a:pt x="0" y="24"/>
                </a:lnTo>
                <a:lnTo>
                  <a:pt x="0" y="29"/>
                </a:lnTo>
                <a:lnTo>
                  <a:pt x="0" y="34"/>
                </a:lnTo>
                <a:lnTo>
                  <a:pt x="0" y="38"/>
                </a:lnTo>
                <a:lnTo>
                  <a:pt x="5" y="43"/>
                </a:lnTo>
                <a:lnTo>
                  <a:pt x="5" y="48"/>
                </a:lnTo>
                <a:lnTo>
                  <a:pt x="9" y="48"/>
                </a:lnTo>
                <a:lnTo>
                  <a:pt x="9" y="53"/>
                </a:lnTo>
                <a:lnTo>
                  <a:pt x="14" y="53"/>
                </a:lnTo>
                <a:lnTo>
                  <a:pt x="19" y="57"/>
                </a:lnTo>
                <a:lnTo>
                  <a:pt x="24" y="57"/>
                </a:lnTo>
                <a:lnTo>
                  <a:pt x="29" y="57"/>
                </a:lnTo>
                <a:lnTo>
                  <a:pt x="29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32" name="Freeform 11194"/>
          <p:cNvSpPr>
            <a:spLocks/>
          </p:cNvSpPr>
          <p:nvPr/>
        </p:nvSpPr>
        <p:spPr bwMode="auto">
          <a:xfrm>
            <a:off x="4145597" y="3926205"/>
            <a:ext cx="36195" cy="36195"/>
          </a:xfrm>
          <a:custGeom>
            <a:avLst/>
            <a:gdLst>
              <a:gd name="T0" fmla="*/ 29 w 57"/>
              <a:gd name="T1" fmla="*/ 57 h 57"/>
              <a:gd name="T2" fmla="*/ 33 w 57"/>
              <a:gd name="T3" fmla="*/ 57 h 57"/>
              <a:gd name="T4" fmla="*/ 38 w 57"/>
              <a:gd name="T5" fmla="*/ 57 h 57"/>
              <a:gd name="T6" fmla="*/ 43 w 57"/>
              <a:gd name="T7" fmla="*/ 52 h 57"/>
              <a:gd name="T8" fmla="*/ 48 w 57"/>
              <a:gd name="T9" fmla="*/ 52 h 57"/>
              <a:gd name="T10" fmla="*/ 48 w 57"/>
              <a:gd name="T11" fmla="*/ 47 h 57"/>
              <a:gd name="T12" fmla="*/ 52 w 57"/>
              <a:gd name="T13" fmla="*/ 47 h 57"/>
              <a:gd name="T14" fmla="*/ 57 w 57"/>
              <a:gd name="T15" fmla="*/ 43 h 57"/>
              <a:gd name="T16" fmla="*/ 57 w 57"/>
              <a:gd name="T17" fmla="*/ 38 h 57"/>
              <a:gd name="T18" fmla="*/ 57 w 57"/>
              <a:gd name="T19" fmla="*/ 33 h 57"/>
              <a:gd name="T20" fmla="*/ 57 w 57"/>
              <a:gd name="T21" fmla="*/ 28 h 57"/>
              <a:gd name="T22" fmla="*/ 57 w 57"/>
              <a:gd name="T23" fmla="*/ 24 h 57"/>
              <a:gd name="T24" fmla="*/ 57 w 57"/>
              <a:gd name="T25" fmla="*/ 19 h 57"/>
              <a:gd name="T26" fmla="*/ 57 w 57"/>
              <a:gd name="T27" fmla="*/ 14 h 57"/>
              <a:gd name="T28" fmla="*/ 52 w 57"/>
              <a:gd name="T29" fmla="*/ 9 h 57"/>
              <a:gd name="T30" fmla="*/ 48 w 57"/>
              <a:gd name="T31" fmla="*/ 9 h 57"/>
              <a:gd name="T32" fmla="*/ 48 w 57"/>
              <a:gd name="T33" fmla="*/ 5 h 57"/>
              <a:gd name="T34" fmla="*/ 43 w 57"/>
              <a:gd name="T35" fmla="*/ 5 h 57"/>
              <a:gd name="T36" fmla="*/ 38 w 57"/>
              <a:gd name="T37" fmla="*/ 0 h 57"/>
              <a:gd name="T38" fmla="*/ 33 w 57"/>
              <a:gd name="T39" fmla="*/ 0 h 57"/>
              <a:gd name="T40" fmla="*/ 29 w 57"/>
              <a:gd name="T41" fmla="*/ 0 h 57"/>
              <a:gd name="T42" fmla="*/ 24 w 57"/>
              <a:gd name="T43" fmla="*/ 0 h 57"/>
              <a:gd name="T44" fmla="*/ 19 w 57"/>
              <a:gd name="T45" fmla="*/ 0 h 57"/>
              <a:gd name="T46" fmla="*/ 14 w 57"/>
              <a:gd name="T47" fmla="*/ 5 h 57"/>
              <a:gd name="T48" fmla="*/ 9 w 57"/>
              <a:gd name="T49" fmla="*/ 5 h 57"/>
              <a:gd name="T50" fmla="*/ 9 w 57"/>
              <a:gd name="T51" fmla="*/ 9 h 57"/>
              <a:gd name="T52" fmla="*/ 5 w 57"/>
              <a:gd name="T53" fmla="*/ 9 h 57"/>
              <a:gd name="T54" fmla="*/ 5 w 57"/>
              <a:gd name="T55" fmla="*/ 14 h 57"/>
              <a:gd name="T56" fmla="*/ 0 w 57"/>
              <a:gd name="T57" fmla="*/ 19 h 57"/>
              <a:gd name="T58" fmla="*/ 0 w 57"/>
              <a:gd name="T59" fmla="*/ 24 h 57"/>
              <a:gd name="T60" fmla="*/ 0 w 57"/>
              <a:gd name="T61" fmla="*/ 28 h 57"/>
              <a:gd name="T62" fmla="*/ 0 w 57"/>
              <a:gd name="T63" fmla="*/ 33 h 57"/>
              <a:gd name="T64" fmla="*/ 0 w 57"/>
              <a:gd name="T65" fmla="*/ 38 h 57"/>
              <a:gd name="T66" fmla="*/ 5 w 57"/>
              <a:gd name="T67" fmla="*/ 43 h 57"/>
              <a:gd name="T68" fmla="*/ 5 w 57"/>
              <a:gd name="T69" fmla="*/ 47 h 57"/>
              <a:gd name="T70" fmla="*/ 9 w 57"/>
              <a:gd name="T71" fmla="*/ 47 h 57"/>
              <a:gd name="T72" fmla="*/ 9 w 57"/>
              <a:gd name="T73" fmla="*/ 52 h 57"/>
              <a:gd name="T74" fmla="*/ 14 w 57"/>
              <a:gd name="T75" fmla="*/ 52 h 57"/>
              <a:gd name="T76" fmla="*/ 19 w 57"/>
              <a:gd name="T77" fmla="*/ 57 h 57"/>
              <a:gd name="T78" fmla="*/ 24 w 57"/>
              <a:gd name="T79" fmla="*/ 57 h 57"/>
              <a:gd name="T80" fmla="*/ 29 w 57"/>
              <a:gd name="T81" fmla="*/ 57 h 57"/>
              <a:gd name="T82" fmla="*/ 29 w 57"/>
              <a:gd name="T83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7" h="57">
                <a:moveTo>
                  <a:pt x="29" y="57"/>
                </a:moveTo>
                <a:lnTo>
                  <a:pt x="33" y="57"/>
                </a:lnTo>
                <a:lnTo>
                  <a:pt x="38" y="57"/>
                </a:lnTo>
                <a:lnTo>
                  <a:pt x="43" y="52"/>
                </a:lnTo>
                <a:lnTo>
                  <a:pt x="48" y="52"/>
                </a:lnTo>
                <a:lnTo>
                  <a:pt x="48" y="47"/>
                </a:lnTo>
                <a:lnTo>
                  <a:pt x="52" y="47"/>
                </a:lnTo>
                <a:lnTo>
                  <a:pt x="57" y="43"/>
                </a:lnTo>
                <a:lnTo>
                  <a:pt x="57" y="38"/>
                </a:lnTo>
                <a:lnTo>
                  <a:pt x="57" y="33"/>
                </a:lnTo>
                <a:lnTo>
                  <a:pt x="57" y="28"/>
                </a:lnTo>
                <a:lnTo>
                  <a:pt x="57" y="24"/>
                </a:lnTo>
                <a:lnTo>
                  <a:pt x="57" y="19"/>
                </a:lnTo>
                <a:lnTo>
                  <a:pt x="57" y="14"/>
                </a:lnTo>
                <a:lnTo>
                  <a:pt x="52" y="9"/>
                </a:lnTo>
                <a:lnTo>
                  <a:pt x="48" y="9"/>
                </a:lnTo>
                <a:lnTo>
                  <a:pt x="48" y="5"/>
                </a:lnTo>
                <a:lnTo>
                  <a:pt x="43" y="5"/>
                </a:lnTo>
                <a:lnTo>
                  <a:pt x="38" y="0"/>
                </a:lnTo>
                <a:lnTo>
                  <a:pt x="33" y="0"/>
                </a:lnTo>
                <a:lnTo>
                  <a:pt x="29" y="0"/>
                </a:lnTo>
                <a:lnTo>
                  <a:pt x="24" y="0"/>
                </a:lnTo>
                <a:lnTo>
                  <a:pt x="19" y="0"/>
                </a:lnTo>
                <a:lnTo>
                  <a:pt x="14" y="5"/>
                </a:lnTo>
                <a:lnTo>
                  <a:pt x="9" y="5"/>
                </a:lnTo>
                <a:lnTo>
                  <a:pt x="9" y="9"/>
                </a:lnTo>
                <a:lnTo>
                  <a:pt x="5" y="9"/>
                </a:lnTo>
                <a:lnTo>
                  <a:pt x="5" y="14"/>
                </a:lnTo>
                <a:lnTo>
                  <a:pt x="0" y="19"/>
                </a:lnTo>
                <a:lnTo>
                  <a:pt x="0" y="24"/>
                </a:lnTo>
                <a:lnTo>
                  <a:pt x="0" y="28"/>
                </a:lnTo>
                <a:lnTo>
                  <a:pt x="0" y="33"/>
                </a:lnTo>
                <a:lnTo>
                  <a:pt x="0" y="38"/>
                </a:lnTo>
                <a:lnTo>
                  <a:pt x="5" y="43"/>
                </a:lnTo>
                <a:lnTo>
                  <a:pt x="5" y="47"/>
                </a:lnTo>
                <a:lnTo>
                  <a:pt x="9" y="47"/>
                </a:lnTo>
                <a:lnTo>
                  <a:pt x="9" y="52"/>
                </a:lnTo>
                <a:lnTo>
                  <a:pt x="14" y="52"/>
                </a:lnTo>
                <a:lnTo>
                  <a:pt x="19" y="57"/>
                </a:lnTo>
                <a:lnTo>
                  <a:pt x="24" y="57"/>
                </a:lnTo>
                <a:lnTo>
                  <a:pt x="29" y="57"/>
                </a:lnTo>
                <a:lnTo>
                  <a:pt x="29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33" name="Freeform 11195"/>
          <p:cNvSpPr>
            <a:spLocks/>
          </p:cNvSpPr>
          <p:nvPr/>
        </p:nvSpPr>
        <p:spPr bwMode="auto">
          <a:xfrm>
            <a:off x="5170487" y="4043680"/>
            <a:ext cx="36195" cy="39370"/>
          </a:xfrm>
          <a:custGeom>
            <a:avLst/>
            <a:gdLst>
              <a:gd name="T0" fmla="*/ 28 w 57"/>
              <a:gd name="T1" fmla="*/ 58 h 62"/>
              <a:gd name="T2" fmla="*/ 33 w 57"/>
              <a:gd name="T3" fmla="*/ 62 h 62"/>
              <a:gd name="T4" fmla="*/ 38 w 57"/>
              <a:gd name="T5" fmla="*/ 58 h 62"/>
              <a:gd name="T6" fmla="*/ 43 w 57"/>
              <a:gd name="T7" fmla="*/ 58 h 62"/>
              <a:gd name="T8" fmla="*/ 47 w 57"/>
              <a:gd name="T9" fmla="*/ 58 h 62"/>
              <a:gd name="T10" fmla="*/ 47 w 57"/>
              <a:gd name="T11" fmla="*/ 53 h 62"/>
              <a:gd name="T12" fmla="*/ 52 w 57"/>
              <a:gd name="T13" fmla="*/ 48 h 62"/>
              <a:gd name="T14" fmla="*/ 52 w 57"/>
              <a:gd name="T15" fmla="*/ 43 h 62"/>
              <a:gd name="T16" fmla="*/ 57 w 57"/>
              <a:gd name="T17" fmla="*/ 43 h 62"/>
              <a:gd name="T18" fmla="*/ 57 w 57"/>
              <a:gd name="T19" fmla="*/ 38 h 62"/>
              <a:gd name="T20" fmla="*/ 57 w 57"/>
              <a:gd name="T21" fmla="*/ 34 h 62"/>
              <a:gd name="T22" fmla="*/ 57 w 57"/>
              <a:gd name="T23" fmla="*/ 29 h 62"/>
              <a:gd name="T24" fmla="*/ 57 w 57"/>
              <a:gd name="T25" fmla="*/ 24 h 62"/>
              <a:gd name="T26" fmla="*/ 52 w 57"/>
              <a:gd name="T27" fmla="*/ 19 h 62"/>
              <a:gd name="T28" fmla="*/ 52 w 57"/>
              <a:gd name="T29" fmla="*/ 15 h 62"/>
              <a:gd name="T30" fmla="*/ 47 w 57"/>
              <a:gd name="T31" fmla="*/ 10 h 62"/>
              <a:gd name="T32" fmla="*/ 47 w 57"/>
              <a:gd name="T33" fmla="*/ 10 h 62"/>
              <a:gd name="T34" fmla="*/ 43 w 57"/>
              <a:gd name="T35" fmla="*/ 5 h 62"/>
              <a:gd name="T36" fmla="*/ 38 w 57"/>
              <a:gd name="T37" fmla="*/ 5 h 62"/>
              <a:gd name="T38" fmla="*/ 33 w 57"/>
              <a:gd name="T39" fmla="*/ 0 h 62"/>
              <a:gd name="T40" fmla="*/ 28 w 57"/>
              <a:gd name="T41" fmla="*/ 0 h 62"/>
              <a:gd name="T42" fmla="*/ 24 w 57"/>
              <a:gd name="T43" fmla="*/ 0 h 62"/>
              <a:gd name="T44" fmla="*/ 19 w 57"/>
              <a:gd name="T45" fmla="*/ 5 h 62"/>
              <a:gd name="T46" fmla="*/ 14 w 57"/>
              <a:gd name="T47" fmla="*/ 5 h 62"/>
              <a:gd name="T48" fmla="*/ 9 w 57"/>
              <a:gd name="T49" fmla="*/ 10 h 62"/>
              <a:gd name="T50" fmla="*/ 9 w 57"/>
              <a:gd name="T51" fmla="*/ 10 h 62"/>
              <a:gd name="T52" fmla="*/ 5 w 57"/>
              <a:gd name="T53" fmla="*/ 15 h 62"/>
              <a:gd name="T54" fmla="*/ 0 w 57"/>
              <a:gd name="T55" fmla="*/ 19 h 62"/>
              <a:gd name="T56" fmla="*/ 0 w 57"/>
              <a:gd name="T57" fmla="*/ 24 h 62"/>
              <a:gd name="T58" fmla="*/ 0 w 57"/>
              <a:gd name="T59" fmla="*/ 29 h 62"/>
              <a:gd name="T60" fmla="*/ 0 w 57"/>
              <a:gd name="T61" fmla="*/ 34 h 62"/>
              <a:gd name="T62" fmla="*/ 0 w 57"/>
              <a:gd name="T63" fmla="*/ 38 h 62"/>
              <a:gd name="T64" fmla="*/ 0 w 57"/>
              <a:gd name="T65" fmla="*/ 43 h 62"/>
              <a:gd name="T66" fmla="*/ 0 w 57"/>
              <a:gd name="T67" fmla="*/ 43 h 62"/>
              <a:gd name="T68" fmla="*/ 5 w 57"/>
              <a:gd name="T69" fmla="*/ 48 h 62"/>
              <a:gd name="T70" fmla="*/ 9 w 57"/>
              <a:gd name="T71" fmla="*/ 53 h 62"/>
              <a:gd name="T72" fmla="*/ 9 w 57"/>
              <a:gd name="T73" fmla="*/ 58 h 62"/>
              <a:gd name="T74" fmla="*/ 14 w 57"/>
              <a:gd name="T75" fmla="*/ 58 h 62"/>
              <a:gd name="T76" fmla="*/ 19 w 57"/>
              <a:gd name="T77" fmla="*/ 58 h 62"/>
              <a:gd name="T78" fmla="*/ 24 w 57"/>
              <a:gd name="T79" fmla="*/ 62 h 62"/>
              <a:gd name="T80" fmla="*/ 28 w 57"/>
              <a:gd name="T81" fmla="*/ 62 h 62"/>
              <a:gd name="T82" fmla="*/ 28 w 57"/>
              <a:gd name="T83" fmla="*/ 62 h 62"/>
              <a:gd name="T84" fmla="*/ 28 w 57"/>
              <a:gd name="T85" fmla="*/ 58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7" h="62">
                <a:moveTo>
                  <a:pt x="28" y="58"/>
                </a:moveTo>
                <a:lnTo>
                  <a:pt x="33" y="62"/>
                </a:lnTo>
                <a:lnTo>
                  <a:pt x="38" y="58"/>
                </a:lnTo>
                <a:lnTo>
                  <a:pt x="43" y="58"/>
                </a:lnTo>
                <a:lnTo>
                  <a:pt x="47" y="58"/>
                </a:lnTo>
                <a:lnTo>
                  <a:pt x="47" y="53"/>
                </a:lnTo>
                <a:lnTo>
                  <a:pt x="52" y="48"/>
                </a:lnTo>
                <a:lnTo>
                  <a:pt x="52" y="43"/>
                </a:lnTo>
                <a:lnTo>
                  <a:pt x="57" y="43"/>
                </a:lnTo>
                <a:lnTo>
                  <a:pt x="57" y="38"/>
                </a:lnTo>
                <a:lnTo>
                  <a:pt x="57" y="34"/>
                </a:lnTo>
                <a:lnTo>
                  <a:pt x="57" y="29"/>
                </a:lnTo>
                <a:lnTo>
                  <a:pt x="57" y="24"/>
                </a:lnTo>
                <a:lnTo>
                  <a:pt x="52" y="19"/>
                </a:lnTo>
                <a:lnTo>
                  <a:pt x="52" y="15"/>
                </a:lnTo>
                <a:lnTo>
                  <a:pt x="47" y="10"/>
                </a:lnTo>
                <a:lnTo>
                  <a:pt x="47" y="10"/>
                </a:lnTo>
                <a:lnTo>
                  <a:pt x="43" y="5"/>
                </a:lnTo>
                <a:lnTo>
                  <a:pt x="38" y="5"/>
                </a:lnTo>
                <a:lnTo>
                  <a:pt x="33" y="0"/>
                </a:lnTo>
                <a:lnTo>
                  <a:pt x="28" y="0"/>
                </a:lnTo>
                <a:lnTo>
                  <a:pt x="24" y="0"/>
                </a:lnTo>
                <a:lnTo>
                  <a:pt x="19" y="5"/>
                </a:lnTo>
                <a:lnTo>
                  <a:pt x="14" y="5"/>
                </a:lnTo>
                <a:lnTo>
                  <a:pt x="9" y="10"/>
                </a:lnTo>
                <a:lnTo>
                  <a:pt x="9" y="10"/>
                </a:lnTo>
                <a:lnTo>
                  <a:pt x="5" y="15"/>
                </a:lnTo>
                <a:lnTo>
                  <a:pt x="0" y="19"/>
                </a:lnTo>
                <a:lnTo>
                  <a:pt x="0" y="24"/>
                </a:lnTo>
                <a:lnTo>
                  <a:pt x="0" y="29"/>
                </a:lnTo>
                <a:lnTo>
                  <a:pt x="0" y="34"/>
                </a:lnTo>
                <a:lnTo>
                  <a:pt x="0" y="38"/>
                </a:lnTo>
                <a:lnTo>
                  <a:pt x="0" y="43"/>
                </a:lnTo>
                <a:lnTo>
                  <a:pt x="0" y="43"/>
                </a:lnTo>
                <a:lnTo>
                  <a:pt x="5" y="48"/>
                </a:lnTo>
                <a:lnTo>
                  <a:pt x="9" y="53"/>
                </a:lnTo>
                <a:lnTo>
                  <a:pt x="9" y="58"/>
                </a:lnTo>
                <a:lnTo>
                  <a:pt x="14" y="58"/>
                </a:lnTo>
                <a:lnTo>
                  <a:pt x="19" y="58"/>
                </a:lnTo>
                <a:lnTo>
                  <a:pt x="24" y="62"/>
                </a:lnTo>
                <a:lnTo>
                  <a:pt x="28" y="62"/>
                </a:lnTo>
                <a:lnTo>
                  <a:pt x="28" y="62"/>
                </a:lnTo>
                <a:lnTo>
                  <a:pt x="28" y="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34" name="Freeform 11196"/>
          <p:cNvSpPr>
            <a:spLocks/>
          </p:cNvSpPr>
          <p:nvPr/>
        </p:nvSpPr>
        <p:spPr bwMode="auto">
          <a:xfrm>
            <a:off x="5206682" y="4294505"/>
            <a:ext cx="36195" cy="36195"/>
          </a:xfrm>
          <a:custGeom>
            <a:avLst/>
            <a:gdLst>
              <a:gd name="T0" fmla="*/ 28 w 57"/>
              <a:gd name="T1" fmla="*/ 57 h 57"/>
              <a:gd name="T2" fmla="*/ 33 w 57"/>
              <a:gd name="T3" fmla="*/ 57 h 57"/>
              <a:gd name="T4" fmla="*/ 38 w 57"/>
              <a:gd name="T5" fmla="*/ 57 h 57"/>
              <a:gd name="T6" fmla="*/ 43 w 57"/>
              <a:gd name="T7" fmla="*/ 57 h 57"/>
              <a:gd name="T8" fmla="*/ 48 w 57"/>
              <a:gd name="T9" fmla="*/ 53 h 57"/>
              <a:gd name="T10" fmla="*/ 48 w 57"/>
              <a:gd name="T11" fmla="*/ 53 h 57"/>
              <a:gd name="T12" fmla="*/ 52 w 57"/>
              <a:gd name="T13" fmla="*/ 48 h 57"/>
              <a:gd name="T14" fmla="*/ 57 w 57"/>
              <a:gd name="T15" fmla="*/ 43 h 57"/>
              <a:gd name="T16" fmla="*/ 57 w 57"/>
              <a:gd name="T17" fmla="*/ 38 h 57"/>
              <a:gd name="T18" fmla="*/ 57 w 57"/>
              <a:gd name="T19" fmla="*/ 34 h 57"/>
              <a:gd name="T20" fmla="*/ 57 w 57"/>
              <a:gd name="T21" fmla="*/ 29 h 57"/>
              <a:gd name="T22" fmla="*/ 57 w 57"/>
              <a:gd name="T23" fmla="*/ 24 h 57"/>
              <a:gd name="T24" fmla="*/ 57 w 57"/>
              <a:gd name="T25" fmla="*/ 19 h 57"/>
              <a:gd name="T26" fmla="*/ 57 w 57"/>
              <a:gd name="T27" fmla="*/ 15 h 57"/>
              <a:gd name="T28" fmla="*/ 52 w 57"/>
              <a:gd name="T29" fmla="*/ 15 h 57"/>
              <a:gd name="T30" fmla="*/ 48 w 57"/>
              <a:gd name="T31" fmla="*/ 10 h 57"/>
              <a:gd name="T32" fmla="*/ 48 w 57"/>
              <a:gd name="T33" fmla="*/ 5 h 57"/>
              <a:gd name="T34" fmla="*/ 43 w 57"/>
              <a:gd name="T35" fmla="*/ 5 h 57"/>
              <a:gd name="T36" fmla="*/ 38 w 57"/>
              <a:gd name="T37" fmla="*/ 0 h 57"/>
              <a:gd name="T38" fmla="*/ 33 w 57"/>
              <a:gd name="T39" fmla="*/ 0 h 57"/>
              <a:gd name="T40" fmla="*/ 28 w 57"/>
              <a:gd name="T41" fmla="*/ 0 h 57"/>
              <a:gd name="T42" fmla="*/ 24 w 57"/>
              <a:gd name="T43" fmla="*/ 0 h 57"/>
              <a:gd name="T44" fmla="*/ 19 w 57"/>
              <a:gd name="T45" fmla="*/ 0 h 57"/>
              <a:gd name="T46" fmla="*/ 14 w 57"/>
              <a:gd name="T47" fmla="*/ 5 h 57"/>
              <a:gd name="T48" fmla="*/ 9 w 57"/>
              <a:gd name="T49" fmla="*/ 5 h 57"/>
              <a:gd name="T50" fmla="*/ 9 w 57"/>
              <a:gd name="T51" fmla="*/ 10 h 57"/>
              <a:gd name="T52" fmla="*/ 5 w 57"/>
              <a:gd name="T53" fmla="*/ 15 h 57"/>
              <a:gd name="T54" fmla="*/ 5 w 57"/>
              <a:gd name="T55" fmla="*/ 15 h 57"/>
              <a:gd name="T56" fmla="*/ 0 w 57"/>
              <a:gd name="T57" fmla="*/ 19 h 57"/>
              <a:gd name="T58" fmla="*/ 0 w 57"/>
              <a:gd name="T59" fmla="*/ 24 h 57"/>
              <a:gd name="T60" fmla="*/ 0 w 57"/>
              <a:gd name="T61" fmla="*/ 29 h 57"/>
              <a:gd name="T62" fmla="*/ 0 w 57"/>
              <a:gd name="T63" fmla="*/ 34 h 57"/>
              <a:gd name="T64" fmla="*/ 0 w 57"/>
              <a:gd name="T65" fmla="*/ 38 h 57"/>
              <a:gd name="T66" fmla="*/ 5 w 57"/>
              <a:gd name="T67" fmla="*/ 43 h 57"/>
              <a:gd name="T68" fmla="*/ 5 w 57"/>
              <a:gd name="T69" fmla="*/ 48 h 57"/>
              <a:gd name="T70" fmla="*/ 9 w 57"/>
              <a:gd name="T71" fmla="*/ 53 h 57"/>
              <a:gd name="T72" fmla="*/ 9 w 57"/>
              <a:gd name="T73" fmla="*/ 53 h 57"/>
              <a:gd name="T74" fmla="*/ 14 w 57"/>
              <a:gd name="T75" fmla="*/ 57 h 57"/>
              <a:gd name="T76" fmla="*/ 19 w 57"/>
              <a:gd name="T77" fmla="*/ 57 h 57"/>
              <a:gd name="T78" fmla="*/ 24 w 57"/>
              <a:gd name="T79" fmla="*/ 57 h 57"/>
              <a:gd name="T80" fmla="*/ 28 w 57"/>
              <a:gd name="T81" fmla="*/ 57 h 57"/>
              <a:gd name="T82" fmla="*/ 28 w 57"/>
              <a:gd name="T83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7" h="57">
                <a:moveTo>
                  <a:pt x="28" y="57"/>
                </a:moveTo>
                <a:lnTo>
                  <a:pt x="33" y="57"/>
                </a:lnTo>
                <a:lnTo>
                  <a:pt x="38" y="57"/>
                </a:lnTo>
                <a:lnTo>
                  <a:pt x="43" y="57"/>
                </a:lnTo>
                <a:lnTo>
                  <a:pt x="48" y="53"/>
                </a:lnTo>
                <a:lnTo>
                  <a:pt x="48" y="53"/>
                </a:lnTo>
                <a:lnTo>
                  <a:pt x="52" y="48"/>
                </a:lnTo>
                <a:lnTo>
                  <a:pt x="57" y="43"/>
                </a:lnTo>
                <a:lnTo>
                  <a:pt x="57" y="38"/>
                </a:lnTo>
                <a:lnTo>
                  <a:pt x="57" y="34"/>
                </a:lnTo>
                <a:lnTo>
                  <a:pt x="57" y="29"/>
                </a:lnTo>
                <a:lnTo>
                  <a:pt x="57" y="24"/>
                </a:lnTo>
                <a:lnTo>
                  <a:pt x="57" y="19"/>
                </a:lnTo>
                <a:lnTo>
                  <a:pt x="57" y="15"/>
                </a:lnTo>
                <a:lnTo>
                  <a:pt x="52" y="15"/>
                </a:lnTo>
                <a:lnTo>
                  <a:pt x="48" y="10"/>
                </a:lnTo>
                <a:lnTo>
                  <a:pt x="48" y="5"/>
                </a:lnTo>
                <a:lnTo>
                  <a:pt x="43" y="5"/>
                </a:lnTo>
                <a:lnTo>
                  <a:pt x="38" y="0"/>
                </a:lnTo>
                <a:lnTo>
                  <a:pt x="33" y="0"/>
                </a:lnTo>
                <a:lnTo>
                  <a:pt x="28" y="0"/>
                </a:lnTo>
                <a:lnTo>
                  <a:pt x="24" y="0"/>
                </a:lnTo>
                <a:lnTo>
                  <a:pt x="19" y="0"/>
                </a:lnTo>
                <a:lnTo>
                  <a:pt x="14" y="5"/>
                </a:lnTo>
                <a:lnTo>
                  <a:pt x="9" y="5"/>
                </a:lnTo>
                <a:lnTo>
                  <a:pt x="9" y="10"/>
                </a:lnTo>
                <a:lnTo>
                  <a:pt x="5" y="15"/>
                </a:lnTo>
                <a:lnTo>
                  <a:pt x="5" y="15"/>
                </a:lnTo>
                <a:lnTo>
                  <a:pt x="0" y="19"/>
                </a:lnTo>
                <a:lnTo>
                  <a:pt x="0" y="24"/>
                </a:lnTo>
                <a:lnTo>
                  <a:pt x="0" y="29"/>
                </a:lnTo>
                <a:lnTo>
                  <a:pt x="0" y="34"/>
                </a:lnTo>
                <a:lnTo>
                  <a:pt x="0" y="38"/>
                </a:lnTo>
                <a:lnTo>
                  <a:pt x="5" y="43"/>
                </a:lnTo>
                <a:lnTo>
                  <a:pt x="5" y="48"/>
                </a:lnTo>
                <a:lnTo>
                  <a:pt x="9" y="53"/>
                </a:lnTo>
                <a:lnTo>
                  <a:pt x="9" y="53"/>
                </a:lnTo>
                <a:lnTo>
                  <a:pt x="14" y="57"/>
                </a:lnTo>
                <a:lnTo>
                  <a:pt x="19" y="57"/>
                </a:lnTo>
                <a:lnTo>
                  <a:pt x="24" y="57"/>
                </a:lnTo>
                <a:lnTo>
                  <a:pt x="28" y="57"/>
                </a:lnTo>
                <a:lnTo>
                  <a:pt x="28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35" name="Freeform 11197"/>
          <p:cNvSpPr>
            <a:spLocks/>
          </p:cNvSpPr>
          <p:nvPr/>
        </p:nvSpPr>
        <p:spPr bwMode="auto">
          <a:xfrm>
            <a:off x="2912427" y="2125345"/>
            <a:ext cx="39370" cy="38735"/>
          </a:xfrm>
          <a:custGeom>
            <a:avLst/>
            <a:gdLst>
              <a:gd name="T0" fmla="*/ 0 w 62"/>
              <a:gd name="T1" fmla="*/ 57 h 61"/>
              <a:gd name="T2" fmla="*/ 62 w 62"/>
              <a:gd name="T3" fmla="*/ 61 h 61"/>
              <a:gd name="T4" fmla="*/ 33 w 62"/>
              <a:gd name="T5" fmla="*/ 0 h 61"/>
              <a:gd name="T6" fmla="*/ 0 w 62"/>
              <a:gd name="T7" fmla="*/ 61 h 61"/>
              <a:gd name="T8" fmla="*/ 0 w 62"/>
              <a:gd name="T9" fmla="*/ 61 h 61"/>
              <a:gd name="T10" fmla="*/ 0 w 62"/>
              <a:gd name="T11" fmla="*/ 57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1">
                <a:moveTo>
                  <a:pt x="0" y="57"/>
                </a:moveTo>
                <a:lnTo>
                  <a:pt x="62" y="61"/>
                </a:lnTo>
                <a:lnTo>
                  <a:pt x="33" y="0"/>
                </a:lnTo>
                <a:lnTo>
                  <a:pt x="0" y="61"/>
                </a:lnTo>
                <a:lnTo>
                  <a:pt x="0" y="61"/>
                </a:lnTo>
                <a:lnTo>
                  <a:pt x="0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36" name="Freeform 11198"/>
          <p:cNvSpPr>
            <a:spLocks/>
          </p:cNvSpPr>
          <p:nvPr/>
        </p:nvSpPr>
        <p:spPr bwMode="auto">
          <a:xfrm>
            <a:off x="6956742" y="5010785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4 h 62"/>
              <a:gd name="T6" fmla="*/ 5 w 62"/>
              <a:gd name="T7" fmla="*/ 5 h 62"/>
              <a:gd name="T8" fmla="*/ 5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4"/>
                </a:lnTo>
                <a:lnTo>
                  <a:pt x="5" y="5"/>
                </a:lnTo>
                <a:lnTo>
                  <a:pt x="5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37" name="Line 11199"/>
          <p:cNvCxnSpPr/>
          <p:nvPr/>
        </p:nvCxnSpPr>
        <p:spPr bwMode="auto">
          <a:xfrm flipH="1">
            <a:off x="6037897" y="5029200"/>
            <a:ext cx="925195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8" name="Freeform 11200"/>
          <p:cNvSpPr>
            <a:spLocks/>
          </p:cNvSpPr>
          <p:nvPr/>
        </p:nvSpPr>
        <p:spPr bwMode="auto">
          <a:xfrm>
            <a:off x="5874702" y="5029200"/>
            <a:ext cx="245110" cy="199390"/>
          </a:xfrm>
          <a:custGeom>
            <a:avLst/>
            <a:gdLst>
              <a:gd name="T0" fmla="*/ 386 w 386"/>
              <a:gd name="T1" fmla="*/ 0 h 314"/>
              <a:gd name="T2" fmla="*/ 386 w 386"/>
              <a:gd name="T3" fmla="*/ 314 h 314"/>
              <a:gd name="T4" fmla="*/ 0 w 386"/>
              <a:gd name="T5" fmla="*/ 314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6" h="314">
                <a:moveTo>
                  <a:pt x="386" y="0"/>
                </a:moveTo>
                <a:lnTo>
                  <a:pt x="386" y="314"/>
                </a:lnTo>
                <a:lnTo>
                  <a:pt x="0" y="314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39" name="Freeform 11201"/>
          <p:cNvSpPr>
            <a:spLocks/>
          </p:cNvSpPr>
          <p:nvPr/>
        </p:nvSpPr>
        <p:spPr bwMode="auto">
          <a:xfrm>
            <a:off x="6101397" y="5013960"/>
            <a:ext cx="36195" cy="36195"/>
          </a:xfrm>
          <a:custGeom>
            <a:avLst/>
            <a:gdLst>
              <a:gd name="T0" fmla="*/ 29 w 57"/>
              <a:gd name="T1" fmla="*/ 57 h 57"/>
              <a:gd name="T2" fmla="*/ 33 w 57"/>
              <a:gd name="T3" fmla="*/ 57 h 57"/>
              <a:gd name="T4" fmla="*/ 38 w 57"/>
              <a:gd name="T5" fmla="*/ 57 h 57"/>
              <a:gd name="T6" fmla="*/ 43 w 57"/>
              <a:gd name="T7" fmla="*/ 52 h 57"/>
              <a:gd name="T8" fmla="*/ 48 w 57"/>
              <a:gd name="T9" fmla="*/ 52 h 57"/>
              <a:gd name="T10" fmla="*/ 52 w 57"/>
              <a:gd name="T11" fmla="*/ 48 h 57"/>
              <a:gd name="T12" fmla="*/ 52 w 57"/>
              <a:gd name="T13" fmla="*/ 48 h 57"/>
              <a:gd name="T14" fmla="*/ 57 w 57"/>
              <a:gd name="T15" fmla="*/ 43 h 57"/>
              <a:gd name="T16" fmla="*/ 57 w 57"/>
              <a:gd name="T17" fmla="*/ 38 h 57"/>
              <a:gd name="T18" fmla="*/ 57 w 57"/>
              <a:gd name="T19" fmla="*/ 33 h 57"/>
              <a:gd name="T20" fmla="*/ 57 w 57"/>
              <a:gd name="T21" fmla="*/ 29 h 57"/>
              <a:gd name="T22" fmla="*/ 57 w 57"/>
              <a:gd name="T23" fmla="*/ 24 h 57"/>
              <a:gd name="T24" fmla="*/ 57 w 57"/>
              <a:gd name="T25" fmla="*/ 19 h 57"/>
              <a:gd name="T26" fmla="*/ 57 w 57"/>
              <a:gd name="T27" fmla="*/ 14 h 57"/>
              <a:gd name="T28" fmla="*/ 52 w 57"/>
              <a:gd name="T29" fmla="*/ 9 h 57"/>
              <a:gd name="T30" fmla="*/ 52 w 57"/>
              <a:gd name="T31" fmla="*/ 9 h 57"/>
              <a:gd name="T32" fmla="*/ 48 w 57"/>
              <a:gd name="T33" fmla="*/ 5 h 57"/>
              <a:gd name="T34" fmla="*/ 43 w 57"/>
              <a:gd name="T35" fmla="*/ 0 h 57"/>
              <a:gd name="T36" fmla="*/ 38 w 57"/>
              <a:gd name="T37" fmla="*/ 0 h 57"/>
              <a:gd name="T38" fmla="*/ 33 w 57"/>
              <a:gd name="T39" fmla="*/ 0 h 57"/>
              <a:gd name="T40" fmla="*/ 29 w 57"/>
              <a:gd name="T41" fmla="*/ 0 h 57"/>
              <a:gd name="T42" fmla="*/ 24 w 57"/>
              <a:gd name="T43" fmla="*/ 0 h 57"/>
              <a:gd name="T44" fmla="*/ 19 w 57"/>
              <a:gd name="T45" fmla="*/ 0 h 57"/>
              <a:gd name="T46" fmla="*/ 14 w 57"/>
              <a:gd name="T47" fmla="*/ 0 h 57"/>
              <a:gd name="T48" fmla="*/ 14 w 57"/>
              <a:gd name="T49" fmla="*/ 5 h 57"/>
              <a:gd name="T50" fmla="*/ 10 w 57"/>
              <a:gd name="T51" fmla="*/ 9 h 57"/>
              <a:gd name="T52" fmla="*/ 5 w 57"/>
              <a:gd name="T53" fmla="*/ 9 h 57"/>
              <a:gd name="T54" fmla="*/ 5 w 57"/>
              <a:gd name="T55" fmla="*/ 14 h 57"/>
              <a:gd name="T56" fmla="*/ 0 w 57"/>
              <a:gd name="T57" fmla="*/ 19 h 57"/>
              <a:gd name="T58" fmla="*/ 0 w 57"/>
              <a:gd name="T59" fmla="*/ 24 h 57"/>
              <a:gd name="T60" fmla="*/ 0 w 57"/>
              <a:gd name="T61" fmla="*/ 29 h 57"/>
              <a:gd name="T62" fmla="*/ 0 w 57"/>
              <a:gd name="T63" fmla="*/ 33 h 57"/>
              <a:gd name="T64" fmla="*/ 0 w 57"/>
              <a:gd name="T65" fmla="*/ 38 h 57"/>
              <a:gd name="T66" fmla="*/ 5 w 57"/>
              <a:gd name="T67" fmla="*/ 43 h 57"/>
              <a:gd name="T68" fmla="*/ 5 w 57"/>
              <a:gd name="T69" fmla="*/ 48 h 57"/>
              <a:gd name="T70" fmla="*/ 10 w 57"/>
              <a:gd name="T71" fmla="*/ 48 h 57"/>
              <a:gd name="T72" fmla="*/ 14 w 57"/>
              <a:gd name="T73" fmla="*/ 52 h 57"/>
              <a:gd name="T74" fmla="*/ 14 w 57"/>
              <a:gd name="T75" fmla="*/ 52 h 57"/>
              <a:gd name="T76" fmla="*/ 19 w 57"/>
              <a:gd name="T77" fmla="*/ 57 h 57"/>
              <a:gd name="T78" fmla="*/ 24 w 57"/>
              <a:gd name="T79" fmla="*/ 57 h 57"/>
              <a:gd name="T80" fmla="*/ 29 w 57"/>
              <a:gd name="T81" fmla="*/ 57 h 57"/>
              <a:gd name="T82" fmla="*/ 29 w 57"/>
              <a:gd name="T83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7" h="57">
                <a:moveTo>
                  <a:pt x="29" y="57"/>
                </a:moveTo>
                <a:lnTo>
                  <a:pt x="33" y="57"/>
                </a:lnTo>
                <a:lnTo>
                  <a:pt x="38" y="57"/>
                </a:lnTo>
                <a:lnTo>
                  <a:pt x="43" y="52"/>
                </a:lnTo>
                <a:lnTo>
                  <a:pt x="48" y="52"/>
                </a:lnTo>
                <a:lnTo>
                  <a:pt x="52" y="48"/>
                </a:lnTo>
                <a:lnTo>
                  <a:pt x="52" y="48"/>
                </a:lnTo>
                <a:lnTo>
                  <a:pt x="57" y="43"/>
                </a:lnTo>
                <a:lnTo>
                  <a:pt x="57" y="38"/>
                </a:lnTo>
                <a:lnTo>
                  <a:pt x="57" y="33"/>
                </a:lnTo>
                <a:lnTo>
                  <a:pt x="57" y="29"/>
                </a:lnTo>
                <a:lnTo>
                  <a:pt x="57" y="24"/>
                </a:lnTo>
                <a:lnTo>
                  <a:pt x="57" y="19"/>
                </a:lnTo>
                <a:lnTo>
                  <a:pt x="57" y="14"/>
                </a:lnTo>
                <a:lnTo>
                  <a:pt x="52" y="9"/>
                </a:lnTo>
                <a:lnTo>
                  <a:pt x="52" y="9"/>
                </a:lnTo>
                <a:lnTo>
                  <a:pt x="48" y="5"/>
                </a:lnTo>
                <a:lnTo>
                  <a:pt x="43" y="0"/>
                </a:lnTo>
                <a:lnTo>
                  <a:pt x="38" y="0"/>
                </a:lnTo>
                <a:lnTo>
                  <a:pt x="33" y="0"/>
                </a:lnTo>
                <a:lnTo>
                  <a:pt x="29" y="0"/>
                </a:lnTo>
                <a:lnTo>
                  <a:pt x="24" y="0"/>
                </a:lnTo>
                <a:lnTo>
                  <a:pt x="19" y="0"/>
                </a:lnTo>
                <a:lnTo>
                  <a:pt x="14" y="0"/>
                </a:lnTo>
                <a:lnTo>
                  <a:pt x="14" y="5"/>
                </a:lnTo>
                <a:lnTo>
                  <a:pt x="10" y="9"/>
                </a:lnTo>
                <a:lnTo>
                  <a:pt x="5" y="9"/>
                </a:lnTo>
                <a:lnTo>
                  <a:pt x="5" y="14"/>
                </a:lnTo>
                <a:lnTo>
                  <a:pt x="0" y="19"/>
                </a:lnTo>
                <a:lnTo>
                  <a:pt x="0" y="24"/>
                </a:lnTo>
                <a:lnTo>
                  <a:pt x="0" y="29"/>
                </a:lnTo>
                <a:lnTo>
                  <a:pt x="0" y="33"/>
                </a:lnTo>
                <a:lnTo>
                  <a:pt x="0" y="38"/>
                </a:lnTo>
                <a:lnTo>
                  <a:pt x="5" y="43"/>
                </a:lnTo>
                <a:lnTo>
                  <a:pt x="5" y="48"/>
                </a:lnTo>
                <a:lnTo>
                  <a:pt x="10" y="48"/>
                </a:lnTo>
                <a:lnTo>
                  <a:pt x="14" y="52"/>
                </a:lnTo>
                <a:lnTo>
                  <a:pt x="14" y="52"/>
                </a:lnTo>
                <a:lnTo>
                  <a:pt x="19" y="57"/>
                </a:lnTo>
                <a:lnTo>
                  <a:pt x="24" y="57"/>
                </a:lnTo>
                <a:lnTo>
                  <a:pt x="29" y="57"/>
                </a:lnTo>
                <a:lnTo>
                  <a:pt x="29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0" name="Freeform 11202"/>
          <p:cNvSpPr>
            <a:spLocks/>
          </p:cNvSpPr>
          <p:nvPr/>
        </p:nvSpPr>
        <p:spPr bwMode="auto">
          <a:xfrm>
            <a:off x="5874702" y="5032375"/>
            <a:ext cx="1360170" cy="307975"/>
          </a:xfrm>
          <a:custGeom>
            <a:avLst/>
            <a:gdLst>
              <a:gd name="T0" fmla="*/ 0 w 2142"/>
              <a:gd name="T1" fmla="*/ 485 h 485"/>
              <a:gd name="T2" fmla="*/ 2142 w 2142"/>
              <a:gd name="T3" fmla="*/ 485 h 485"/>
              <a:gd name="T4" fmla="*/ 2142 w 2142"/>
              <a:gd name="T5" fmla="*/ 0 h 485"/>
              <a:gd name="T6" fmla="*/ 2009 w 2142"/>
              <a:gd name="T7" fmla="*/ 0 h 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42" h="485">
                <a:moveTo>
                  <a:pt x="0" y="485"/>
                </a:moveTo>
                <a:lnTo>
                  <a:pt x="2142" y="485"/>
                </a:lnTo>
                <a:lnTo>
                  <a:pt x="2142" y="0"/>
                </a:lnTo>
                <a:lnTo>
                  <a:pt x="2009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1" name="Freeform 11203"/>
          <p:cNvSpPr>
            <a:spLocks/>
          </p:cNvSpPr>
          <p:nvPr/>
        </p:nvSpPr>
        <p:spPr bwMode="auto">
          <a:xfrm>
            <a:off x="5847397" y="5319395"/>
            <a:ext cx="39370" cy="38735"/>
          </a:xfrm>
          <a:custGeom>
            <a:avLst/>
            <a:gdLst>
              <a:gd name="T0" fmla="*/ 57 w 62"/>
              <a:gd name="T1" fmla="*/ 0 h 61"/>
              <a:gd name="T2" fmla="*/ 62 w 62"/>
              <a:gd name="T3" fmla="*/ 61 h 61"/>
              <a:gd name="T4" fmla="*/ 0 w 62"/>
              <a:gd name="T5" fmla="*/ 33 h 61"/>
              <a:gd name="T6" fmla="*/ 62 w 62"/>
              <a:gd name="T7" fmla="*/ 4 h 61"/>
              <a:gd name="T8" fmla="*/ 62 w 62"/>
              <a:gd name="T9" fmla="*/ 4 h 61"/>
              <a:gd name="T10" fmla="*/ 57 w 62"/>
              <a:gd name="T11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1">
                <a:moveTo>
                  <a:pt x="57" y="0"/>
                </a:moveTo>
                <a:lnTo>
                  <a:pt x="62" y="61"/>
                </a:lnTo>
                <a:lnTo>
                  <a:pt x="0" y="33"/>
                </a:lnTo>
                <a:lnTo>
                  <a:pt x="62" y="4"/>
                </a:lnTo>
                <a:lnTo>
                  <a:pt x="62" y="4"/>
                </a:lnTo>
                <a:lnTo>
                  <a:pt x="5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2" name="Freeform 11204"/>
          <p:cNvSpPr>
            <a:spLocks/>
          </p:cNvSpPr>
          <p:nvPr/>
        </p:nvSpPr>
        <p:spPr bwMode="auto">
          <a:xfrm>
            <a:off x="5847397" y="5207635"/>
            <a:ext cx="39370" cy="38735"/>
          </a:xfrm>
          <a:custGeom>
            <a:avLst/>
            <a:gdLst>
              <a:gd name="T0" fmla="*/ 57 w 62"/>
              <a:gd name="T1" fmla="*/ 0 h 61"/>
              <a:gd name="T2" fmla="*/ 62 w 62"/>
              <a:gd name="T3" fmla="*/ 61 h 61"/>
              <a:gd name="T4" fmla="*/ 0 w 62"/>
              <a:gd name="T5" fmla="*/ 33 h 61"/>
              <a:gd name="T6" fmla="*/ 62 w 62"/>
              <a:gd name="T7" fmla="*/ 4 h 61"/>
              <a:gd name="T8" fmla="*/ 62 w 62"/>
              <a:gd name="T9" fmla="*/ 4 h 61"/>
              <a:gd name="T10" fmla="*/ 57 w 62"/>
              <a:gd name="T11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1">
                <a:moveTo>
                  <a:pt x="57" y="0"/>
                </a:moveTo>
                <a:lnTo>
                  <a:pt x="62" y="61"/>
                </a:lnTo>
                <a:lnTo>
                  <a:pt x="0" y="33"/>
                </a:lnTo>
                <a:lnTo>
                  <a:pt x="62" y="4"/>
                </a:lnTo>
                <a:lnTo>
                  <a:pt x="62" y="4"/>
                </a:lnTo>
                <a:lnTo>
                  <a:pt x="5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3" name="Freeform 11205"/>
          <p:cNvSpPr>
            <a:spLocks/>
          </p:cNvSpPr>
          <p:nvPr/>
        </p:nvSpPr>
        <p:spPr bwMode="auto">
          <a:xfrm>
            <a:off x="5847397" y="5264785"/>
            <a:ext cx="39370" cy="39370"/>
          </a:xfrm>
          <a:custGeom>
            <a:avLst/>
            <a:gdLst>
              <a:gd name="T0" fmla="*/ 57 w 62"/>
              <a:gd name="T1" fmla="*/ 0 h 62"/>
              <a:gd name="T2" fmla="*/ 62 w 62"/>
              <a:gd name="T3" fmla="*/ 62 h 62"/>
              <a:gd name="T4" fmla="*/ 0 w 62"/>
              <a:gd name="T5" fmla="*/ 33 h 62"/>
              <a:gd name="T6" fmla="*/ 62 w 62"/>
              <a:gd name="T7" fmla="*/ 0 h 62"/>
              <a:gd name="T8" fmla="*/ 62 w 62"/>
              <a:gd name="T9" fmla="*/ 0 h 62"/>
              <a:gd name="T10" fmla="*/ 57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57" y="0"/>
                </a:moveTo>
                <a:lnTo>
                  <a:pt x="62" y="62"/>
                </a:lnTo>
                <a:lnTo>
                  <a:pt x="0" y="33"/>
                </a:lnTo>
                <a:lnTo>
                  <a:pt x="62" y="0"/>
                </a:lnTo>
                <a:lnTo>
                  <a:pt x="62" y="0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4" name="Freeform 11206"/>
          <p:cNvSpPr>
            <a:spLocks/>
          </p:cNvSpPr>
          <p:nvPr/>
        </p:nvSpPr>
        <p:spPr bwMode="auto">
          <a:xfrm>
            <a:off x="7298372" y="2844165"/>
            <a:ext cx="39370" cy="36195"/>
          </a:xfrm>
          <a:custGeom>
            <a:avLst/>
            <a:gdLst>
              <a:gd name="T0" fmla="*/ 29 w 62"/>
              <a:gd name="T1" fmla="*/ 53 h 57"/>
              <a:gd name="T2" fmla="*/ 38 w 62"/>
              <a:gd name="T3" fmla="*/ 57 h 57"/>
              <a:gd name="T4" fmla="*/ 38 w 62"/>
              <a:gd name="T5" fmla="*/ 57 h 57"/>
              <a:gd name="T6" fmla="*/ 43 w 62"/>
              <a:gd name="T7" fmla="*/ 53 h 57"/>
              <a:gd name="T8" fmla="*/ 48 w 62"/>
              <a:gd name="T9" fmla="*/ 53 h 57"/>
              <a:gd name="T10" fmla="*/ 53 w 62"/>
              <a:gd name="T11" fmla="*/ 48 h 57"/>
              <a:gd name="T12" fmla="*/ 57 w 62"/>
              <a:gd name="T13" fmla="*/ 43 h 57"/>
              <a:gd name="T14" fmla="*/ 57 w 62"/>
              <a:gd name="T15" fmla="*/ 43 h 57"/>
              <a:gd name="T16" fmla="*/ 57 w 62"/>
              <a:gd name="T17" fmla="*/ 38 h 57"/>
              <a:gd name="T18" fmla="*/ 62 w 62"/>
              <a:gd name="T19" fmla="*/ 33 h 57"/>
              <a:gd name="T20" fmla="*/ 62 w 62"/>
              <a:gd name="T21" fmla="*/ 29 h 57"/>
              <a:gd name="T22" fmla="*/ 62 w 62"/>
              <a:gd name="T23" fmla="*/ 24 h 57"/>
              <a:gd name="T24" fmla="*/ 57 w 62"/>
              <a:gd name="T25" fmla="*/ 19 h 57"/>
              <a:gd name="T26" fmla="*/ 57 w 62"/>
              <a:gd name="T27" fmla="*/ 14 h 57"/>
              <a:gd name="T28" fmla="*/ 57 w 62"/>
              <a:gd name="T29" fmla="*/ 10 h 57"/>
              <a:gd name="T30" fmla="*/ 53 w 62"/>
              <a:gd name="T31" fmla="*/ 5 h 57"/>
              <a:gd name="T32" fmla="*/ 48 w 62"/>
              <a:gd name="T33" fmla="*/ 5 h 57"/>
              <a:gd name="T34" fmla="*/ 43 w 62"/>
              <a:gd name="T35" fmla="*/ 0 h 57"/>
              <a:gd name="T36" fmla="*/ 38 w 62"/>
              <a:gd name="T37" fmla="*/ 0 h 57"/>
              <a:gd name="T38" fmla="*/ 38 w 62"/>
              <a:gd name="T39" fmla="*/ 0 h 57"/>
              <a:gd name="T40" fmla="*/ 33 w 62"/>
              <a:gd name="T41" fmla="*/ 0 h 57"/>
              <a:gd name="T42" fmla="*/ 29 w 62"/>
              <a:gd name="T43" fmla="*/ 0 h 57"/>
              <a:gd name="T44" fmla="*/ 24 w 62"/>
              <a:gd name="T45" fmla="*/ 0 h 57"/>
              <a:gd name="T46" fmla="*/ 19 w 62"/>
              <a:gd name="T47" fmla="*/ 0 h 57"/>
              <a:gd name="T48" fmla="*/ 14 w 62"/>
              <a:gd name="T49" fmla="*/ 5 h 57"/>
              <a:gd name="T50" fmla="*/ 10 w 62"/>
              <a:gd name="T51" fmla="*/ 5 h 57"/>
              <a:gd name="T52" fmla="*/ 10 w 62"/>
              <a:gd name="T53" fmla="*/ 10 h 57"/>
              <a:gd name="T54" fmla="*/ 5 w 62"/>
              <a:gd name="T55" fmla="*/ 14 h 57"/>
              <a:gd name="T56" fmla="*/ 5 w 62"/>
              <a:gd name="T57" fmla="*/ 19 h 57"/>
              <a:gd name="T58" fmla="*/ 0 w 62"/>
              <a:gd name="T59" fmla="*/ 24 h 57"/>
              <a:gd name="T60" fmla="*/ 0 w 62"/>
              <a:gd name="T61" fmla="*/ 29 h 57"/>
              <a:gd name="T62" fmla="*/ 0 w 62"/>
              <a:gd name="T63" fmla="*/ 33 h 57"/>
              <a:gd name="T64" fmla="*/ 5 w 62"/>
              <a:gd name="T65" fmla="*/ 38 h 57"/>
              <a:gd name="T66" fmla="*/ 5 w 62"/>
              <a:gd name="T67" fmla="*/ 43 h 57"/>
              <a:gd name="T68" fmla="*/ 10 w 62"/>
              <a:gd name="T69" fmla="*/ 43 h 57"/>
              <a:gd name="T70" fmla="*/ 10 w 62"/>
              <a:gd name="T71" fmla="*/ 48 h 57"/>
              <a:gd name="T72" fmla="*/ 14 w 62"/>
              <a:gd name="T73" fmla="*/ 53 h 57"/>
              <a:gd name="T74" fmla="*/ 19 w 62"/>
              <a:gd name="T75" fmla="*/ 53 h 57"/>
              <a:gd name="T76" fmla="*/ 24 w 62"/>
              <a:gd name="T77" fmla="*/ 57 h 57"/>
              <a:gd name="T78" fmla="*/ 29 w 62"/>
              <a:gd name="T79" fmla="*/ 57 h 57"/>
              <a:gd name="T80" fmla="*/ 33 w 62"/>
              <a:gd name="T81" fmla="*/ 57 h 57"/>
              <a:gd name="T82" fmla="*/ 33 w 62"/>
              <a:gd name="T83" fmla="*/ 57 h 57"/>
              <a:gd name="T84" fmla="*/ 29 w 62"/>
              <a:gd name="T85" fmla="*/ 53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2" h="57">
                <a:moveTo>
                  <a:pt x="29" y="53"/>
                </a:moveTo>
                <a:lnTo>
                  <a:pt x="38" y="57"/>
                </a:lnTo>
                <a:lnTo>
                  <a:pt x="38" y="57"/>
                </a:lnTo>
                <a:lnTo>
                  <a:pt x="43" y="53"/>
                </a:lnTo>
                <a:lnTo>
                  <a:pt x="48" y="53"/>
                </a:lnTo>
                <a:lnTo>
                  <a:pt x="53" y="48"/>
                </a:lnTo>
                <a:lnTo>
                  <a:pt x="57" y="43"/>
                </a:lnTo>
                <a:lnTo>
                  <a:pt x="57" y="43"/>
                </a:lnTo>
                <a:lnTo>
                  <a:pt x="57" y="38"/>
                </a:lnTo>
                <a:lnTo>
                  <a:pt x="62" y="33"/>
                </a:lnTo>
                <a:lnTo>
                  <a:pt x="62" y="29"/>
                </a:lnTo>
                <a:lnTo>
                  <a:pt x="62" y="24"/>
                </a:lnTo>
                <a:lnTo>
                  <a:pt x="57" y="19"/>
                </a:lnTo>
                <a:lnTo>
                  <a:pt x="57" y="14"/>
                </a:lnTo>
                <a:lnTo>
                  <a:pt x="57" y="10"/>
                </a:lnTo>
                <a:lnTo>
                  <a:pt x="53" y="5"/>
                </a:lnTo>
                <a:lnTo>
                  <a:pt x="48" y="5"/>
                </a:lnTo>
                <a:lnTo>
                  <a:pt x="43" y="0"/>
                </a:lnTo>
                <a:lnTo>
                  <a:pt x="38" y="0"/>
                </a:lnTo>
                <a:lnTo>
                  <a:pt x="38" y="0"/>
                </a:lnTo>
                <a:lnTo>
                  <a:pt x="33" y="0"/>
                </a:lnTo>
                <a:lnTo>
                  <a:pt x="29" y="0"/>
                </a:lnTo>
                <a:lnTo>
                  <a:pt x="24" y="0"/>
                </a:lnTo>
                <a:lnTo>
                  <a:pt x="19" y="0"/>
                </a:lnTo>
                <a:lnTo>
                  <a:pt x="14" y="5"/>
                </a:lnTo>
                <a:lnTo>
                  <a:pt x="10" y="5"/>
                </a:lnTo>
                <a:lnTo>
                  <a:pt x="10" y="10"/>
                </a:lnTo>
                <a:lnTo>
                  <a:pt x="5" y="14"/>
                </a:lnTo>
                <a:lnTo>
                  <a:pt x="5" y="19"/>
                </a:lnTo>
                <a:lnTo>
                  <a:pt x="0" y="24"/>
                </a:lnTo>
                <a:lnTo>
                  <a:pt x="0" y="29"/>
                </a:lnTo>
                <a:lnTo>
                  <a:pt x="0" y="33"/>
                </a:lnTo>
                <a:lnTo>
                  <a:pt x="5" y="38"/>
                </a:lnTo>
                <a:lnTo>
                  <a:pt x="5" y="43"/>
                </a:lnTo>
                <a:lnTo>
                  <a:pt x="10" y="43"/>
                </a:lnTo>
                <a:lnTo>
                  <a:pt x="10" y="48"/>
                </a:lnTo>
                <a:lnTo>
                  <a:pt x="14" y="53"/>
                </a:lnTo>
                <a:lnTo>
                  <a:pt x="19" y="53"/>
                </a:lnTo>
                <a:lnTo>
                  <a:pt x="24" y="57"/>
                </a:lnTo>
                <a:lnTo>
                  <a:pt x="29" y="57"/>
                </a:lnTo>
                <a:lnTo>
                  <a:pt x="33" y="57"/>
                </a:lnTo>
                <a:lnTo>
                  <a:pt x="33" y="57"/>
                </a:lnTo>
                <a:lnTo>
                  <a:pt x="29" y="53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5" name="Freeform 11207"/>
          <p:cNvSpPr>
            <a:spLocks/>
          </p:cNvSpPr>
          <p:nvPr/>
        </p:nvSpPr>
        <p:spPr bwMode="auto">
          <a:xfrm>
            <a:off x="6185852" y="2590165"/>
            <a:ext cx="36195" cy="39370"/>
          </a:xfrm>
          <a:custGeom>
            <a:avLst/>
            <a:gdLst>
              <a:gd name="T0" fmla="*/ 29 w 57"/>
              <a:gd name="T1" fmla="*/ 58 h 62"/>
              <a:gd name="T2" fmla="*/ 34 w 57"/>
              <a:gd name="T3" fmla="*/ 58 h 62"/>
              <a:gd name="T4" fmla="*/ 38 w 57"/>
              <a:gd name="T5" fmla="*/ 58 h 62"/>
              <a:gd name="T6" fmla="*/ 43 w 57"/>
              <a:gd name="T7" fmla="*/ 58 h 62"/>
              <a:gd name="T8" fmla="*/ 48 w 57"/>
              <a:gd name="T9" fmla="*/ 53 h 62"/>
              <a:gd name="T10" fmla="*/ 48 w 57"/>
              <a:gd name="T11" fmla="*/ 53 h 62"/>
              <a:gd name="T12" fmla="*/ 53 w 57"/>
              <a:gd name="T13" fmla="*/ 48 h 62"/>
              <a:gd name="T14" fmla="*/ 57 w 57"/>
              <a:gd name="T15" fmla="*/ 43 h 62"/>
              <a:gd name="T16" fmla="*/ 57 w 57"/>
              <a:gd name="T17" fmla="*/ 39 h 62"/>
              <a:gd name="T18" fmla="*/ 57 w 57"/>
              <a:gd name="T19" fmla="*/ 34 h 62"/>
              <a:gd name="T20" fmla="*/ 57 w 57"/>
              <a:gd name="T21" fmla="*/ 29 h 62"/>
              <a:gd name="T22" fmla="*/ 57 w 57"/>
              <a:gd name="T23" fmla="*/ 24 h 62"/>
              <a:gd name="T24" fmla="*/ 57 w 57"/>
              <a:gd name="T25" fmla="*/ 19 h 62"/>
              <a:gd name="T26" fmla="*/ 57 w 57"/>
              <a:gd name="T27" fmla="*/ 19 h 62"/>
              <a:gd name="T28" fmla="*/ 53 w 57"/>
              <a:gd name="T29" fmla="*/ 15 h 62"/>
              <a:gd name="T30" fmla="*/ 48 w 57"/>
              <a:gd name="T31" fmla="*/ 10 h 62"/>
              <a:gd name="T32" fmla="*/ 48 w 57"/>
              <a:gd name="T33" fmla="*/ 5 h 62"/>
              <a:gd name="T34" fmla="*/ 43 w 57"/>
              <a:gd name="T35" fmla="*/ 5 h 62"/>
              <a:gd name="T36" fmla="*/ 38 w 57"/>
              <a:gd name="T37" fmla="*/ 5 h 62"/>
              <a:gd name="T38" fmla="*/ 34 w 57"/>
              <a:gd name="T39" fmla="*/ 0 h 62"/>
              <a:gd name="T40" fmla="*/ 29 w 57"/>
              <a:gd name="T41" fmla="*/ 0 h 62"/>
              <a:gd name="T42" fmla="*/ 24 w 57"/>
              <a:gd name="T43" fmla="*/ 0 h 62"/>
              <a:gd name="T44" fmla="*/ 19 w 57"/>
              <a:gd name="T45" fmla="*/ 5 h 62"/>
              <a:gd name="T46" fmla="*/ 15 w 57"/>
              <a:gd name="T47" fmla="*/ 5 h 62"/>
              <a:gd name="T48" fmla="*/ 10 w 57"/>
              <a:gd name="T49" fmla="*/ 5 h 62"/>
              <a:gd name="T50" fmla="*/ 10 w 57"/>
              <a:gd name="T51" fmla="*/ 10 h 62"/>
              <a:gd name="T52" fmla="*/ 5 w 57"/>
              <a:gd name="T53" fmla="*/ 15 h 62"/>
              <a:gd name="T54" fmla="*/ 5 w 57"/>
              <a:gd name="T55" fmla="*/ 19 h 62"/>
              <a:gd name="T56" fmla="*/ 0 w 57"/>
              <a:gd name="T57" fmla="*/ 19 h 62"/>
              <a:gd name="T58" fmla="*/ 0 w 57"/>
              <a:gd name="T59" fmla="*/ 24 h 62"/>
              <a:gd name="T60" fmla="*/ 0 w 57"/>
              <a:gd name="T61" fmla="*/ 29 h 62"/>
              <a:gd name="T62" fmla="*/ 0 w 57"/>
              <a:gd name="T63" fmla="*/ 34 h 62"/>
              <a:gd name="T64" fmla="*/ 0 w 57"/>
              <a:gd name="T65" fmla="*/ 39 h 62"/>
              <a:gd name="T66" fmla="*/ 5 w 57"/>
              <a:gd name="T67" fmla="*/ 43 h 62"/>
              <a:gd name="T68" fmla="*/ 5 w 57"/>
              <a:gd name="T69" fmla="*/ 48 h 62"/>
              <a:gd name="T70" fmla="*/ 10 w 57"/>
              <a:gd name="T71" fmla="*/ 53 h 62"/>
              <a:gd name="T72" fmla="*/ 10 w 57"/>
              <a:gd name="T73" fmla="*/ 53 h 62"/>
              <a:gd name="T74" fmla="*/ 15 w 57"/>
              <a:gd name="T75" fmla="*/ 58 h 62"/>
              <a:gd name="T76" fmla="*/ 19 w 57"/>
              <a:gd name="T77" fmla="*/ 58 h 62"/>
              <a:gd name="T78" fmla="*/ 24 w 57"/>
              <a:gd name="T79" fmla="*/ 58 h 62"/>
              <a:gd name="T80" fmla="*/ 29 w 57"/>
              <a:gd name="T81" fmla="*/ 62 h 62"/>
              <a:gd name="T82" fmla="*/ 29 w 57"/>
              <a:gd name="T83" fmla="*/ 62 h 62"/>
              <a:gd name="T84" fmla="*/ 29 w 57"/>
              <a:gd name="T85" fmla="*/ 58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7" h="62">
                <a:moveTo>
                  <a:pt x="29" y="58"/>
                </a:moveTo>
                <a:lnTo>
                  <a:pt x="34" y="58"/>
                </a:lnTo>
                <a:lnTo>
                  <a:pt x="38" y="58"/>
                </a:lnTo>
                <a:lnTo>
                  <a:pt x="43" y="58"/>
                </a:lnTo>
                <a:lnTo>
                  <a:pt x="48" y="53"/>
                </a:lnTo>
                <a:lnTo>
                  <a:pt x="48" y="53"/>
                </a:lnTo>
                <a:lnTo>
                  <a:pt x="53" y="48"/>
                </a:lnTo>
                <a:lnTo>
                  <a:pt x="57" y="43"/>
                </a:lnTo>
                <a:lnTo>
                  <a:pt x="57" y="39"/>
                </a:lnTo>
                <a:lnTo>
                  <a:pt x="57" y="34"/>
                </a:lnTo>
                <a:lnTo>
                  <a:pt x="57" y="29"/>
                </a:lnTo>
                <a:lnTo>
                  <a:pt x="57" y="24"/>
                </a:lnTo>
                <a:lnTo>
                  <a:pt x="57" y="19"/>
                </a:lnTo>
                <a:lnTo>
                  <a:pt x="57" y="19"/>
                </a:lnTo>
                <a:lnTo>
                  <a:pt x="53" y="15"/>
                </a:lnTo>
                <a:lnTo>
                  <a:pt x="48" y="10"/>
                </a:lnTo>
                <a:lnTo>
                  <a:pt x="48" y="5"/>
                </a:lnTo>
                <a:lnTo>
                  <a:pt x="43" y="5"/>
                </a:lnTo>
                <a:lnTo>
                  <a:pt x="38" y="5"/>
                </a:lnTo>
                <a:lnTo>
                  <a:pt x="34" y="0"/>
                </a:lnTo>
                <a:lnTo>
                  <a:pt x="29" y="0"/>
                </a:lnTo>
                <a:lnTo>
                  <a:pt x="24" y="0"/>
                </a:lnTo>
                <a:lnTo>
                  <a:pt x="19" y="5"/>
                </a:lnTo>
                <a:lnTo>
                  <a:pt x="15" y="5"/>
                </a:lnTo>
                <a:lnTo>
                  <a:pt x="10" y="5"/>
                </a:lnTo>
                <a:lnTo>
                  <a:pt x="10" y="10"/>
                </a:lnTo>
                <a:lnTo>
                  <a:pt x="5" y="15"/>
                </a:lnTo>
                <a:lnTo>
                  <a:pt x="5" y="19"/>
                </a:lnTo>
                <a:lnTo>
                  <a:pt x="0" y="19"/>
                </a:lnTo>
                <a:lnTo>
                  <a:pt x="0" y="24"/>
                </a:lnTo>
                <a:lnTo>
                  <a:pt x="0" y="29"/>
                </a:lnTo>
                <a:lnTo>
                  <a:pt x="0" y="34"/>
                </a:lnTo>
                <a:lnTo>
                  <a:pt x="0" y="39"/>
                </a:lnTo>
                <a:lnTo>
                  <a:pt x="5" y="43"/>
                </a:lnTo>
                <a:lnTo>
                  <a:pt x="5" y="48"/>
                </a:lnTo>
                <a:lnTo>
                  <a:pt x="10" y="53"/>
                </a:lnTo>
                <a:lnTo>
                  <a:pt x="10" y="53"/>
                </a:lnTo>
                <a:lnTo>
                  <a:pt x="15" y="58"/>
                </a:lnTo>
                <a:lnTo>
                  <a:pt x="19" y="58"/>
                </a:lnTo>
                <a:lnTo>
                  <a:pt x="24" y="58"/>
                </a:lnTo>
                <a:lnTo>
                  <a:pt x="29" y="62"/>
                </a:lnTo>
                <a:lnTo>
                  <a:pt x="29" y="62"/>
                </a:lnTo>
                <a:lnTo>
                  <a:pt x="29" y="5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6" name="Freeform 11208"/>
          <p:cNvSpPr>
            <a:spLocks/>
          </p:cNvSpPr>
          <p:nvPr/>
        </p:nvSpPr>
        <p:spPr bwMode="auto">
          <a:xfrm>
            <a:off x="6355397" y="3771900"/>
            <a:ext cx="39370" cy="36195"/>
          </a:xfrm>
          <a:custGeom>
            <a:avLst/>
            <a:gdLst>
              <a:gd name="T0" fmla="*/ 0 w 62"/>
              <a:gd name="T1" fmla="*/ 0 h 57"/>
              <a:gd name="T2" fmla="*/ 5 w 62"/>
              <a:gd name="T3" fmla="*/ 57 h 57"/>
              <a:gd name="T4" fmla="*/ 62 w 62"/>
              <a:gd name="T5" fmla="*/ 29 h 57"/>
              <a:gd name="T6" fmla="*/ 5 w 62"/>
              <a:gd name="T7" fmla="*/ 0 h 57"/>
              <a:gd name="T8" fmla="*/ 5 w 62"/>
              <a:gd name="T9" fmla="*/ 0 h 57"/>
              <a:gd name="T10" fmla="*/ 0 w 62"/>
              <a:gd name="T11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5" y="57"/>
                </a:lnTo>
                <a:lnTo>
                  <a:pt x="62" y="29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7" name="Freeform 11209"/>
          <p:cNvSpPr>
            <a:spLocks/>
          </p:cNvSpPr>
          <p:nvPr/>
        </p:nvSpPr>
        <p:spPr bwMode="auto">
          <a:xfrm>
            <a:off x="6355397" y="404114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3 h 62"/>
              <a:gd name="T6" fmla="*/ 5 w 62"/>
              <a:gd name="T7" fmla="*/ 4 h 62"/>
              <a:gd name="T8" fmla="*/ 5 w 62"/>
              <a:gd name="T9" fmla="*/ 4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3"/>
                </a:lnTo>
                <a:lnTo>
                  <a:pt x="5" y="4"/>
                </a:lnTo>
                <a:lnTo>
                  <a:pt x="5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8" name="Freeform 11210"/>
          <p:cNvSpPr>
            <a:spLocks/>
          </p:cNvSpPr>
          <p:nvPr/>
        </p:nvSpPr>
        <p:spPr bwMode="auto">
          <a:xfrm>
            <a:off x="6651307" y="4234180"/>
            <a:ext cx="39370" cy="39370"/>
          </a:xfrm>
          <a:custGeom>
            <a:avLst/>
            <a:gdLst>
              <a:gd name="T0" fmla="*/ 0 w 62"/>
              <a:gd name="T1" fmla="*/ 57 h 62"/>
              <a:gd name="T2" fmla="*/ 62 w 62"/>
              <a:gd name="T3" fmla="*/ 62 h 62"/>
              <a:gd name="T4" fmla="*/ 34 w 62"/>
              <a:gd name="T5" fmla="*/ 0 h 62"/>
              <a:gd name="T6" fmla="*/ 0 w 62"/>
              <a:gd name="T7" fmla="*/ 62 h 62"/>
              <a:gd name="T8" fmla="*/ 0 w 62"/>
              <a:gd name="T9" fmla="*/ 62 h 62"/>
              <a:gd name="T10" fmla="*/ 0 w 62"/>
              <a:gd name="T11" fmla="*/ 5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57"/>
                </a:moveTo>
                <a:lnTo>
                  <a:pt x="62" y="62"/>
                </a:lnTo>
                <a:lnTo>
                  <a:pt x="34" y="0"/>
                </a:lnTo>
                <a:lnTo>
                  <a:pt x="0" y="62"/>
                </a:lnTo>
                <a:lnTo>
                  <a:pt x="0" y="62"/>
                </a:lnTo>
                <a:lnTo>
                  <a:pt x="0" y="57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49" name="Freeform 11211"/>
          <p:cNvSpPr>
            <a:spLocks/>
          </p:cNvSpPr>
          <p:nvPr/>
        </p:nvSpPr>
        <p:spPr bwMode="auto">
          <a:xfrm>
            <a:off x="6582092" y="3306445"/>
            <a:ext cx="39370" cy="39370"/>
          </a:xfrm>
          <a:custGeom>
            <a:avLst/>
            <a:gdLst>
              <a:gd name="T0" fmla="*/ 57 w 62"/>
              <a:gd name="T1" fmla="*/ 0 h 62"/>
              <a:gd name="T2" fmla="*/ 0 w 62"/>
              <a:gd name="T3" fmla="*/ 5 h 62"/>
              <a:gd name="T4" fmla="*/ 33 w 62"/>
              <a:gd name="T5" fmla="*/ 62 h 62"/>
              <a:gd name="T6" fmla="*/ 62 w 62"/>
              <a:gd name="T7" fmla="*/ 5 h 62"/>
              <a:gd name="T8" fmla="*/ 62 w 62"/>
              <a:gd name="T9" fmla="*/ 5 h 62"/>
              <a:gd name="T10" fmla="*/ 57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57" y="0"/>
                </a:moveTo>
                <a:lnTo>
                  <a:pt x="0" y="5"/>
                </a:lnTo>
                <a:lnTo>
                  <a:pt x="33" y="62"/>
                </a:lnTo>
                <a:lnTo>
                  <a:pt x="62" y="5"/>
                </a:lnTo>
                <a:lnTo>
                  <a:pt x="62" y="5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50" name="Freeform 11212"/>
          <p:cNvSpPr>
            <a:spLocks/>
          </p:cNvSpPr>
          <p:nvPr/>
        </p:nvSpPr>
        <p:spPr bwMode="auto">
          <a:xfrm>
            <a:off x="7561262" y="3738880"/>
            <a:ext cx="36195" cy="36195"/>
          </a:xfrm>
          <a:custGeom>
            <a:avLst/>
            <a:gdLst>
              <a:gd name="T0" fmla="*/ 57 w 57"/>
              <a:gd name="T1" fmla="*/ 0 h 57"/>
              <a:gd name="T2" fmla="*/ 0 w 57"/>
              <a:gd name="T3" fmla="*/ 0 h 57"/>
              <a:gd name="T4" fmla="*/ 29 w 57"/>
              <a:gd name="T5" fmla="*/ 57 h 57"/>
              <a:gd name="T6" fmla="*/ 57 w 57"/>
              <a:gd name="T7" fmla="*/ 0 h 57"/>
              <a:gd name="T8" fmla="*/ 57 w 57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57">
                <a:moveTo>
                  <a:pt x="57" y="0"/>
                </a:moveTo>
                <a:lnTo>
                  <a:pt x="0" y="0"/>
                </a:lnTo>
                <a:lnTo>
                  <a:pt x="29" y="57"/>
                </a:lnTo>
                <a:lnTo>
                  <a:pt x="57" y="0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51" name="Line 11213"/>
          <p:cNvCxnSpPr/>
          <p:nvPr/>
        </p:nvCxnSpPr>
        <p:spPr bwMode="auto">
          <a:xfrm flipH="1">
            <a:off x="6037897" y="3790315"/>
            <a:ext cx="32639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2" name="Freeform 11214"/>
          <p:cNvSpPr>
            <a:spLocks/>
          </p:cNvSpPr>
          <p:nvPr/>
        </p:nvSpPr>
        <p:spPr bwMode="auto">
          <a:xfrm>
            <a:off x="6270942" y="4418330"/>
            <a:ext cx="36195" cy="36830"/>
          </a:xfrm>
          <a:custGeom>
            <a:avLst/>
            <a:gdLst>
              <a:gd name="T0" fmla="*/ 23 w 57"/>
              <a:gd name="T1" fmla="*/ 53 h 58"/>
              <a:gd name="T2" fmla="*/ 33 w 57"/>
              <a:gd name="T3" fmla="*/ 58 h 58"/>
              <a:gd name="T4" fmla="*/ 38 w 57"/>
              <a:gd name="T5" fmla="*/ 58 h 58"/>
              <a:gd name="T6" fmla="*/ 42 w 57"/>
              <a:gd name="T7" fmla="*/ 53 h 58"/>
              <a:gd name="T8" fmla="*/ 42 w 57"/>
              <a:gd name="T9" fmla="*/ 53 h 58"/>
              <a:gd name="T10" fmla="*/ 47 w 57"/>
              <a:gd name="T11" fmla="*/ 48 h 58"/>
              <a:gd name="T12" fmla="*/ 52 w 57"/>
              <a:gd name="T13" fmla="*/ 43 h 58"/>
              <a:gd name="T14" fmla="*/ 52 w 57"/>
              <a:gd name="T15" fmla="*/ 43 h 58"/>
              <a:gd name="T16" fmla="*/ 57 w 57"/>
              <a:gd name="T17" fmla="*/ 39 h 58"/>
              <a:gd name="T18" fmla="*/ 57 w 57"/>
              <a:gd name="T19" fmla="*/ 34 h 58"/>
              <a:gd name="T20" fmla="*/ 57 w 57"/>
              <a:gd name="T21" fmla="*/ 29 h 58"/>
              <a:gd name="T22" fmla="*/ 57 w 57"/>
              <a:gd name="T23" fmla="*/ 24 h 58"/>
              <a:gd name="T24" fmla="*/ 57 w 57"/>
              <a:gd name="T25" fmla="*/ 20 h 58"/>
              <a:gd name="T26" fmla="*/ 52 w 57"/>
              <a:gd name="T27" fmla="*/ 15 h 58"/>
              <a:gd name="T28" fmla="*/ 52 w 57"/>
              <a:gd name="T29" fmla="*/ 10 h 58"/>
              <a:gd name="T30" fmla="*/ 47 w 57"/>
              <a:gd name="T31" fmla="*/ 5 h 58"/>
              <a:gd name="T32" fmla="*/ 42 w 57"/>
              <a:gd name="T33" fmla="*/ 5 h 58"/>
              <a:gd name="T34" fmla="*/ 42 w 57"/>
              <a:gd name="T35" fmla="*/ 0 h 58"/>
              <a:gd name="T36" fmla="*/ 38 w 57"/>
              <a:gd name="T37" fmla="*/ 0 h 58"/>
              <a:gd name="T38" fmla="*/ 33 w 57"/>
              <a:gd name="T39" fmla="*/ 0 h 58"/>
              <a:gd name="T40" fmla="*/ 28 w 57"/>
              <a:gd name="T41" fmla="*/ 0 h 58"/>
              <a:gd name="T42" fmla="*/ 23 w 57"/>
              <a:gd name="T43" fmla="*/ 0 h 58"/>
              <a:gd name="T44" fmla="*/ 19 w 57"/>
              <a:gd name="T45" fmla="*/ 0 h 58"/>
              <a:gd name="T46" fmla="*/ 14 w 57"/>
              <a:gd name="T47" fmla="*/ 0 h 58"/>
              <a:gd name="T48" fmla="*/ 9 w 57"/>
              <a:gd name="T49" fmla="*/ 5 h 58"/>
              <a:gd name="T50" fmla="*/ 4 w 57"/>
              <a:gd name="T51" fmla="*/ 5 h 58"/>
              <a:gd name="T52" fmla="*/ 4 w 57"/>
              <a:gd name="T53" fmla="*/ 10 h 58"/>
              <a:gd name="T54" fmla="*/ 0 w 57"/>
              <a:gd name="T55" fmla="*/ 15 h 58"/>
              <a:gd name="T56" fmla="*/ 0 w 57"/>
              <a:gd name="T57" fmla="*/ 20 h 58"/>
              <a:gd name="T58" fmla="*/ 0 w 57"/>
              <a:gd name="T59" fmla="*/ 24 h 58"/>
              <a:gd name="T60" fmla="*/ 0 w 57"/>
              <a:gd name="T61" fmla="*/ 29 h 58"/>
              <a:gd name="T62" fmla="*/ 0 w 57"/>
              <a:gd name="T63" fmla="*/ 34 h 58"/>
              <a:gd name="T64" fmla="*/ 0 w 57"/>
              <a:gd name="T65" fmla="*/ 39 h 58"/>
              <a:gd name="T66" fmla="*/ 0 w 57"/>
              <a:gd name="T67" fmla="*/ 43 h 58"/>
              <a:gd name="T68" fmla="*/ 4 w 57"/>
              <a:gd name="T69" fmla="*/ 43 h 58"/>
              <a:gd name="T70" fmla="*/ 4 w 57"/>
              <a:gd name="T71" fmla="*/ 48 h 58"/>
              <a:gd name="T72" fmla="*/ 9 w 57"/>
              <a:gd name="T73" fmla="*/ 53 h 58"/>
              <a:gd name="T74" fmla="*/ 14 w 57"/>
              <a:gd name="T75" fmla="*/ 53 h 58"/>
              <a:gd name="T76" fmla="*/ 19 w 57"/>
              <a:gd name="T77" fmla="*/ 58 h 58"/>
              <a:gd name="T78" fmla="*/ 23 w 57"/>
              <a:gd name="T79" fmla="*/ 58 h 58"/>
              <a:gd name="T80" fmla="*/ 28 w 57"/>
              <a:gd name="T81" fmla="*/ 58 h 58"/>
              <a:gd name="T82" fmla="*/ 28 w 57"/>
              <a:gd name="T83" fmla="*/ 58 h 58"/>
              <a:gd name="T84" fmla="*/ 23 w 57"/>
              <a:gd name="T85" fmla="*/ 53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7" h="58">
                <a:moveTo>
                  <a:pt x="23" y="53"/>
                </a:moveTo>
                <a:lnTo>
                  <a:pt x="33" y="58"/>
                </a:lnTo>
                <a:lnTo>
                  <a:pt x="38" y="58"/>
                </a:lnTo>
                <a:lnTo>
                  <a:pt x="42" y="53"/>
                </a:lnTo>
                <a:lnTo>
                  <a:pt x="42" y="53"/>
                </a:lnTo>
                <a:lnTo>
                  <a:pt x="47" y="48"/>
                </a:lnTo>
                <a:lnTo>
                  <a:pt x="52" y="43"/>
                </a:lnTo>
                <a:lnTo>
                  <a:pt x="52" y="43"/>
                </a:lnTo>
                <a:lnTo>
                  <a:pt x="57" y="39"/>
                </a:lnTo>
                <a:lnTo>
                  <a:pt x="57" y="34"/>
                </a:lnTo>
                <a:lnTo>
                  <a:pt x="57" y="29"/>
                </a:lnTo>
                <a:lnTo>
                  <a:pt x="57" y="24"/>
                </a:lnTo>
                <a:lnTo>
                  <a:pt x="57" y="20"/>
                </a:lnTo>
                <a:lnTo>
                  <a:pt x="52" y="15"/>
                </a:lnTo>
                <a:lnTo>
                  <a:pt x="52" y="10"/>
                </a:lnTo>
                <a:lnTo>
                  <a:pt x="47" y="5"/>
                </a:lnTo>
                <a:lnTo>
                  <a:pt x="42" y="5"/>
                </a:lnTo>
                <a:lnTo>
                  <a:pt x="42" y="0"/>
                </a:lnTo>
                <a:lnTo>
                  <a:pt x="38" y="0"/>
                </a:lnTo>
                <a:lnTo>
                  <a:pt x="33" y="0"/>
                </a:lnTo>
                <a:lnTo>
                  <a:pt x="28" y="0"/>
                </a:lnTo>
                <a:lnTo>
                  <a:pt x="23" y="0"/>
                </a:lnTo>
                <a:lnTo>
                  <a:pt x="19" y="0"/>
                </a:lnTo>
                <a:lnTo>
                  <a:pt x="14" y="0"/>
                </a:lnTo>
                <a:lnTo>
                  <a:pt x="9" y="5"/>
                </a:lnTo>
                <a:lnTo>
                  <a:pt x="4" y="5"/>
                </a:lnTo>
                <a:lnTo>
                  <a:pt x="4" y="10"/>
                </a:lnTo>
                <a:lnTo>
                  <a:pt x="0" y="15"/>
                </a:lnTo>
                <a:lnTo>
                  <a:pt x="0" y="20"/>
                </a:lnTo>
                <a:lnTo>
                  <a:pt x="0" y="24"/>
                </a:lnTo>
                <a:lnTo>
                  <a:pt x="0" y="29"/>
                </a:lnTo>
                <a:lnTo>
                  <a:pt x="0" y="34"/>
                </a:lnTo>
                <a:lnTo>
                  <a:pt x="0" y="39"/>
                </a:lnTo>
                <a:lnTo>
                  <a:pt x="0" y="43"/>
                </a:lnTo>
                <a:lnTo>
                  <a:pt x="4" y="43"/>
                </a:lnTo>
                <a:lnTo>
                  <a:pt x="4" y="48"/>
                </a:lnTo>
                <a:lnTo>
                  <a:pt x="9" y="53"/>
                </a:lnTo>
                <a:lnTo>
                  <a:pt x="14" y="53"/>
                </a:lnTo>
                <a:lnTo>
                  <a:pt x="19" y="58"/>
                </a:lnTo>
                <a:lnTo>
                  <a:pt x="23" y="58"/>
                </a:lnTo>
                <a:lnTo>
                  <a:pt x="28" y="58"/>
                </a:lnTo>
                <a:lnTo>
                  <a:pt x="28" y="58"/>
                </a:lnTo>
                <a:lnTo>
                  <a:pt x="23" y="5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53" name="Freeform 11215"/>
          <p:cNvSpPr>
            <a:spLocks/>
          </p:cNvSpPr>
          <p:nvPr/>
        </p:nvSpPr>
        <p:spPr bwMode="auto">
          <a:xfrm>
            <a:off x="2966402" y="3804920"/>
            <a:ext cx="3670300" cy="1898015"/>
          </a:xfrm>
          <a:custGeom>
            <a:avLst/>
            <a:gdLst>
              <a:gd name="T0" fmla="*/ 5780 w 5780"/>
              <a:gd name="T1" fmla="*/ 2418 h 2989"/>
              <a:gd name="T2" fmla="*/ 5780 w 5780"/>
              <a:gd name="T3" fmla="*/ 2989 h 2989"/>
              <a:gd name="T4" fmla="*/ 0 w 5780"/>
              <a:gd name="T5" fmla="*/ 2989 h 2989"/>
              <a:gd name="T6" fmla="*/ 0 w 5780"/>
              <a:gd name="T7" fmla="*/ 0 h 2989"/>
              <a:gd name="T8" fmla="*/ 748 w 5780"/>
              <a:gd name="T9" fmla="*/ 0 h 2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80" h="2989">
                <a:moveTo>
                  <a:pt x="5780" y="2418"/>
                </a:moveTo>
                <a:lnTo>
                  <a:pt x="5780" y="2989"/>
                </a:lnTo>
                <a:lnTo>
                  <a:pt x="0" y="2989"/>
                </a:lnTo>
                <a:lnTo>
                  <a:pt x="0" y="0"/>
                </a:lnTo>
                <a:lnTo>
                  <a:pt x="748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54" name="Freeform 11216"/>
          <p:cNvSpPr>
            <a:spLocks/>
          </p:cNvSpPr>
          <p:nvPr/>
        </p:nvSpPr>
        <p:spPr bwMode="auto">
          <a:xfrm>
            <a:off x="6618287" y="5321935"/>
            <a:ext cx="39370" cy="36195"/>
          </a:xfrm>
          <a:custGeom>
            <a:avLst/>
            <a:gdLst>
              <a:gd name="T0" fmla="*/ 29 w 62"/>
              <a:gd name="T1" fmla="*/ 57 h 57"/>
              <a:gd name="T2" fmla="*/ 33 w 62"/>
              <a:gd name="T3" fmla="*/ 57 h 57"/>
              <a:gd name="T4" fmla="*/ 38 w 62"/>
              <a:gd name="T5" fmla="*/ 57 h 57"/>
              <a:gd name="T6" fmla="*/ 43 w 62"/>
              <a:gd name="T7" fmla="*/ 53 h 57"/>
              <a:gd name="T8" fmla="*/ 48 w 62"/>
              <a:gd name="T9" fmla="*/ 53 h 57"/>
              <a:gd name="T10" fmla="*/ 52 w 62"/>
              <a:gd name="T11" fmla="*/ 48 h 57"/>
              <a:gd name="T12" fmla="*/ 52 w 62"/>
              <a:gd name="T13" fmla="*/ 48 h 57"/>
              <a:gd name="T14" fmla="*/ 57 w 62"/>
              <a:gd name="T15" fmla="*/ 43 h 57"/>
              <a:gd name="T16" fmla="*/ 57 w 62"/>
              <a:gd name="T17" fmla="*/ 38 h 57"/>
              <a:gd name="T18" fmla="*/ 62 w 62"/>
              <a:gd name="T19" fmla="*/ 34 h 57"/>
              <a:gd name="T20" fmla="*/ 62 w 62"/>
              <a:gd name="T21" fmla="*/ 29 h 57"/>
              <a:gd name="T22" fmla="*/ 62 w 62"/>
              <a:gd name="T23" fmla="*/ 24 h 57"/>
              <a:gd name="T24" fmla="*/ 57 w 62"/>
              <a:gd name="T25" fmla="*/ 19 h 57"/>
              <a:gd name="T26" fmla="*/ 57 w 62"/>
              <a:gd name="T27" fmla="*/ 15 h 57"/>
              <a:gd name="T28" fmla="*/ 52 w 62"/>
              <a:gd name="T29" fmla="*/ 10 h 57"/>
              <a:gd name="T30" fmla="*/ 52 w 62"/>
              <a:gd name="T31" fmla="*/ 10 h 57"/>
              <a:gd name="T32" fmla="*/ 48 w 62"/>
              <a:gd name="T33" fmla="*/ 5 h 57"/>
              <a:gd name="T34" fmla="*/ 43 w 62"/>
              <a:gd name="T35" fmla="*/ 5 h 57"/>
              <a:gd name="T36" fmla="*/ 38 w 62"/>
              <a:gd name="T37" fmla="*/ 0 h 57"/>
              <a:gd name="T38" fmla="*/ 33 w 62"/>
              <a:gd name="T39" fmla="*/ 0 h 57"/>
              <a:gd name="T40" fmla="*/ 29 w 62"/>
              <a:gd name="T41" fmla="*/ 0 h 57"/>
              <a:gd name="T42" fmla="*/ 24 w 62"/>
              <a:gd name="T43" fmla="*/ 0 h 57"/>
              <a:gd name="T44" fmla="*/ 24 w 62"/>
              <a:gd name="T45" fmla="*/ 0 h 57"/>
              <a:gd name="T46" fmla="*/ 19 w 62"/>
              <a:gd name="T47" fmla="*/ 5 h 57"/>
              <a:gd name="T48" fmla="*/ 14 w 62"/>
              <a:gd name="T49" fmla="*/ 5 h 57"/>
              <a:gd name="T50" fmla="*/ 10 w 62"/>
              <a:gd name="T51" fmla="*/ 10 h 57"/>
              <a:gd name="T52" fmla="*/ 5 w 62"/>
              <a:gd name="T53" fmla="*/ 10 h 57"/>
              <a:gd name="T54" fmla="*/ 5 w 62"/>
              <a:gd name="T55" fmla="*/ 15 h 57"/>
              <a:gd name="T56" fmla="*/ 5 w 62"/>
              <a:gd name="T57" fmla="*/ 19 h 57"/>
              <a:gd name="T58" fmla="*/ 0 w 62"/>
              <a:gd name="T59" fmla="*/ 24 h 57"/>
              <a:gd name="T60" fmla="*/ 0 w 62"/>
              <a:gd name="T61" fmla="*/ 29 h 57"/>
              <a:gd name="T62" fmla="*/ 0 w 62"/>
              <a:gd name="T63" fmla="*/ 34 h 57"/>
              <a:gd name="T64" fmla="*/ 5 w 62"/>
              <a:gd name="T65" fmla="*/ 38 h 57"/>
              <a:gd name="T66" fmla="*/ 5 w 62"/>
              <a:gd name="T67" fmla="*/ 43 h 57"/>
              <a:gd name="T68" fmla="*/ 5 w 62"/>
              <a:gd name="T69" fmla="*/ 48 h 57"/>
              <a:gd name="T70" fmla="*/ 10 w 62"/>
              <a:gd name="T71" fmla="*/ 48 h 57"/>
              <a:gd name="T72" fmla="*/ 14 w 62"/>
              <a:gd name="T73" fmla="*/ 53 h 57"/>
              <a:gd name="T74" fmla="*/ 19 w 62"/>
              <a:gd name="T75" fmla="*/ 53 h 57"/>
              <a:gd name="T76" fmla="*/ 24 w 62"/>
              <a:gd name="T77" fmla="*/ 57 h 57"/>
              <a:gd name="T78" fmla="*/ 24 w 62"/>
              <a:gd name="T79" fmla="*/ 57 h 57"/>
              <a:gd name="T80" fmla="*/ 29 w 62"/>
              <a:gd name="T81" fmla="*/ 57 h 57"/>
              <a:gd name="T82" fmla="*/ 29 w 62"/>
              <a:gd name="T83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2" h="57">
                <a:moveTo>
                  <a:pt x="29" y="57"/>
                </a:moveTo>
                <a:lnTo>
                  <a:pt x="33" y="57"/>
                </a:lnTo>
                <a:lnTo>
                  <a:pt x="38" y="57"/>
                </a:lnTo>
                <a:lnTo>
                  <a:pt x="43" y="53"/>
                </a:lnTo>
                <a:lnTo>
                  <a:pt x="48" y="53"/>
                </a:lnTo>
                <a:lnTo>
                  <a:pt x="52" y="48"/>
                </a:lnTo>
                <a:lnTo>
                  <a:pt x="52" y="48"/>
                </a:lnTo>
                <a:lnTo>
                  <a:pt x="57" y="43"/>
                </a:lnTo>
                <a:lnTo>
                  <a:pt x="57" y="38"/>
                </a:lnTo>
                <a:lnTo>
                  <a:pt x="62" y="34"/>
                </a:lnTo>
                <a:lnTo>
                  <a:pt x="62" y="29"/>
                </a:lnTo>
                <a:lnTo>
                  <a:pt x="62" y="24"/>
                </a:lnTo>
                <a:lnTo>
                  <a:pt x="57" y="19"/>
                </a:lnTo>
                <a:lnTo>
                  <a:pt x="57" y="15"/>
                </a:lnTo>
                <a:lnTo>
                  <a:pt x="52" y="10"/>
                </a:lnTo>
                <a:lnTo>
                  <a:pt x="52" y="10"/>
                </a:lnTo>
                <a:lnTo>
                  <a:pt x="48" y="5"/>
                </a:lnTo>
                <a:lnTo>
                  <a:pt x="43" y="5"/>
                </a:lnTo>
                <a:lnTo>
                  <a:pt x="38" y="0"/>
                </a:lnTo>
                <a:lnTo>
                  <a:pt x="33" y="0"/>
                </a:lnTo>
                <a:lnTo>
                  <a:pt x="29" y="0"/>
                </a:lnTo>
                <a:lnTo>
                  <a:pt x="24" y="0"/>
                </a:lnTo>
                <a:lnTo>
                  <a:pt x="24" y="0"/>
                </a:lnTo>
                <a:lnTo>
                  <a:pt x="19" y="5"/>
                </a:lnTo>
                <a:lnTo>
                  <a:pt x="14" y="5"/>
                </a:lnTo>
                <a:lnTo>
                  <a:pt x="10" y="10"/>
                </a:lnTo>
                <a:lnTo>
                  <a:pt x="5" y="10"/>
                </a:lnTo>
                <a:lnTo>
                  <a:pt x="5" y="15"/>
                </a:lnTo>
                <a:lnTo>
                  <a:pt x="5" y="19"/>
                </a:lnTo>
                <a:lnTo>
                  <a:pt x="0" y="24"/>
                </a:lnTo>
                <a:lnTo>
                  <a:pt x="0" y="29"/>
                </a:lnTo>
                <a:lnTo>
                  <a:pt x="0" y="34"/>
                </a:lnTo>
                <a:lnTo>
                  <a:pt x="5" y="38"/>
                </a:lnTo>
                <a:lnTo>
                  <a:pt x="5" y="43"/>
                </a:lnTo>
                <a:lnTo>
                  <a:pt x="5" y="48"/>
                </a:lnTo>
                <a:lnTo>
                  <a:pt x="10" y="48"/>
                </a:lnTo>
                <a:lnTo>
                  <a:pt x="14" y="53"/>
                </a:lnTo>
                <a:lnTo>
                  <a:pt x="19" y="53"/>
                </a:lnTo>
                <a:lnTo>
                  <a:pt x="24" y="57"/>
                </a:lnTo>
                <a:lnTo>
                  <a:pt x="24" y="57"/>
                </a:lnTo>
                <a:lnTo>
                  <a:pt x="29" y="57"/>
                </a:lnTo>
                <a:lnTo>
                  <a:pt x="29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55" name="Freeform 11217"/>
          <p:cNvSpPr>
            <a:spLocks/>
          </p:cNvSpPr>
          <p:nvPr/>
        </p:nvSpPr>
        <p:spPr bwMode="auto">
          <a:xfrm>
            <a:off x="4293552" y="2590165"/>
            <a:ext cx="39370" cy="36830"/>
          </a:xfrm>
          <a:custGeom>
            <a:avLst/>
            <a:gdLst>
              <a:gd name="T0" fmla="*/ 0 w 62"/>
              <a:gd name="T1" fmla="*/ 0 h 58"/>
              <a:gd name="T2" fmla="*/ 0 w 62"/>
              <a:gd name="T3" fmla="*/ 58 h 58"/>
              <a:gd name="T4" fmla="*/ 62 w 62"/>
              <a:gd name="T5" fmla="*/ 29 h 58"/>
              <a:gd name="T6" fmla="*/ 0 w 62"/>
              <a:gd name="T7" fmla="*/ 0 h 58"/>
              <a:gd name="T8" fmla="*/ 0 w 62"/>
              <a:gd name="T9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58">
                <a:moveTo>
                  <a:pt x="0" y="0"/>
                </a:moveTo>
                <a:lnTo>
                  <a:pt x="0" y="58"/>
                </a:lnTo>
                <a:lnTo>
                  <a:pt x="62" y="2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56" name="Rectangle 11218"/>
          <p:cNvSpPr>
            <a:spLocks noChangeArrowheads="1"/>
          </p:cNvSpPr>
          <p:nvPr/>
        </p:nvSpPr>
        <p:spPr bwMode="auto">
          <a:xfrm>
            <a:off x="2395537" y="283273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57" name="Rectangle 11219"/>
          <p:cNvSpPr>
            <a:spLocks noChangeArrowheads="1"/>
          </p:cNvSpPr>
          <p:nvPr/>
        </p:nvSpPr>
        <p:spPr bwMode="auto">
          <a:xfrm>
            <a:off x="2416492" y="2832735"/>
            <a:ext cx="469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F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58" name="Rectangle 11220"/>
          <p:cNvSpPr>
            <a:spLocks noChangeArrowheads="1"/>
          </p:cNvSpPr>
          <p:nvPr/>
        </p:nvSpPr>
        <p:spPr bwMode="auto">
          <a:xfrm>
            <a:off x="2461577" y="283273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/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59" name="Rectangle 11221"/>
          <p:cNvSpPr>
            <a:spLocks noChangeArrowheads="1"/>
          </p:cNvSpPr>
          <p:nvPr/>
        </p:nvSpPr>
        <p:spPr bwMode="auto">
          <a:xfrm>
            <a:off x="2483167" y="283273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60" name="Rectangle 11222"/>
          <p:cNvSpPr>
            <a:spLocks noChangeArrowheads="1"/>
          </p:cNvSpPr>
          <p:nvPr/>
        </p:nvSpPr>
        <p:spPr bwMode="auto">
          <a:xfrm>
            <a:off x="2504122" y="2832735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61" name="Freeform 11223"/>
          <p:cNvSpPr>
            <a:spLocks/>
          </p:cNvSpPr>
          <p:nvPr/>
        </p:nvSpPr>
        <p:spPr bwMode="auto">
          <a:xfrm>
            <a:off x="2404427" y="2986405"/>
            <a:ext cx="147955" cy="2187575"/>
          </a:xfrm>
          <a:custGeom>
            <a:avLst/>
            <a:gdLst>
              <a:gd name="T0" fmla="*/ 233 w 233"/>
              <a:gd name="T1" fmla="*/ 3440 h 3445"/>
              <a:gd name="T2" fmla="*/ 233 w 233"/>
              <a:gd name="T3" fmla="*/ 0 h 3445"/>
              <a:gd name="T4" fmla="*/ 0 w 233"/>
              <a:gd name="T5" fmla="*/ 0 h 3445"/>
              <a:gd name="T6" fmla="*/ 0 w 233"/>
              <a:gd name="T7" fmla="*/ 3445 h 3445"/>
              <a:gd name="T8" fmla="*/ 233 w 233"/>
              <a:gd name="T9" fmla="*/ 3445 h 3445"/>
              <a:gd name="T10" fmla="*/ 233 w 233"/>
              <a:gd name="T11" fmla="*/ 3445 h 3445"/>
              <a:gd name="T12" fmla="*/ 233 w 233"/>
              <a:gd name="T13" fmla="*/ 3440 h 3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3" h="3445">
                <a:moveTo>
                  <a:pt x="233" y="3440"/>
                </a:moveTo>
                <a:lnTo>
                  <a:pt x="233" y="0"/>
                </a:lnTo>
                <a:lnTo>
                  <a:pt x="0" y="0"/>
                </a:lnTo>
                <a:lnTo>
                  <a:pt x="0" y="3445"/>
                </a:lnTo>
                <a:lnTo>
                  <a:pt x="233" y="3445"/>
                </a:lnTo>
                <a:lnTo>
                  <a:pt x="233" y="3445"/>
                </a:lnTo>
                <a:lnTo>
                  <a:pt x="233" y="34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62" name="Freeform 11224"/>
          <p:cNvSpPr>
            <a:spLocks/>
          </p:cNvSpPr>
          <p:nvPr/>
        </p:nvSpPr>
        <p:spPr bwMode="auto">
          <a:xfrm>
            <a:off x="2404427" y="2986405"/>
            <a:ext cx="147955" cy="2187575"/>
          </a:xfrm>
          <a:custGeom>
            <a:avLst/>
            <a:gdLst>
              <a:gd name="T0" fmla="*/ 233 w 233"/>
              <a:gd name="T1" fmla="*/ 3440 h 3445"/>
              <a:gd name="T2" fmla="*/ 233 w 233"/>
              <a:gd name="T3" fmla="*/ 0 h 3445"/>
              <a:gd name="T4" fmla="*/ 0 w 233"/>
              <a:gd name="T5" fmla="*/ 0 h 3445"/>
              <a:gd name="T6" fmla="*/ 0 w 233"/>
              <a:gd name="T7" fmla="*/ 3445 h 3445"/>
              <a:gd name="T8" fmla="*/ 233 w 233"/>
              <a:gd name="T9" fmla="*/ 3445 h 3445"/>
              <a:gd name="T10" fmla="*/ 233 w 233"/>
              <a:gd name="T11" fmla="*/ 3445 h 3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3" h="3445">
                <a:moveTo>
                  <a:pt x="233" y="3440"/>
                </a:moveTo>
                <a:lnTo>
                  <a:pt x="233" y="0"/>
                </a:lnTo>
                <a:lnTo>
                  <a:pt x="0" y="0"/>
                </a:lnTo>
                <a:lnTo>
                  <a:pt x="0" y="3445"/>
                </a:lnTo>
                <a:lnTo>
                  <a:pt x="233" y="3445"/>
                </a:lnTo>
                <a:lnTo>
                  <a:pt x="233" y="3445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63" name="Freeform 11225"/>
          <p:cNvSpPr>
            <a:spLocks/>
          </p:cNvSpPr>
          <p:nvPr/>
        </p:nvSpPr>
        <p:spPr bwMode="auto">
          <a:xfrm>
            <a:off x="4145597" y="3500120"/>
            <a:ext cx="36195" cy="39370"/>
          </a:xfrm>
          <a:custGeom>
            <a:avLst/>
            <a:gdLst>
              <a:gd name="T0" fmla="*/ 57 w 57"/>
              <a:gd name="T1" fmla="*/ 0 h 62"/>
              <a:gd name="T2" fmla="*/ 0 w 57"/>
              <a:gd name="T3" fmla="*/ 5 h 62"/>
              <a:gd name="T4" fmla="*/ 29 w 57"/>
              <a:gd name="T5" fmla="*/ 62 h 62"/>
              <a:gd name="T6" fmla="*/ 57 w 57"/>
              <a:gd name="T7" fmla="*/ 5 h 62"/>
              <a:gd name="T8" fmla="*/ 57 w 57"/>
              <a:gd name="T9" fmla="*/ 5 h 62"/>
              <a:gd name="T10" fmla="*/ 57 w 57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2">
                <a:moveTo>
                  <a:pt x="57" y="0"/>
                </a:moveTo>
                <a:lnTo>
                  <a:pt x="0" y="5"/>
                </a:lnTo>
                <a:lnTo>
                  <a:pt x="29" y="62"/>
                </a:lnTo>
                <a:lnTo>
                  <a:pt x="57" y="5"/>
                </a:lnTo>
                <a:lnTo>
                  <a:pt x="57" y="5"/>
                </a:lnTo>
                <a:lnTo>
                  <a:pt x="5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64" name="Freeform 11226"/>
          <p:cNvSpPr>
            <a:spLocks/>
          </p:cNvSpPr>
          <p:nvPr/>
        </p:nvSpPr>
        <p:spPr bwMode="auto">
          <a:xfrm>
            <a:off x="4164012" y="3366770"/>
            <a:ext cx="635" cy="154305"/>
          </a:xfrm>
          <a:custGeom>
            <a:avLst/>
            <a:gdLst>
              <a:gd name="T0" fmla="*/ 0 h 243"/>
              <a:gd name="T1" fmla="*/ 243 h 243"/>
              <a:gd name="T2" fmla="*/ 0 h 24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43">
                <a:moveTo>
                  <a:pt x="0" y="0"/>
                </a:moveTo>
                <a:lnTo>
                  <a:pt x="0" y="2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65" name="Line 11227"/>
          <p:cNvCxnSpPr/>
          <p:nvPr/>
        </p:nvCxnSpPr>
        <p:spPr bwMode="auto">
          <a:xfrm>
            <a:off x="4164012" y="3366770"/>
            <a:ext cx="635" cy="15430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" name="Freeform 11228"/>
          <p:cNvSpPr>
            <a:spLocks/>
          </p:cNvSpPr>
          <p:nvPr/>
        </p:nvSpPr>
        <p:spPr bwMode="auto">
          <a:xfrm>
            <a:off x="4145597" y="3763010"/>
            <a:ext cx="36195" cy="39370"/>
          </a:xfrm>
          <a:custGeom>
            <a:avLst/>
            <a:gdLst>
              <a:gd name="T0" fmla="*/ 57 w 57"/>
              <a:gd name="T1" fmla="*/ 57 h 62"/>
              <a:gd name="T2" fmla="*/ 0 w 57"/>
              <a:gd name="T3" fmla="*/ 62 h 62"/>
              <a:gd name="T4" fmla="*/ 29 w 57"/>
              <a:gd name="T5" fmla="*/ 0 h 62"/>
              <a:gd name="T6" fmla="*/ 57 w 57"/>
              <a:gd name="T7" fmla="*/ 62 h 62"/>
              <a:gd name="T8" fmla="*/ 57 w 57"/>
              <a:gd name="T9" fmla="*/ 62 h 62"/>
              <a:gd name="T10" fmla="*/ 57 w 57"/>
              <a:gd name="T11" fmla="*/ 5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2">
                <a:moveTo>
                  <a:pt x="57" y="57"/>
                </a:moveTo>
                <a:lnTo>
                  <a:pt x="0" y="62"/>
                </a:lnTo>
                <a:lnTo>
                  <a:pt x="29" y="0"/>
                </a:lnTo>
                <a:lnTo>
                  <a:pt x="57" y="62"/>
                </a:lnTo>
                <a:lnTo>
                  <a:pt x="57" y="62"/>
                </a:lnTo>
                <a:lnTo>
                  <a:pt x="5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67" name="Freeform 11229"/>
          <p:cNvSpPr>
            <a:spLocks/>
          </p:cNvSpPr>
          <p:nvPr/>
        </p:nvSpPr>
        <p:spPr bwMode="auto">
          <a:xfrm>
            <a:off x="4164012" y="3787140"/>
            <a:ext cx="635" cy="156845"/>
          </a:xfrm>
          <a:custGeom>
            <a:avLst/>
            <a:gdLst>
              <a:gd name="T0" fmla="*/ 247 h 247"/>
              <a:gd name="T1" fmla="*/ 0 h 247"/>
              <a:gd name="T2" fmla="*/ 247 h 247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247">
                <a:moveTo>
                  <a:pt x="0" y="247"/>
                </a:moveTo>
                <a:lnTo>
                  <a:pt x="0" y="0"/>
                </a:lnTo>
                <a:lnTo>
                  <a:pt x="0" y="2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68" name="Line 11230"/>
          <p:cNvCxnSpPr/>
          <p:nvPr/>
        </p:nvCxnSpPr>
        <p:spPr bwMode="auto">
          <a:xfrm flipV="1">
            <a:off x="4164012" y="3787140"/>
            <a:ext cx="635" cy="15684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9" name="Freeform 11231"/>
          <p:cNvSpPr>
            <a:spLocks/>
          </p:cNvSpPr>
          <p:nvPr/>
        </p:nvSpPr>
        <p:spPr bwMode="auto">
          <a:xfrm>
            <a:off x="4940617" y="3617595"/>
            <a:ext cx="39370" cy="36830"/>
          </a:xfrm>
          <a:custGeom>
            <a:avLst/>
            <a:gdLst>
              <a:gd name="T0" fmla="*/ 0 w 62"/>
              <a:gd name="T1" fmla="*/ 0 h 58"/>
              <a:gd name="T2" fmla="*/ 5 w 62"/>
              <a:gd name="T3" fmla="*/ 58 h 58"/>
              <a:gd name="T4" fmla="*/ 62 w 62"/>
              <a:gd name="T5" fmla="*/ 29 h 58"/>
              <a:gd name="T6" fmla="*/ 5 w 62"/>
              <a:gd name="T7" fmla="*/ 0 h 58"/>
              <a:gd name="T8" fmla="*/ 5 w 62"/>
              <a:gd name="T9" fmla="*/ 0 h 58"/>
              <a:gd name="T10" fmla="*/ 0 w 62"/>
              <a:gd name="T11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58">
                <a:moveTo>
                  <a:pt x="0" y="0"/>
                </a:moveTo>
                <a:lnTo>
                  <a:pt x="5" y="58"/>
                </a:lnTo>
                <a:lnTo>
                  <a:pt x="62" y="29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70" name="Freeform 11232"/>
          <p:cNvSpPr>
            <a:spLocks/>
          </p:cNvSpPr>
          <p:nvPr/>
        </p:nvSpPr>
        <p:spPr bwMode="auto">
          <a:xfrm>
            <a:off x="4940617" y="4213225"/>
            <a:ext cx="39370" cy="36195"/>
          </a:xfrm>
          <a:custGeom>
            <a:avLst/>
            <a:gdLst>
              <a:gd name="T0" fmla="*/ 0 w 62"/>
              <a:gd name="T1" fmla="*/ 0 h 57"/>
              <a:gd name="T2" fmla="*/ 5 w 62"/>
              <a:gd name="T3" fmla="*/ 57 h 57"/>
              <a:gd name="T4" fmla="*/ 62 w 62"/>
              <a:gd name="T5" fmla="*/ 28 h 57"/>
              <a:gd name="T6" fmla="*/ 5 w 62"/>
              <a:gd name="T7" fmla="*/ 0 h 57"/>
              <a:gd name="T8" fmla="*/ 5 w 62"/>
              <a:gd name="T9" fmla="*/ 0 h 57"/>
              <a:gd name="T10" fmla="*/ 0 w 62"/>
              <a:gd name="T11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5" y="57"/>
                </a:lnTo>
                <a:lnTo>
                  <a:pt x="62" y="28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71" name="Freeform 11233"/>
          <p:cNvSpPr>
            <a:spLocks/>
          </p:cNvSpPr>
          <p:nvPr/>
        </p:nvSpPr>
        <p:spPr bwMode="auto">
          <a:xfrm>
            <a:off x="4801552" y="4213225"/>
            <a:ext cx="36195" cy="36195"/>
          </a:xfrm>
          <a:custGeom>
            <a:avLst/>
            <a:gdLst>
              <a:gd name="T0" fmla="*/ 24 w 57"/>
              <a:gd name="T1" fmla="*/ 57 h 57"/>
              <a:gd name="T2" fmla="*/ 33 w 57"/>
              <a:gd name="T3" fmla="*/ 57 h 57"/>
              <a:gd name="T4" fmla="*/ 38 w 57"/>
              <a:gd name="T5" fmla="*/ 57 h 57"/>
              <a:gd name="T6" fmla="*/ 43 w 57"/>
              <a:gd name="T7" fmla="*/ 57 h 57"/>
              <a:gd name="T8" fmla="*/ 43 w 57"/>
              <a:gd name="T9" fmla="*/ 52 h 57"/>
              <a:gd name="T10" fmla="*/ 48 w 57"/>
              <a:gd name="T11" fmla="*/ 47 h 57"/>
              <a:gd name="T12" fmla="*/ 52 w 57"/>
              <a:gd name="T13" fmla="*/ 47 h 57"/>
              <a:gd name="T14" fmla="*/ 52 w 57"/>
              <a:gd name="T15" fmla="*/ 43 h 57"/>
              <a:gd name="T16" fmla="*/ 57 w 57"/>
              <a:gd name="T17" fmla="*/ 38 h 57"/>
              <a:gd name="T18" fmla="*/ 57 w 57"/>
              <a:gd name="T19" fmla="*/ 33 h 57"/>
              <a:gd name="T20" fmla="*/ 57 w 57"/>
              <a:gd name="T21" fmla="*/ 28 h 57"/>
              <a:gd name="T22" fmla="*/ 57 w 57"/>
              <a:gd name="T23" fmla="*/ 24 h 57"/>
              <a:gd name="T24" fmla="*/ 57 w 57"/>
              <a:gd name="T25" fmla="*/ 19 h 57"/>
              <a:gd name="T26" fmla="*/ 52 w 57"/>
              <a:gd name="T27" fmla="*/ 14 h 57"/>
              <a:gd name="T28" fmla="*/ 52 w 57"/>
              <a:gd name="T29" fmla="*/ 9 h 57"/>
              <a:gd name="T30" fmla="*/ 48 w 57"/>
              <a:gd name="T31" fmla="*/ 9 h 57"/>
              <a:gd name="T32" fmla="*/ 43 w 57"/>
              <a:gd name="T33" fmla="*/ 5 h 57"/>
              <a:gd name="T34" fmla="*/ 43 w 57"/>
              <a:gd name="T35" fmla="*/ 5 h 57"/>
              <a:gd name="T36" fmla="*/ 38 w 57"/>
              <a:gd name="T37" fmla="*/ 0 h 57"/>
              <a:gd name="T38" fmla="*/ 33 w 57"/>
              <a:gd name="T39" fmla="*/ 0 h 57"/>
              <a:gd name="T40" fmla="*/ 29 w 57"/>
              <a:gd name="T41" fmla="*/ 0 h 57"/>
              <a:gd name="T42" fmla="*/ 24 w 57"/>
              <a:gd name="T43" fmla="*/ 0 h 57"/>
              <a:gd name="T44" fmla="*/ 19 w 57"/>
              <a:gd name="T45" fmla="*/ 0 h 57"/>
              <a:gd name="T46" fmla="*/ 14 w 57"/>
              <a:gd name="T47" fmla="*/ 5 h 57"/>
              <a:gd name="T48" fmla="*/ 10 w 57"/>
              <a:gd name="T49" fmla="*/ 5 h 57"/>
              <a:gd name="T50" fmla="*/ 5 w 57"/>
              <a:gd name="T51" fmla="*/ 9 h 57"/>
              <a:gd name="T52" fmla="*/ 5 w 57"/>
              <a:gd name="T53" fmla="*/ 9 h 57"/>
              <a:gd name="T54" fmla="*/ 0 w 57"/>
              <a:gd name="T55" fmla="*/ 14 h 57"/>
              <a:gd name="T56" fmla="*/ 0 w 57"/>
              <a:gd name="T57" fmla="*/ 19 h 57"/>
              <a:gd name="T58" fmla="*/ 0 w 57"/>
              <a:gd name="T59" fmla="*/ 24 h 57"/>
              <a:gd name="T60" fmla="*/ 0 w 57"/>
              <a:gd name="T61" fmla="*/ 28 h 57"/>
              <a:gd name="T62" fmla="*/ 0 w 57"/>
              <a:gd name="T63" fmla="*/ 33 h 57"/>
              <a:gd name="T64" fmla="*/ 0 w 57"/>
              <a:gd name="T65" fmla="*/ 38 h 57"/>
              <a:gd name="T66" fmla="*/ 0 w 57"/>
              <a:gd name="T67" fmla="*/ 43 h 57"/>
              <a:gd name="T68" fmla="*/ 5 w 57"/>
              <a:gd name="T69" fmla="*/ 47 h 57"/>
              <a:gd name="T70" fmla="*/ 5 w 57"/>
              <a:gd name="T71" fmla="*/ 47 h 57"/>
              <a:gd name="T72" fmla="*/ 10 w 57"/>
              <a:gd name="T73" fmla="*/ 52 h 57"/>
              <a:gd name="T74" fmla="*/ 14 w 57"/>
              <a:gd name="T75" fmla="*/ 57 h 57"/>
              <a:gd name="T76" fmla="*/ 19 w 57"/>
              <a:gd name="T77" fmla="*/ 57 h 57"/>
              <a:gd name="T78" fmla="*/ 24 w 57"/>
              <a:gd name="T79" fmla="*/ 57 h 57"/>
              <a:gd name="T80" fmla="*/ 29 w 57"/>
              <a:gd name="T81" fmla="*/ 57 h 57"/>
              <a:gd name="T82" fmla="*/ 29 w 57"/>
              <a:gd name="T83" fmla="*/ 57 h 57"/>
              <a:gd name="T84" fmla="*/ 24 w 57"/>
              <a:gd name="T85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7" h="57">
                <a:moveTo>
                  <a:pt x="24" y="57"/>
                </a:moveTo>
                <a:lnTo>
                  <a:pt x="33" y="57"/>
                </a:lnTo>
                <a:lnTo>
                  <a:pt x="38" y="57"/>
                </a:lnTo>
                <a:lnTo>
                  <a:pt x="43" y="57"/>
                </a:lnTo>
                <a:lnTo>
                  <a:pt x="43" y="52"/>
                </a:lnTo>
                <a:lnTo>
                  <a:pt x="48" y="47"/>
                </a:lnTo>
                <a:lnTo>
                  <a:pt x="52" y="47"/>
                </a:lnTo>
                <a:lnTo>
                  <a:pt x="52" y="43"/>
                </a:lnTo>
                <a:lnTo>
                  <a:pt x="57" y="38"/>
                </a:lnTo>
                <a:lnTo>
                  <a:pt x="57" y="33"/>
                </a:lnTo>
                <a:lnTo>
                  <a:pt x="57" y="28"/>
                </a:lnTo>
                <a:lnTo>
                  <a:pt x="57" y="24"/>
                </a:lnTo>
                <a:lnTo>
                  <a:pt x="57" y="19"/>
                </a:lnTo>
                <a:lnTo>
                  <a:pt x="52" y="14"/>
                </a:lnTo>
                <a:lnTo>
                  <a:pt x="52" y="9"/>
                </a:lnTo>
                <a:lnTo>
                  <a:pt x="48" y="9"/>
                </a:lnTo>
                <a:lnTo>
                  <a:pt x="43" y="5"/>
                </a:lnTo>
                <a:lnTo>
                  <a:pt x="43" y="5"/>
                </a:lnTo>
                <a:lnTo>
                  <a:pt x="38" y="0"/>
                </a:lnTo>
                <a:lnTo>
                  <a:pt x="33" y="0"/>
                </a:lnTo>
                <a:lnTo>
                  <a:pt x="29" y="0"/>
                </a:lnTo>
                <a:lnTo>
                  <a:pt x="24" y="0"/>
                </a:lnTo>
                <a:lnTo>
                  <a:pt x="19" y="0"/>
                </a:lnTo>
                <a:lnTo>
                  <a:pt x="14" y="5"/>
                </a:lnTo>
                <a:lnTo>
                  <a:pt x="10" y="5"/>
                </a:lnTo>
                <a:lnTo>
                  <a:pt x="5" y="9"/>
                </a:lnTo>
                <a:lnTo>
                  <a:pt x="5" y="9"/>
                </a:lnTo>
                <a:lnTo>
                  <a:pt x="0" y="14"/>
                </a:lnTo>
                <a:lnTo>
                  <a:pt x="0" y="19"/>
                </a:lnTo>
                <a:lnTo>
                  <a:pt x="0" y="24"/>
                </a:lnTo>
                <a:lnTo>
                  <a:pt x="0" y="28"/>
                </a:lnTo>
                <a:lnTo>
                  <a:pt x="0" y="33"/>
                </a:lnTo>
                <a:lnTo>
                  <a:pt x="0" y="38"/>
                </a:lnTo>
                <a:lnTo>
                  <a:pt x="0" y="43"/>
                </a:lnTo>
                <a:lnTo>
                  <a:pt x="5" y="47"/>
                </a:lnTo>
                <a:lnTo>
                  <a:pt x="5" y="47"/>
                </a:lnTo>
                <a:lnTo>
                  <a:pt x="10" y="52"/>
                </a:lnTo>
                <a:lnTo>
                  <a:pt x="14" y="57"/>
                </a:lnTo>
                <a:lnTo>
                  <a:pt x="19" y="57"/>
                </a:lnTo>
                <a:lnTo>
                  <a:pt x="24" y="57"/>
                </a:lnTo>
                <a:lnTo>
                  <a:pt x="29" y="57"/>
                </a:lnTo>
                <a:lnTo>
                  <a:pt x="29" y="57"/>
                </a:lnTo>
                <a:lnTo>
                  <a:pt x="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72" name="Line 11234"/>
          <p:cNvCxnSpPr/>
          <p:nvPr/>
        </p:nvCxnSpPr>
        <p:spPr bwMode="auto">
          <a:xfrm flipH="1">
            <a:off x="4819967" y="4231005"/>
            <a:ext cx="139065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3" name="Freeform 11235"/>
          <p:cNvSpPr>
            <a:spLocks/>
          </p:cNvSpPr>
          <p:nvPr/>
        </p:nvSpPr>
        <p:spPr bwMode="auto">
          <a:xfrm>
            <a:off x="4819967" y="3636010"/>
            <a:ext cx="1465580" cy="1900555"/>
          </a:xfrm>
          <a:custGeom>
            <a:avLst/>
            <a:gdLst>
              <a:gd name="T0" fmla="*/ 219 w 2308"/>
              <a:gd name="T1" fmla="*/ 0 h 2993"/>
              <a:gd name="T2" fmla="*/ 0 w 2308"/>
              <a:gd name="T3" fmla="*/ 0 h 2993"/>
              <a:gd name="T4" fmla="*/ 0 w 2308"/>
              <a:gd name="T5" fmla="*/ 2993 h 2993"/>
              <a:gd name="T6" fmla="*/ 2308 w 2308"/>
              <a:gd name="T7" fmla="*/ 2993 h 2993"/>
              <a:gd name="T8" fmla="*/ 2308 w 2308"/>
              <a:gd name="T9" fmla="*/ 243 h 2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08" h="2993">
                <a:moveTo>
                  <a:pt x="219" y="0"/>
                </a:moveTo>
                <a:lnTo>
                  <a:pt x="0" y="0"/>
                </a:lnTo>
                <a:lnTo>
                  <a:pt x="0" y="2993"/>
                </a:lnTo>
                <a:lnTo>
                  <a:pt x="2308" y="2993"/>
                </a:lnTo>
                <a:lnTo>
                  <a:pt x="2308" y="243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74" name="Freeform 11236"/>
          <p:cNvSpPr>
            <a:spLocks/>
          </p:cNvSpPr>
          <p:nvPr/>
        </p:nvSpPr>
        <p:spPr bwMode="auto">
          <a:xfrm>
            <a:off x="4940617" y="4067810"/>
            <a:ext cx="39370" cy="36830"/>
          </a:xfrm>
          <a:custGeom>
            <a:avLst/>
            <a:gdLst>
              <a:gd name="T0" fmla="*/ 0 w 62"/>
              <a:gd name="T1" fmla="*/ 0 h 58"/>
              <a:gd name="T2" fmla="*/ 5 w 62"/>
              <a:gd name="T3" fmla="*/ 58 h 58"/>
              <a:gd name="T4" fmla="*/ 62 w 62"/>
              <a:gd name="T5" fmla="*/ 29 h 58"/>
              <a:gd name="T6" fmla="*/ 5 w 62"/>
              <a:gd name="T7" fmla="*/ 0 h 58"/>
              <a:gd name="T8" fmla="*/ 5 w 62"/>
              <a:gd name="T9" fmla="*/ 0 h 58"/>
              <a:gd name="T10" fmla="*/ 0 w 62"/>
              <a:gd name="T11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58">
                <a:moveTo>
                  <a:pt x="0" y="0"/>
                </a:moveTo>
                <a:lnTo>
                  <a:pt x="5" y="58"/>
                </a:lnTo>
                <a:lnTo>
                  <a:pt x="62" y="29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75" name="Freeform 11237"/>
          <p:cNvSpPr>
            <a:spLocks/>
          </p:cNvSpPr>
          <p:nvPr/>
        </p:nvSpPr>
        <p:spPr bwMode="auto">
          <a:xfrm>
            <a:off x="4858702" y="4067810"/>
            <a:ext cx="36830" cy="36830"/>
          </a:xfrm>
          <a:custGeom>
            <a:avLst/>
            <a:gdLst>
              <a:gd name="T0" fmla="*/ 29 w 58"/>
              <a:gd name="T1" fmla="*/ 58 h 58"/>
              <a:gd name="T2" fmla="*/ 34 w 58"/>
              <a:gd name="T3" fmla="*/ 58 h 58"/>
              <a:gd name="T4" fmla="*/ 39 w 58"/>
              <a:gd name="T5" fmla="*/ 58 h 58"/>
              <a:gd name="T6" fmla="*/ 43 w 58"/>
              <a:gd name="T7" fmla="*/ 58 h 58"/>
              <a:gd name="T8" fmla="*/ 48 w 58"/>
              <a:gd name="T9" fmla="*/ 53 h 58"/>
              <a:gd name="T10" fmla="*/ 48 w 58"/>
              <a:gd name="T11" fmla="*/ 53 h 58"/>
              <a:gd name="T12" fmla="*/ 53 w 58"/>
              <a:gd name="T13" fmla="*/ 48 h 58"/>
              <a:gd name="T14" fmla="*/ 58 w 58"/>
              <a:gd name="T15" fmla="*/ 43 h 58"/>
              <a:gd name="T16" fmla="*/ 58 w 58"/>
              <a:gd name="T17" fmla="*/ 39 h 58"/>
              <a:gd name="T18" fmla="*/ 58 w 58"/>
              <a:gd name="T19" fmla="*/ 34 h 58"/>
              <a:gd name="T20" fmla="*/ 58 w 58"/>
              <a:gd name="T21" fmla="*/ 29 h 58"/>
              <a:gd name="T22" fmla="*/ 58 w 58"/>
              <a:gd name="T23" fmla="*/ 24 h 58"/>
              <a:gd name="T24" fmla="*/ 58 w 58"/>
              <a:gd name="T25" fmla="*/ 20 h 58"/>
              <a:gd name="T26" fmla="*/ 58 w 58"/>
              <a:gd name="T27" fmla="*/ 15 h 58"/>
              <a:gd name="T28" fmla="*/ 53 w 58"/>
              <a:gd name="T29" fmla="*/ 15 h 58"/>
              <a:gd name="T30" fmla="*/ 48 w 58"/>
              <a:gd name="T31" fmla="*/ 10 h 58"/>
              <a:gd name="T32" fmla="*/ 48 w 58"/>
              <a:gd name="T33" fmla="*/ 5 h 58"/>
              <a:gd name="T34" fmla="*/ 43 w 58"/>
              <a:gd name="T35" fmla="*/ 5 h 58"/>
              <a:gd name="T36" fmla="*/ 39 w 58"/>
              <a:gd name="T37" fmla="*/ 0 h 58"/>
              <a:gd name="T38" fmla="*/ 34 w 58"/>
              <a:gd name="T39" fmla="*/ 0 h 58"/>
              <a:gd name="T40" fmla="*/ 29 w 58"/>
              <a:gd name="T41" fmla="*/ 0 h 58"/>
              <a:gd name="T42" fmla="*/ 24 w 58"/>
              <a:gd name="T43" fmla="*/ 0 h 58"/>
              <a:gd name="T44" fmla="*/ 19 w 58"/>
              <a:gd name="T45" fmla="*/ 0 h 58"/>
              <a:gd name="T46" fmla="*/ 15 w 58"/>
              <a:gd name="T47" fmla="*/ 5 h 58"/>
              <a:gd name="T48" fmla="*/ 10 w 58"/>
              <a:gd name="T49" fmla="*/ 5 h 58"/>
              <a:gd name="T50" fmla="*/ 10 w 58"/>
              <a:gd name="T51" fmla="*/ 10 h 58"/>
              <a:gd name="T52" fmla="*/ 5 w 58"/>
              <a:gd name="T53" fmla="*/ 15 h 58"/>
              <a:gd name="T54" fmla="*/ 5 w 58"/>
              <a:gd name="T55" fmla="*/ 15 h 58"/>
              <a:gd name="T56" fmla="*/ 0 w 58"/>
              <a:gd name="T57" fmla="*/ 20 h 58"/>
              <a:gd name="T58" fmla="*/ 0 w 58"/>
              <a:gd name="T59" fmla="*/ 24 h 58"/>
              <a:gd name="T60" fmla="*/ 0 w 58"/>
              <a:gd name="T61" fmla="*/ 29 h 58"/>
              <a:gd name="T62" fmla="*/ 0 w 58"/>
              <a:gd name="T63" fmla="*/ 34 h 58"/>
              <a:gd name="T64" fmla="*/ 0 w 58"/>
              <a:gd name="T65" fmla="*/ 39 h 58"/>
              <a:gd name="T66" fmla="*/ 5 w 58"/>
              <a:gd name="T67" fmla="*/ 43 h 58"/>
              <a:gd name="T68" fmla="*/ 5 w 58"/>
              <a:gd name="T69" fmla="*/ 48 h 58"/>
              <a:gd name="T70" fmla="*/ 10 w 58"/>
              <a:gd name="T71" fmla="*/ 53 h 58"/>
              <a:gd name="T72" fmla="*/ 10 w 58"/>
              <a:gd name="T73" fmla="*/ 53 h 58"/>
              <a:gd name="T74" fmla="*/ 15 w 58"/>
              <a:gd name="T75" fmla="*/ 58 h 58"/>
              <a:gd name="T76" fmla="*/ 19 w 58"/>
              <a:gd name="T77" fmla="*/ 58 h 58"/>
              <a:gd name="T78" fmla="*/ 24 w 58"/>
              <a:gd name="T79" fmla="*/ 58 h 58"/>
              <a:gd name="T80" fmla="*/ 29 w 58"/>
              <a:gd name="T81" fmla="*/ 58 h 58"/>
              <a:gd name="T82" fmla="*/ 29 w 58"/>
              <a:gd name="T83" fmla="*/ 58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8" h="58">
                <a:moveTo>
                  <a:pt x="29" y="58"/>
                </a:moveTo>
                <a:lnTo>
                  <a:pt x="34" y="58"/>
                </a:lnTo>
                <a:lnTo>
                  <a:pt x="39" y="58"/>
                </a:lnTo>
                <a:lnTo>
                  <a:pt x="43" y="58"/>
                </a:lnTo>
                <a:lnTo>
                  <a:pt x="48" y="53"/>
                </a:lnTo>
                <a:lnTo>
                  <a:pt x="48" y="53"/>
                </a:lnTo>
                <a:lnTo>
                  <a:pt x="53" y="48"/>
                </a:lnTo>
                <a:lnTo>
                  <a:pt x="58" y="43"/>
                </a:lnTo>
                <a:lnTo>
                  <a:pt x="58" y="39"/>
                </a:lnTo>
                <a:lnTo>
                  <a:pt x="58" y="34"/>
                </a:lnTo>
                <a:lnTo>
                  <a:pt x="58" y="29"/>
                </a:lnTo>
                <a:lnTo>
                  <a:pt x="58" y="24"/>
                </a:lnTo>
                <a:lnTo>
                  <a:pt x="58" y="20"/>
                </a:lnTo>
                <a:lnTo>
                  <a:pt x="58" y="15"/>
                </a:lnTo>
                <a:lnTo>
                  <a:pt x="53" y="15"/>
                </a:lnTo>
                <a:lnTo>
                  <a:pt x="48" y="10"/>
                </a:lnTo>
                <a:lnTo>
                  <a:pt x="48" y="5"/>
                </a:lnTo>
                <a:lnTo>
                  <a:pt x="43" y="5"/>
                </a:lnTo>
                <a:lnTo>
                  <a:pt x="39" y="0"/>
                </a:lnTo>
                <a:lnTo>
                  <a:pt x="34" y="0"/>
                </a:lnTo>
                <a:lnTo>
                  <a:pt x="29" y="0"/>
                </a:lnTo>
                <a:lnTo>
                  <a:pt x="24" y="0"/>
                </a:lnTo>
                <a:lnTo>
                  <a:pt x="19" y="0"/>
                </a:lnTo>
                <a:lnTo>
                  <a:pt x="15" y="5"/>
                </a:lnTo>
                <a:lnTo>
                  <a:pt x="10" y="5"/>
                </a:lnTo>
                <a:lnTo>
                  <a:pt x="10" y="10"/>
                </a:lnTo>
                <a:lnTo>
                  <a:pt x="5" y="15"/>
                </a:lnTo>
                <a:lnTo>
                  <a:pt x="5" y="15"/>
                </a:lnTo>
                <a:lnTo>
                  <a:pt x="0" y="20"/>
                </a:lnTo>
                <a:lnTo>
                  <a:pt x="0" y="24"/>
                </a:lnTo>
                <a:lnTo>
                  <a:pt x="0" y="29"/>
                </a:lnTo>
                <a:lnTo>
                  <a:pt x="0" y="34"/>
                </a:lnTo>
                <a:lnTo>
                  <a:pt x="0" y="39"/>
                </a:lnTo>
                <a:lnTo>
                  <a:pt x="5" y="43"/>
                </a:lnTo>
                <a:lnTo>
                  <a:pt x="5" y="48"/>
                </a:lnTo>
                <a:lnTo>
                  <a:pt x="10" y="53"/>
                </a:lnTo>
                <a:lnTo>
                  <a:pt x="10" y="53"/>
                </a:lnTo>
                <a:lnTo>
                  <a:pt x="15" y="58"/>
                </a:lnTo>
                <a:lnTo>
                  <a:pt x="19" y="58"/>
                </a:lnTo>
                <a:lnTo>
                  <a:pt x="24" y="58"/>
                </a:lnTo>
                <a:lnTo>
                  <a:pt x="29" y="58"/>
                </a:lnTo>
                <a:lnTo>
                  <a:pt x="29" y="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76" name="Freeform 11238"/>
          <p:cNvSpPr>
            <a:spLocks/>
          </p:cNvSpPr>
          <p:nvPr/>
        </p:nvSpPr>
        <p:spPr bwMode="auto">
          <a:xfrm>
            <a:off x="4940617" y="3479165"/>
            <a:ext cx="39370" cy="36195"/>
          </a:xfrm>
          <a:custGeom>
            <a:avLst/>
            <a:gdLst>
              <a:gd name="T0" fmla="*/ 0 w 62"/>
              <a:gd name="T1" fmla="*/ 0 h 57"/>
              <a:gd name="T2" fmla="*/ 5 w 62"/>
              <a:gd name="T3" fmla="*/ 57 h 57"/>
              <a:gd name="T4" fmla="*/ 62 w 62"/>
              <a:gd name="T5" fmla="*/ 28 h 57"/>
              <a:gd name="T6" fmla="*/ 5 w 62"/>
              <a:gd name="T7" fmla="*/ 0 h 57"/>
              <a:gd name="T8" fmla="*/ 5 w 62"/>
              <a:gd name="T9" fmla="*/ 0 h 57"/>
              <a:gd name="T10" fmla="*/ 0 w 62"/>
              <a:gd name="T11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57">
                <a:moveTo>
                  <a:pt x="0" y="0"/>
                </a:moveTo>
                <a:lnTo>
                  <a:pt x="5" y="57"/>
                </a:lnTo>
                <a:lnTo>
                  <a:pt x="62" y="28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77" name="Freeform 11239"/>
          <p:cNvSpPr>
            <a:spLocks/>
          </p:cNvSpPr>
          <p:nvPr/>
        </p:nvSpPr>
        <p:spPr bwMode="auto">
          <a:xfrm>
            <a:off x="4856162" y="5600065"/>
            <a:ext cx="39370" cy="39370"/>
          </a:xfrm>
          <a:custGeom>
            <a:avLst/>
            <a:gdLst>
              <a:gd name="T0" fmla="*/ 28 w 62"/>
              <a:gd name="T1" fmla="*/ 57 h 62"/>
              <a:gd name="T2" fmla="*/ 33 w 62"/>
              <a:gd name="T3" fmla="*/ 62 h 62"/>
              <a:gd name="T4" fmla="*/ 38 w 62"/>
              <a:gd name="T5" fmla="*/ 62 h 62"/>
              <a:gd name="T6" fmla="*/ 43 w 62"/>
              <a:gd name="T7" fmla="*/ 57 h 62"/>
              <a:gd name="T8" fmla="*/ 47 w 62"/>
              <a:gd name="T9" fmla="*/ 57 h 62"/>
              <a:gd name="T10" fmla="*/ 52 w 62"/>
              <a:gd name="T11" fmla="*/ 53 h 62"/>
              <a:gd name="T12" fmla="*/ 52 w 62"/>
              <a:gd name="T13" fmla="*/ 48 h 62"/>
              <a:gd name="T14" fmla="*/ 57 w 62"/>
              <a:gd name="T15" fmla="*/ 43 h 62"/>
              <a:gd name="T16" fmla="*/ 57 w 62"/>
              <a:gd name="T17" fmla="*/ 43 h 62"/>
              <a:gd name="T18" fmla="*/ 57 w 62"/>
              <a:gd name="T19" fmla="*/ 38 h 62"/>
              <a:gd name="T20" fmla="*/ 62 w 62"/>
              <a:gd name="T21" fmla="*/ 33 h 62"/>
              <a:gd name="T22" fmla="*/ 57 w 62"/>
              <a:gd name="T23" fmla="*/ 29 h 62"/>
              <a:gd name="T24" fmla="*/ 57 w 62"/>
              <a:gd name="T25" fmla="*/ 24 h 62"/>
              <a:gd name="T26" fmla="*/ 57 w 62"/>
              <a:gd name="T27" fmla="*/ 19 h 62"/>
              <a:gd name="T28" fmla="*/ 52 w 62"/>
              <a:gd name="T29" fmla="*/ 14 h 62"/>
              <a:gd name="T30" fmla="*/ 52 w 62"/>
              <a:gd name="T31" fmla="*/ 10 h 62"/>
              <a:gd name="T32" fmla="*/ 47 w 62"/>
              <a:gd name="T33" fmla="*/ 10 h 62"/>
              <a:gd name="T34" fmla="*/ 43 w 62"/>
              <a:gd name="T35" fmla="*/ 5 h 62"/>
              <a:gd name="T36" fmla="*/ 38 w 62"/>
              <a:gd name="T37" fmla="*/ 5 h 62"/>
              <a:gd name="T38" fmla="*/ 33 w 62"/>
              <a:gd name="T39" fmla="*/ 5 h 62"/>
              <a:gd name="T40" fmla="*/ 28 w 62"/>
              <a:gd name="T41" fmla="*/ 0 h 62"/>
              <a:gd name="T42" fmla="*/ 23 w 62"/>
              <a:gd name="T43" fmla="*/ 5 h 62"/>
              <a:gd name="T44" fmla="*/ 19 w 62"/>
              <a:gd name="T45" fmla="*/ 5 h 62"/>
              <a:gd name="T46" fmla="*/ 19 w 62"/>
              <a:gd name="T47" fmla="*/ 5 h 62"/>
              <a:gd name="T48" fmla="*/ 14 w 62"/>
              <a:gd name="T49" fmla="*/ 10 h 62"/>
              <a:gd name="T50" fmla="*/ 9 w 62"/>
              <a:gd name="T51" fmla="*/ 10 h 62"/>
              <a:gd name="T52" fmla="*/ 4 w 62"/>
              <a:gd name="T53" fmla="*/ 14 h 62"/>
              <a:gd name="T54" fmla="*/ 4 w 62"/>
              <a:gd name="T55" fmla="*/ 19 h 62"/>
              <a:gd name="T56" fmla="*/ 0 w 62"/>
              <a:gd name="T57" fmla="*/ 24 h 62"/>
              <a:gd name="T58" fmla="*/ 0 w 62"/>
              <a:gd name="T59" fmla="*/ 29 h 62"/>
              <a:gd name="T60" fmla="*/ 0 w 62"/>
              <a:gd name="T61" fmla="*/ 33 h 62"/>
              <a:gd name="T62" fmla="*/ 0 w 62"/>
              <a:gd name="T63" fmla="*/ 38 h 62"/>
              <a:gd name="T64" fmla="*/ 0 w 62"/>
              <a:gd name="T65" fmla="*/ 43 h 62"/>
              <a:gd name="T66" fmla="*/ 4 w 62"/>
              <a:gd name="T67" fmla="*/ 43 h 62"/>
              <a:gd name="T68" fmla="*/ 4 w 62"/>
              <a:gd name="T69" fmla="*/ 48 h 62"/>
              <a:gd name="T70" fmla="*/ 9 w 62"/>
              <a:gd name="T71" fmla="*/ 53 h 62"/>
              <a:gd name="T72" fmla="*/ 14 w 62"/>
              <a:gd name="T73" fmla="*/ 57 h 62"/>
              <a:gd name="T74" fmla="*/ 19 w 62"/>
              <a:gd name="T75" fmla="*/ 57 h 62"/>
              <a:gd name="T76" fmla="*/ 19 w 62"/>
              <a:gd name="T77" fmla="*/ 62 h 62"/>
              <a:gd name="T78" fmla="*/ 23 w 62"/>
              <a:gd name="T79" fmla="*/ 62 h 62"/>
              <a:gd name="T80" fmla="*/ 28 w 62"/>
              <a:gd name="T81" fmla="*/ 62 h 62"/>
              <a:gd name="T82" fmla="*/ 28 w 62"/>
              <a:gd name="T83" fmla="*/ 62 h 62"/>
              <a:gd name="T84" fmla="*/ 28 w 62"/>
              <a:gd name="T85" fmla="*/ 5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2" h="62">
                <a:moveTo>
                  <a:pt x="28" y="57"/>
                </a:moveTo>
                <a:lnTo>
                  <a:pt x="33" y="62"/>
                </a:lnTo>
                <a:lnTo>
                  <a:pt x="38" y="62"/>
                </a:lnTo>
                <a:lnTo>
                  <a:pt x="43" y="57"/>
                </a:lnTo>
                <a:lnTo>
                  <a:pt x="47" y="57"/>
                </a:lnTo>
                <a:lnTo>
                  <a:pt x="52" y="53"/>
                </a:lnTo>
                <a:lnTo>
                  <a:pt x="52" y="48"/>
                </a:lnTo>
                <a:lnTo>
                  <a:pt x="57" y="43"/>
                </a:lnTo>
                <a:lnTo>
                  <a:pt x="57" y="43"/>
                </a:lnTo>
                <a:lnTo>
                  <a:pt x="57" y="38"/>
                </a:lnTo>
                <a:lnTo>
                  <a:pt x="62" y="33"/>
                </a:lnTo>
                <a:lnTo>
                  <a:pt x="57" y="29"/>
                </a:lnTo>
                <a:lnTo>
                  <a:pt x="57" y="24"/>
                </a:lnTo>
                <a:lnTo>
                  <a:pt x="57" y="19"/>
                </a:lnTo>
                <a:lnTo>
                  <a:pt x="52" y="14"/>
                </a:lnTo>
                <a:lnTo>
                  <a:pt x="52" y="10"/>
                </a:lnTo>
                <a:lnTo>
                  <a:pt x="47" y="10"/>
                </a:lnTo>
                <a:lnTo>
                  <a:pt x="43" y="5"/>
                </a:lnTo>
                <a:lnTo>
                  <a:pt x="38" y="5"/>
                </a:lnTo>
                <a:lnTo>
                  <a:pt x="33" y="5"/>
                </a:lnTo>
                <a:lnTo>
                  <a:pt x="28" y="0"/>
                </a:lnTo>
                <a:lnTo>
                  <a:pt x="23" y="5"/>
                </a:lnTo>
                <a:lnTo>
                  <a:pt x="19" y="5"/>
                </a:lnTo>
                <a:lnTo>
                  <a:pt x="19" y="5"/>
                </a:lnTo>
                <a:lnTo>
                  <a:pt x="14" y="10"/>
                </a:lnTo>
                <a:lnTo>
                  <a:pt x="9" y="10"/>
                </a:lnTo>
                <a:lnTo>
                  <a:pt x="4" y="14"/>
                </a:lnTo>
                <a:lnTo>
                  <a:pt x="4" y="19"/>
                </a:lnTo>
                <a:lnTo>
                  <a:pt x="0" y="24"/>
                </a:lnTo>
                <a:lnTo>
                  <a:pt x="0" y="29"/>
                </a:lnTo>
                <a:lnTo>
                  <a:pt x="0" y="33"/>
                </a:lnTo>
                <a:lnTo>
                  <a:pt x="0" y="38"/>
                </a:lnTo>
                <a:lnTo>
                  <a:pt x="0" y="43"/>
                </a:lnTo>
                <a:lnTo>
                  <a:pt x="4" y="43"/>
                </a:lnTo>
                <a:lnTo>
                  <a:pt x="4" y="48"/>
                </a:lnTo>
                <a:lnTo>
                  <a:pt x="9" y="53"/>
                </a:lnTo>
                <a:lnTo>
                  <a:pt x="14" y="57"/>
                </a:lnTo>
                <a:lnTo>
                  <a:pt x="19" y="57"/>
                </a:lnTo>
                <a:lnTo>
                  <a:pt x="19" y="62"/>
                </a:lnTo>
                <a:lnTo>
                  <a:pt x="23" y="62"/>
                </a:lnTo>
                <a:lnTo>
                  <a:pt x="28" y="62"/>
                </a:lnTo>
                <a:lnTo>
                  <a:pt x="28" y="62"/>
                </a:lnTo>
                <a:lnTo>
                  <a:pt x="28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78" name="Line 11240"/>
          <p:cNvCxnSpPr/>
          <p:nvPr/>
        </p:nvCxnSpPr>
        <p:spPr bwMode="auto">
          <a:xfrm flipH="1">
            <a:off x="4877117" y="4086225"/>
            <a:ext cx="81915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9" name="Freeform 11241"/>
          <p:cNvSpPr>
            <a:spLocks/>
          </p:cNvSpPr>
          <p:nvPr/>
        </p:nvSpPr>
        <p:spPr bwMode="auto">
          <a:xfrm>
            <a:off x="5508942" y="428879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28 h 62"/>
              <a:gd name="T6" fmla="*/ 5 w 62"/>
              <a:gd name="T7" fmla="*/ 0 h 62"/>
              <a:gd name="T8" fmla="*/ 5 w 62"/>
              <a:gd name="T9" fmla="*/ 0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28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280" name="Line 11242"/>
          <p:cNvCxnSpPr/>
          <p:nvPr/>
        </p:nvCxnSpPr>
        <p:spPr bwMode="auto">
          <a:xfrm flipH="1">
            <a:off x="5212397" y="4309745"/>
            <a:ext cx="302260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1" name="Freeform 11243"/>
          <p:cNvSpPr>
            <a:spLocks/>
          </p:cNvSpPr>
          <p:nvPr/>
        </p:nvSpPr>
        <p:spPr bwMode="auto">
          <a:xfrm>
            <a:off x="4873942" y="3496945"/>
            <a:ext cx="85090" cy="2124075"/>
          </a:xfrm>
          <a:custGeom>
            <a:avLst/>
            <a:gdLst>
              <a:gd name="T0" fmla="*/ 134 w 134"/>
              <a:gd name="T1" fmla="*/ 0 h 3345"/>
              <a:gd name="T2" fmla="*/ 0 w 134"/>
              <a:gd name="T3" fmla="*/ 0 h 3345"/>
              <a:gd name="T4" fmla="*/ 0 w 134"/>
              <a:gd name="T5" fmla="*/ 3345 h 3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4" h="3345">
                <a:moveTo>
                  <a:pt x="134" y="0"/>
                </a:moveTo>
                <a:lnTo>
                  <a:pt x="0" y="0"/>
                </a:lnTo>
                <a:lnTo>
                  <a:pt x="0" y="3345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82" name="Freeform 11244"/>
          <p:cNvSpPr>
            <a:spLocks/>
          </p:cNvSpPr>
          <p:nvPr/>
        </p:nvSpPr>
        <p:spPr bwMode="auto">
          <a:xfrm>
            <a:off x="5847397" y="501396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29 h 62"/>
              <a:gd name="T6" fmla="*/ 5 w 62"/>
              <a:gd name="T7" fmla="*/ 0 h 62"/>
              <a:gd name="T8" fmla="*/ 5 w 62"/>
              <a:gd name="T9" fmla="*/ 0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29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83" name="Freeform 11245"/>
          <p:cNvSpPr>
            <a:spLocks/>
          </p:cNvSpPr>
          <p:nvPr/>
        </p:nvSpPr>
        <p:spPr bwMode="auto">
          <a:xfrm>
            <a:off x="5844222" y="4512310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3 h 62"/>
              <a:gd name="T6" fmla="*/ 5 w 62"/>
              <a:gd name="T7" fmla="*/ 5 h 62"/>
              <a:gd name="T8" fmla="*/ 5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3"/>
                </a:lnTo>
                <a:lnTo>
                  <a:pt x="5" y="5"/>
                </a:lnTo>
                <a:lnTo>
                  <a:pt x="5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84" name="Freeform 11246"/>
          <p:cNvSpPr>
            <a:spLocks/>
          </p:cNvSpPr>
          <p:nvPr/>
        </p:nvSpPr>
        <p:spPr bwMode="auto">
          <a:xfrm>
            <a:off x="4946332" y="4965700"/>
            <a:ext cx="36830" cy="39370"/>
          </a:xfrm>
          <a:custGeom>
            <a:avLst/>
            <a:gdLst>
              <a:gd name="T0" fmla="*/ 0 w 58"/>
              <a:gd name="T1" fmla="*/ 0 h 62"/>
              <a:gd name="T2" fmla="*/ 0 w 58"/>
              <a:gd name="T3" fmla="*/ 62 h 62"/>
              <a:gd name="T4" fmla="*/ 58 w 58"/>
              <a:gd name="T5" fmla="*/ 33 h 62"/>
              <a:gd name="T6" fmla="*/ 0 w 58"/>
              <a:gd name="T7" fmla="*/ 5 h 62"/>
              <a:gd name="T8" fmla="*/ 0 w 58"/>
              <a:gd name="T9" fmla="*/ 5 h 62"/>
              <a:gd name="T10" fmla="*/ 0 w 58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62">
                <a:moveTo>
                  <a:pt x="0" y="0"/>
                </a:moveTo>
                <a:lnTo>
                  <a:pt x="0" y="62"/>
                </a:lnTo>
                <a:lnTo>
                  <a:pt x="58" y="33"/>
                </a:lnTo>
                <a:lnTo>
                  <a:pt x="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85" name="Freeform 11247"/>
          <p:cNvSpPr>
            <a:spLocks/>
          </p:cNvSpPr>
          <p:nvPr/>
        </p:nvSpPr>
        <p:spPr bwMode="auto">
          <a:xfrm>
            <a:off x="4946332" y="5083175"/>
            <a:ext cx="39370" cy="36830"/>
          </a:xfrm>
          <a:custGeom>
            <a:avLst/>
            <a:gdLst>
              <a:gd name="T0" fmla="*/ 0 w 62"/>
              <a:gd name="T1" fmla="*/ 0 h 58"/>
              <a:gd name="T2" fmla="*/ 5 w 62"/>
              <a:gd name="T3" fmla="*/ 58 h 58"/>
              <a:gd name="T4" fmla="*/ 62 w 62"/>
              <a:gd name="T5" fmla="*/ 29 h 58"/>
              <a:gd name="T6" fmla="*/ 5 w 62"/>
              <a:gd name="T7" fmla="*/ 0 h 58"/>
              <a:gd name="T8" fmla="*/ 5 w 62"/>
              <a:gd name="T9" fmla="*/ 0 h 58"/>
              <a:gd name="T10" fmla="*/ 0 w 62"/>
              <a:gd name="T11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58">
                <a:moveTo>
                  <a:pt x="0" y="0"/>
                </a:moveTo>
                <a:lnTo>
                  <a:pt x="5" y="58"/>
                </a:lnTo>
                <a:lnTo>
                  <a:pt x="62" y="29"/>
                </a:lnTo>
                <a:lnTo>
                  <a:pt x="5" y="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86" name="Freeform 11248"/>
          <p:cNvSpPr>
            <a:spLocks/>
          </p:cNvSpPr>
          <p:nvPr/>
        </p:nvSpPr>
        <p:spPr bwMode="auto">
          <a:xfrm>
            <a:off x="5294312" y="3943985"/>
            <a:ext cx="142240" cy="347980"/>
          </a:xfrm>
          <a:custGeom>
            <a:avLst/>
            <a:gdLst>
              <a:gd name="T0" fmla="*/ 0 w 224"/>
              <a:gd name="T1" fmla="*/ 110 h 548"/>
              <a:gd name="T2" fmla="*/ 0 w 224"/>
              <a:gd name="T3" fmla="*/ 91 h 548"/>
              <a:gd name="T4" fmla="*/ 5 w 224"/>
              <a:gd name="T5" fmla="*/ 77 h 548"/>
              <a:gd name="T6" fmla="*/ 14 w 224"/>
              <a:gd name="T7" fmla="*/ 57 h 548"/>
              <a:gd name="T8" fmla="*/ 24 w 224"/>
              <a:gd name="T9" fmla="*/ 43 h 548"/>
              <a:gd name="T10" fmla="*/ 33 w 224"/>
              <a:gd name="T11" fmla="*/ 29 h 548"/>
              <a:gd name="T12" fmla="*/ 48 w 224"/>
              <a:gd name="T13" fmla="*/ 19 h 548"/>
              <a:gd name="T14" fmla="*/ 62 w 224"/>
              <a:gd name="T15" fmla="*/ 10 h 548"/>
              <a:gd name="T16" fmla="*/ 76 w 224"/>
              <a:gd name="T17" fmla="*/ 5 h 548"/>
              <a:gd name="T18" fmla="*/ 95 w 224"/>
              <a:gd name="T19" fmla="*/ 0 h 548"/>
              <a:gd name="T20" fmla="*/ 114 w 224"/>
              <a:gd name="T21" fmla="*/ 0 h 548"/>
              <a:gd name="T22" fmla="*/ 133 w 224"/>
              <a:gd name="T23" fmla="*/ 0 h 548"/>
              <a:gd name="T24" fmla="*/ 148 w 224"/>
              <a:gd name="T25" fmla="*/ 5 h 548"/>
              <a:gd name="T26" fmla="*/ 167 w 224"/>
              <a:gd name="T27" fmla="*/ 10 h 548"/>
              <a:gd name="T28" fmla="*/ 181 w 224"/>
              <a:gd name="T29" fmla="*/ 19 h 548"/>
              <a:gd name="T30" fmla="*/ 195 w 224"/>
              <a:gd name="T31" fmla="*/ 29 h 548"/>
              <a:gd name="T32" fmla="*/ 205 w 224"/>
              <a:gd name="T33" fmla="*/ 43 h 548"/>
              <a:gd name="T34" fmla="*/ 214 w 224"/>
              <a:gd name="T35" fmla="*/ 57 h 548"/>
              <a:gd name="T36" fmla="*/ 219 w 224"/>
              <a:gd name="T37" fmla="*/ 77 h 548"/>
              <a:gd name="T38" fmla="*/ 224 w 224"/>
              <a:gd name="T39" fmla="*/ 91 h 548"/>
              <a:gd name="T40" fmla="*/ 224 w 224"/>
              <a:gd name="T41" fmla="*/ 110 h 548"/>
              <a:gd name="T42" fmla="*/ 224 w 224"/>
              <a:gd name="T43" fmla="*/ 433 h 548"/>
              <a:gd name="T44" fmla="*/ 224 w 224"/>
              <a:gd name="T45" fmla="*/ 452 h 548"/>
              <a:gd name="T46" fmla="*/ 219 w 224"/>
              <a:gd name="T47" fmla="*/ 471 h 548"/>
              <a:gd name="T48" fmla="*/ 214 w 224"/>
              <a:gd name="T49" fmla="*/ 486 h 548"/>
              <a:gd name="T50" fmla="*/ 205 w 224"/>
              <a:gd name="T51" fmla="*/ 500 h 548"/>
              <a:gd name="T52" fmla="*/ 195 w 224"/>
              <a:gd name="T53" fmla="*/ 514 h 548"/>
              <a:gd name="T54" fmla="*/ 181 w 224"/>
              <a:gd name="T55" fmla="*/ 524 h 548"/>
              <a:gd name="T56" fmla="*/ 167 w 224"/>
              <a:gd name="T57" fmla="*/ 533 h 548"/>
              <a:gd name="T58" fmla="*/ 148 w 224"/>
              <a:gd name="T59" fmla="*/ 543 h 548"/>
              <a:gd name="T60" fmla="*/ 133 w 224"/>
              <a:gd name="T61" fmla="*/ 548 h 548"/>
              <a:gd name="T62" fmla="*/ 114 w 224"/>
              <a:gd name="T63" fmla="*/ 548 h 548"/>
              <a:gd name="T64" fmla="*/ 95 w 224"/>
              <a:gd name="T65" fmla="*/ 548 h 548"/>
              <a:gd name="T66" fmla="*/ 76 w 224"/>
              <a:gd name="T67" fmla="*/ 543 h 548"/>
              <a:gd name="T68" fmla="*/ 62 w 224"/>
              <a:gd name="T69" fmla="*/ 533 h 548"/>
              <a:gd name="T70" fmla="*/ 48 w 224"/>
              <a:gd name="T71" fmla="*/ 524 h 548"/>
              <a:gd name="T72" fmla="*/ 33 w 224"/>
              <a:gd name="T73" fmla="*/ 514 h 548"/>
              <a:gd name="T74" fmla="*/ 24 w 224"/>
              <a:gd name="T75" fmla="*/ 500 h 548"/>
              <a:gd name="T76" fmla="*/ 14 w 224"/>
              <a:gd name="T77" fmla="*/ 486 h 548"/>
              <a:gd name="T78" fmla="*/ 5 w 224"/>
              <a:gd name="T79" fmla="*/ 471 h 548"/>
              <a:gd name="T80" fmla="*/ 0 w 224"/>
              <a:gd name="T81" fmla="*/ 452 h 548"/>
              <a:gd name="T82" fmla="*/ 0 w 224"/>
              <a:gd name="T83" fmla="*/ 433 h 548"/>
              <a:gd name="T84" fmla="*/ 0 w 224"/>
              <a:gd name="T85" fmla="*/ 110 h 548"/>
              <a:gd name="T86" fmla="*/ 0 w 224"/>
              <a:gd name="T87" fmla="*/ 110 h 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24" h="548">
                <a:moveTo>
                  <a:pt x="0" y="110"/>
                </a:moveTo>
                <a:lnTo>
                  <a:pt x="0" y="91"/>
                </a:lnTo>
                <a:lnTo>
                  <a:pt x="5" y="77"/>
                </a:lnTo>
                <a:lnTo>
                  <a:pt x="14" y="57"/>
                </a:lnTo>
                <a:lnTo>
                  <a:pt x="24" y="43"/>
                </a:lnTo>
                <a:lnTo>
                  <a:pt x="33" y="29"/>
                </a:lnTo>
                <a:lnTo>
                  <a:pt x="48" y="19"/>
                </a:lnTo>
                <a:lnTo>
                  <a:pt x="62" y="10"/>
                </a:lnTo>
                <a:lnTo>
                  <a:pt x="76" y="5"/>
                </a:lnTo>
                <a:lnTo>
                  <a:pt x="95" y="0"/>
                </a:lnTo>
                <a:lnTo>
                  <a:pt x="114" y="0"/>
                </a:lnTo>
                <a:lnTo>
                  <a:pt x="133" y="0"/>
                </a:lnTo>
                <a:lnTo>
                  <a:pt x="148" y="5"/>
                </a:lnTo>
                <a:lnTo>
                  <a:pt x="167" y="10"/>
                </a:lnTo>
                <a:lnTo>
                  <a:pt x="181" y="19"/>
                </a:lnTo>
                <a:lnTo>
                  <a:pt x="195" y="29"/>
                </a:lnTo>
                <a:lnTo>
                  <a:pt x="205" y="43"/>
                </a:lnTo>
                <a:lnTo>
                  <a:pt x="214" y="57"/>
                </a:lnTo>
                <a:lnTo>
                  <a:pt x="219" y="77"/>
                </a:lnTo>
                <a:lnTo>
                  <a:pt x="224" y="91"/>
                </a:lnTo>
                <a:lnTo>
                  <a:pt x="224" y="110"/>
                </a:lnTo>
                <a:lnTo>
                  <a:pt x="224" y="433"/>
                </a:lnTo>
                <a:lnTo>
                  <a:pt x="224" y="452"/>
                </a:lnTo>
                <a:lnTo>
                  <a:pt x="219" y="471"/>
                </a:lnTo>
                <a:lnTo>
                  <a:pt x="214" y="486"/>
                </a:lnTo>
                <a:lnTo>
                  <a:pt x="205" y="500"/>
                </a:lnTo>
                <a:lnTo>
                  <a:pt x="195" y="514"/>
                </a:lnTo>
                <a:lnTo>
                  <a:pt x="181" y="524"/>
                </a:lnTo>
                <a:lnTo>
                  <a:pt x="167" y="533"/>
                </a:lnTo>
                <a:lnTo>
                  <a:pt x="148" y="543"/>
                </a:lnTo>
                <a:lnTo>
                  <a:pt x="133" y="548"/>
                </a:lnTo>
                <a:lnTo>
                  <a:pt x="114" y="548"/>
                </a:lnTo>
                <a:lnTo>
                  <a:pt x="95" y="548"/>
                </a:lnTo>
                <a:lnTo>
                  <a:pt x="76" y="543"/>
                </a:lnTo>
                <a:lnTo>
                  <a:pt x="62" y="533"/>
                </a:lnTo>
                <a:lnTo>
                  <a:pt x="48" y="524"/>
                </a:lnTo>
                <a:lnTo>
                  <a:pt x="33" y="514"/>
                </a:lnTo>
                <a:lnTo>
                  <a:pt x="24" y="500"/>
                </a:lnTo>
                <a:lnTo>
                  <a:pt x="14" y="486"/>
                </a:lnTo>
                <a:lnTo>
                  <a:pt x="5" y="471"/>
                </a:lnTo>
                <a:lnTo>
                  <a:pt x="0" y="452"/>
                </a:lnTo>
                <a:lnTo>
                  <a:pt x="0" y="433"/>
                </a:lnTo>
                <a:lnTo>
                  <a:pt x="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87" name="Freeform 11249"/>
          <p:cNvSpPr>
            <a:spLocks/>
          </p:cNvSpPr>
          <p:nvPr/>
        </p:nvSpPr>
        <p:spPr bwMode="auto">
          <a:xfrm>
            <a:off x="5294312" y="3943985"/>
            <a:ext cx="142240" cy="347980"/>
          </a:xfrm>
          <a:custGeom>
            <a:avLst/>
            <a:gdLst>
              <a:gd name="T0" fmla="*/ 0 w 224"/>
              <a:gd name="T1" fmla="*/ 110 h 548"/>
              <a:gd name="T2" fmla="*/ 0 w 224"/>
              <a:gd name="T3" fmla="*/ 91 h 548"/>
              <a:gd name="T4" fmla="*/ 5 w 224"/>
              <a:gd name="T5" fmla="*/ 77 h 548"/>
              <a:gd name="T6" fmla="*/ 14 w 224"/>
              <a:gd name="T7" fmla="*/ 57 h 548"/>
              <a:gd name="T8" fmla="*/ 24 w 224"/>
              <a:gd name="T9" fmla="*/ 43 h 548"/>
              <a:gd name="T10" fmla="*/ 33 w 224"/>
              <a:gd name="T11" fmla="*/ 29 h 548"/>
              <a:gd name="T12" fmla="*/ 48 w 224"/>
              <a:gd name="T13" fmla="*/ 19 h 548"/>
              <a:gd name="T14" fmla="*/ 62 w 224"/>
              <a:gd name="T15" fmla="*/ 10 h 548"/>
              <a:gd name="T16" fmla="*/ 76 w 224"/>
              <a:gd name="T17" fmla="*/ 5 h 548"/>
              <a:gd name="T18" fmla="*/ 95 w 224"/>
              <a:gd name="T19" fmla="*/ 0 h 548"/>
              <a:gd name="T20" fmla="*/ 114 w 224"/>
              <a:gd name="T21" fmla="*/ 0 h 548"/>
              <a:gd name="T22" fmla="*/ 133 w 224"/>
              <a:gd name="T23" fmla="*/ 0 h 548"/>
              <a:gd name="T24" fmla="*/ 148 w 224"/>
              <a:gd name="T25" fmla="*/ 5 h 548"/>
              <a:gd name="T26" fmla="*/ 167 w 224"/>
              <a:gd name="T27" fmla="*/ 10 h 548"/>
              <a:gd name="T28" fmla="*/ 181 w 224"/>
              <a:gd name="T29" fmla="*/ 19 h 548"/>
              <a:gd name="T30" fmla="*/ 195 w 224"/>
              <a:gd name="T31" fmla="*/ 29 h 548"/>
              <a:gd name="T32" fmla="*/ 205 w 224"/>
              <a:gd name="T33" fmla="*/ 43 h 548"/>
              <a:gd name="T34" fmla="*/ 214 w 224"/>
              <a:gd name="T35" fmla="*/ 57 h 548"/>
              <a:gd name="T36" fmla="*/ 219 w 224"/>
              <a:gd name="T37" fmla="*/ 77 h 548"/>
              <a:gd name="T38" fmla="*/ 224 w 224"/>
              <a:gd name="T39" fmla="*/ 91 h 548"/>
              <a:gd name="T40" fmla="*/ 224 w 224"/>
              <a:gd name="T41" fmla="*/ 110 h 548"/>
              <a:gd name="T42" fmla="*/ 224 w 224"/>
              <a:gd name="T43" fmla="*/ 433 h 548"/>
              <a:gd name="T44" fmla="*/ 224 w 224"/>
              <a:gd name="T45" fmla="*/ 452 h 548"/>
              <a:gd name="T46" fmla="*/ 219 w 224"/>
              <a:gd name="T47" fmla="*/ 471 h 548"/>
              <a:gd name="T48" fmla="*/ 214 w 224"/>
              <a:gd name="T49" fmla="*/ 486 h 548"/>
              <a:gd name="T50" fmla="*/ 205 w 224"/>
              <a:gd name="T51" fmla="*/ 500 h 548"/>
              <a:gd name="T52" fmla="*/ 195 w 224"/>
              <a:gd name="T53" fmla="*/ 514 h 548"/>
              <a:gd name="T54" fmla="*/ 181 w 224"/>
              <a:gd name="T55" fmla="*/ 524 h 548"/>
              <a:gd name="T56" fmla="*/ 167 w 224"/>
              <a:gd name="T57" fmla="*/ 533 h 548"/>
              <a:gd name="T58" fmla="*/ 148 w 224"/>
              <a:gd name="T59" fmla="*/ 543 h 548"/>
              <a:gd name="T60" fmla="*/ 133 w 224"/>
              <a:gd name="T61" fmla="*/ 548 h 548"/>
              <a:gd name="T62" fmla="*/ 114 w 224"/>
              <a:gd name="T63" fmla="*/ 548 h 548"/>
              <a:gd name="T64" fmla="*/ 95 w 224"/>
              <a:gd name="T65" fmla="*/ 548 h 548"/>
              <a:gd name="T66" fmla="*/ 76 w 224"/>
              <a:gd name="T67" fmla="*/ 543 h 548"/>
              <a:gd name="T68" fmla="*/ 62 w 224"/>
              <a:gd name="T69" fmla="*/ 533 h 548"/>
              <a:gd name="T70" fmla="*/ 48 w 224"/>
              <a:gd name="T71" fmla="*/ 524 h 548"/>
              <a:gd name="T72" fmla="*/ 33 w 224"/>
              <a:gd name="T73" fmla="*/ 514 h 548"/>
              <a:gd name="T74" fmla="*/ 24 w 224"/>
              <a:gd name="T75" fmla="*/ 500 h 548"/>
              <a:gd name="T76" fmla="*/ 14 w 224"/>
              <a:gd name="T77" fmla="*/ 486 h 548"/>
              <a:gd name="T78" fmla="*/ 5 w 224"/>
              <a:gd name="T79" fmla="*/ 471 h 548"/>
              <a:gd name="T80" fmla="*/ 0 w 224"/>
              <a:gd name="T81" fmla="*/ 452 h 548"/>
              <a:gd name="T82" fmla="*/ 0 w 224"/>
              <a:gd name="T83" fmla="*/ 433 h 548"/>
              <a:gd name="T84" fmla="*/ 0 w 224"/>
              <a:gd name="T85" fmla="*/ 110 h 548"/>
              <a:gd name="T86" fmla="*/ 0 w 224"/>
              <a:gd name="T87" fmla="*/ 110 h 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24" h="548">
                <a:moveTo>
                  <a:pt x="0" y="110"/>
                </a:moveTo>
                <a:lnTo>
                  <a:pt x="0" y="91"/>
                </a:lnTo>
                <a:lnTo>
                  <a:pt x="5" y="77"/>
                </a:lnTo>
                <a:lnTo>
                  <a:pt x="14" y="57"/>
                </a:lnTo>
                <a:lnTo>
                  <a:pt x="24" y="43"/>
                </a:lnTo>
                <a:lnTo>
                  <a:pt x="33" y="29"/>
                </a:lnTo>
                <a:lnTo>
                  <a:pt x="48" y="19"/>
                </a:lnTo>
                <a:lnTo>
                  <a:pt x="62" y="10"/>
                </a:lnTo>
                <a:lnTo>
                  <a:pt x="76" y="5"/>
                </a:lnTo>
                <a:lnTo>
                  <a:pt x="95" y="0"/>
                </a:lnTo>
                <a:lnTo>
                  <a:pt x="114" y="0"/>
                </a:lnTo>
                <a:lnTo>
                  <a:pt x="133" y="0"/>
                </a:lnTo>
                <a:lnTo>
                  <a:pt x="148" y="5"/>
                </a:lnTo>
                <a:lnTo>
                  <a:pt x="167" y="10"/>
                </a:lnTo>
                <a:lnTo>
                  <a:pt x="181" y="19"/>
                </a:lnTo>
                <a:lnTo>
                  <a:pt x="195" y="29"/>
                </a:lnTo>
                <a:lnTo>
                  <a:pt x="205" y="43"/>
                </a:lnTo>
                <a:lnTo>
                  <a:pt x="214" y="57"/>
                </a:lnTo>
                <a:lnTo>
                  <a:pt x="219" y="77"/>
                </a:lnTo>
                <a:lnTo>
                  <a:pt x="224" y="91"/>
                </a:lnTo>
                <a:lnTo>
                  <a:pt x="224" y="110"/>
                </a:lnTo>
                <a:lnTo>
                  <a:pt x="224" y="433"/>
                </a:lnTo>
                <a:lnTo>
                  <a:pt x="224" y="452"/>
                </a:lnTo>
                <a:lnTo>
                  <a:pt x="219" y="471"/>
                </a:lnTo>
                <a:lnTo>
                  <a:pt x="214" y="486"/>
                </a:lnTo>
                <a:lnTo>
                  <a:pt x="205" y="500"/>
                </a:lnTo>
                <a:lnTo>
                  <a:pt x="195" y="514"/>
                </a:lnTo>
                <a:lnTo>
                  <a:pt x="181" y="524"/>
                </a:lnTo>
                <a:lnTo>
                  <a:pt x="167" y="533"/>
                </a:lnTo>
                <a:lnTo>
                  <a:pt x="148" y="543"/>
                </a:lnTo>
                <a:lnTo>
                  <a:pt x="133" y="548"/>
                </a:lnTo>
                <a:lnTo>
                  <a:pt x="114" y="548"/>
                </a:lnTo>
                <a:lnTo>
                  <a:pt x="95" y="548"/>
                </a:lnTo>
                <a:lnTo>
                  <a:pt x="76" y="543"/>
                </a:lnTo>
                <a:lnTo>
                  <a:pt x="62" y="533"/>
                </a:lnTo>
                <a:lnTo>
                  <a:pt x="48" y="524"/>
                </a:lnTo>
                <a:lnTo>
                  <a:pt x="33" y="514"/>
                </a:lnTo>
                <a:lnTo>
                  <a:pt x="24" y="500"/>
                </a:lnTo>
                <a:lnTo>
                  <a:pt x="14" y="486"/>
                </a:lnTo>
                <a:lnTo>
                  <a:pt x="5" y="471"/>
                </a:lnTo>
                <a:lnTo>
                  <a:pt x="0" y="452"/>
                </a:lnTo>
                <a:lnTo>
                  <a:pt x="0" y="433"/>
                </a:lnTo>
                <a:lnTo>
                  <a:pt x="0" y="110"/>
                </a:lnTo>
                <a:lnTo>
                  <a:pt x="0" y="110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88" name="Rectangle 11250"/>
          <p:cNvSpPr>
            <a:spLocks noChangeArrowheads="1"/>
          </p:cNvSpPr>
          <p:nvPr/>
        </p:nvSpPr>
        <p:spPr bwMode="auto">
          <a:xfrm>
            <a:off x="5336857" y="400177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89" name="Rectangle 11251"/>
          <p:cNvSpPr>
            <a:spLocks noChangeArrowheads="1"/>
          </p:cNvSpPr>
          <p:nvPr/>
        </p:nvSpPr>
        <p:spPr bwMode="auto">
          <a:xfrm>
            <a:off x="5400357" y="400177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290" name="Rectangle 11252"/>
          <p:cNvSpPr>
            <a:spLocks noChangeArrowheads="1"/>
          </p:cNvSpPr>
          <p:nvPr/>
        </p:nvSpPr>
        <p:spPr bwMode="auto">
          <a:xfrm>
            <a:off x="5351462" y="40773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91" name="Rectangle 11253"/>
          <p:cNvSpPr>
            <a:spLocks noChangeArrowheads="1"/>
          </p:cNvSpPr>
          <p:nvPr/>
        </p:nvSpPr>
        <p:spPr bwMode="auto">
          <a:xfrm>
            <a:off x="5394007" y="407733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292" name="Rectangle 11254"/>
          <p:cNvSpPr>
            <a:spLocks noChangeArrowheads="1"/>
          </p:cNvSpPr>
          <p:nvPr/>
        </p:nvSpPr>
        <p:spPr bwMode="auto">
          <a:xfrm>
            <a:off x="5351462" y="415290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293" name="Freeform 11255"/>
          <p:cNvSpPr>
            <a:spLocks/>
          </p:cNvSpPr>
          <p:nvPr/>
        </p:nvSpPr>
        <p:spPr bwMode="auto">
          <a:xfrm>
            <a:off x="5251767" y="4043680"/>
            <a:ext cx="39370" cy="39370"/>
          </a:xfrm>
          <a:custGeom>
            <a:avLst/>
            <a:gdLst>
              <a:gd name="T0" fmla="*/ 0 w 62"/>
              <a:gd name="T1" fmla="*/ 0 h 62"/>
              <a:gd name="T2" fmla="*/ 0 w 62"/>
              <a:gd name="T3" fmla="*/ 62 h 62"/>
              <a:gd name="T4" fmla="*/ 62 w 62"/>
              <a:gd name="T5" fmla="*/ 34 h 62"/>
              <a:gd name="T6" fmla="*/ 0 w 62"/>
              <a:gd name="T7" fmla="*/ 0 h 62"/>
              <a:gd name="T8" fmla="*/ 0 w 62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0" y="62"/>
                </a:lnTo>
                <a:lnTo>
                  <a:pt x="62" y="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94" name="Freeform 11256"/>
          <p:cNvSpPr>
            <a:spLocks/>
          </p:cNvSpPr>
          <p:nvPr/>
        </p:nvSpPr>
        <p:spPr bwMode="auto">
          <a:xfrm>
            <a:off x="5258117" y="4177030"/>
            <a:ext cx="36195" cy="36195"/>
          </a:xfrm>
          <a:custGeom>
            <a:avLst/>
            <a:gdLst>
              <a:gd name="T0" fmla="*/ 0 w 57"/>
              <a:gd name="T1" fmla="*/ 0 h 57"/>
              <a:gd name="T2" fmla="*/ 0 w 57"/>
              <a:gd name="T3" fmla="*/ 57 h 57"/>
              <a:gd name="T4" fmla="*/ 57 w 57"/>
              <a:gd name="T5" fmla="*/ 28 h 57"/>
              <a:gd name="T6" fmla="*/ 0 w 57"/>
              <a:gd name="T7" fmla="*/ 0 h 57"/>
              <a:gd name="T8" fmla="*/ 0 w 57"/>
              <a:gd name="T9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57">
                <a:moveTo>
                  <a:pt x="0" y="0"/>
                </a:moveTo>
                <a:lnTo>
                  <a:pt x="0" y="57"/>
                </a:lnTo>
                <a:lnTo>
                  <a:pt x="57" y="28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95" name="Freeform 11257"/>
          <p:cNvSpPr>
            <a:spLocks/>
          </p:cNvSpPr>
          <p:nvPr/>
        </p:nvSpPr>
        <p:spPr bwMode="auto">
          <a:xfrm>
            <a:off x="4492942" y="4194810"/>
            <a:ext cx="780415" cy="278130"/>
          </a:xfrm>
          <a:custGeom>
            <a:avLst/>
            <a:gdLst>
              <a:gd name="T0" fmla="*/ 0 w 1229"/>
              <a:gd name="T1" fmla="*/ 438 h 438"/>
              <a:gd name="T2" fmla="*/ 1152 w 1229"/>
              <a:gd name="T3" fmla="*/ 438 h 438"/>
              <a:gd name="T4" fmla="*/ 1152 w 1229"/>
              <a:gd name="T5" fmla="*/ 5 h 438"/>
              <a:gd name="T6" fmla="*/ 1205 w 1229"/>
              <a:gd name="T7" fmla="*/ 0 h 438"/>
              <a:gd name="T8" fmla="*/ 1229 w 1229"/>
              <a:gd name="T9" fmla="*/ 0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9" h="438">
                <a:moveTo>
                  <a:pt x="0" y="438"/>
                </a:moveTo>
                <a:lnTo>
                  <a:pt x="1152" y="438"/>
                </a:lnTo>
                <a:lnTo>
                  <a:pt x="1152" y="5"/>
                </a:lnTo>
                <a:lnTo>
                  <a:pt x="1205" y="0"/>
                </a:lnTo>
                <a:lnTo>
                  <a:pt x="1229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96" name="Freeform 11258"/>
          <p:cNvSpPr>
            <a:spLocks/>
          </p:cNvSpPr>
          <p:nvPr/>
        </p:nvSpPr>
        <p:spPr bwMode="auto">
          <a:xfrm>
            <a:off x="5249227" y="5364480"/>
            <a:ext cx="38735" cy="39370"/>
          </a:xfrm>
          <a:custGeom>
            <a:avLst/>
            <a:gdLst>
              <a:gd name="T0" fmla="*/ 0 w 61"/>
              <a:gd name="T1" fmla="*/ 0 h 62"/>
              <a:gd name="T2" fmla="*/ 4 w 61"/>
              <a:gd name="T3" fmla="*/ 62 h 62"/>
              <a:gd name="T4" fmla="*/ 61 w 61"/>
              <a:gd name="T5" fmla="*/ 33 h 62"/>
              <a:gd name="T6" fmla="*/ 4 w 61"/>
              <a:gd name="T7" fmla="*/ 5 h 62"/>
              <a:gd name="T8" fmla="*/ 4 w 61"/>
              <a:gd name="T9" fmla="*/ 5 h 62"/>
              <a:gd name="T10" fmla="*/ 0 w 61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" h="62">
                <a:moveTo>
                  <a:pt x="0" y="0"/>
                </a:moveTo>
                <a:lnTo>
                  <a:pt x="4" y="62"/>
                </a:lnTo>
                <a:lnTo>
                  <a:pt x="61" y="33"/>
                </a:lnTo>
                <a:lnTo>
                  <a:pt x="4" y="5"/>
                </a:lnTo>
                <a:lnTo>
                  <a:pt x="4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97" name="Freeform 11259"/>
          <p:cNvSpPr>
            <a:spLocks/>
          </p:cNvSpPr>
          <p:nvPr/>
        </p:nvSpPr>
        <p:spPr bwMode="auto">
          <a:xfrm>
            <a:off x="4550727" y="4968875"/>
            <a:ext cx="39370" cy="38735"/>
          </a:xfrm>
          <a:custGeom>
            <a:avLst/>
            <a:gdLst>
              <a:gd name="T0" fmla="*/ 28 w 62"/>
              <a:gd name="T1" fmla="*/ 57 h 61"/>
              <a:gd name="T2" fmla="*/ 38 w 62"/>
              <a:gd name="T3" fmla="*/ 61 h 61"/>
              <a:gd name="T4" fmla="*/ 43 w 62"/>
              <a:gd name="T5" fmla="*/ 57 h 61"/>
              <a:gd name="T6" fmla="*/ 47 w 62"/>
              <a:gd name="T7" fmla="*/ 57 h 61"/>
              <a:gd name="T8" fmla="*/ 47 w 62"/>
              <a:gd name="T9" fmla="*/ 52 h 61"/>
              <a:gd name="T10" fmla="*/ 52 w 62"/>
              <a:gd name="T11" fmla="*/ 52 h 61"/>
              <a:gd name="T12" fmla="*/ 57 w 62"/>
              <a:gd name="T13" fmla="*/ 47 h 61"/>
              <a:gd name="T14" fmla="*/ 57 w 62"/>
              <a:gd name="T15" fmla="*/ 42 h 61"/>
              <a:gd name="T16" fmla="*/ 62 w 62"/>
              <a:gd name="T17" fmla="*/ 38 h 61"/>
              <a:gd name="T18" fmla="*/ 62 w 62"/>
              <a:gd name="T19" fmla="*/ 33 h 61"/>
              <a:gd name="T20" fmla="*/ 62 w 62"/>
              <a:gd name="T21" fmla="*/ 28 h 61"/>
              <a:gd name="T22" fmla="*/ 62 w 62"/>
              <a:gd name="T23" fmla="*/ 23 h 61"/>
              <a:gd name="T24" fmla="*/ 62 w 62"/>
              <a:gd name="T25" fmla="*/ 19 h 61"/>
              <a:gd name="T26" fmla="*/ 57 w 62"/>
              <a:gd name="T27" fmla="*/ 14 h 61"/>
              <a:gd name="T28" fmla="*/ 57 w 62"/>
              <a:gd name="T29" fmla="*/ 14 h 61"/>
              <a:gd name="T30" fmla="*/ 52 w 62"/>
              <a:gd name="T31" fmla="*/ 9 h 61"/>
              <a:gd name="T32" fmla="*/ 47 w 62"/>
              <a:gd name="T33" fmla="*/ 4 h 61"/>
              <a:gd name="T34" fmla="*/ 47 w 62"/>
              <a:gd name="T35" fmla="*/ 4 h 61"/>
              <a:gd name="T36" fmla="*/ 43 w 62"/>
              <a:gd name="T37" fmla="*/ 0 h 61"/>
              <a:gd name="T38" fmla="*/ 38 w 62"/>
              <a:gd name="T39" fmla="*/ 0 h 61"/>
              <a:gd name="T40" fmla="*/ 33 w 62"/>
              <a:gd name="T41" fmla="*/ 0 h 61"/>
              <a:gd name="T42" fmla="*/ 28 w 62"/>
              <a:gd name="T43" fmla="*/ 0 h 61"/>
              <a:gd name="T44" fmla="*/ 24 w 62"/>
              <a:gd name="T45" fmla="*/ 0 h 61"/>
              <a:gd name="T46" fmla="*/ 19 w 62"/>
              <a:gd name="T47" fmla="*/ 4 h 61"/>
              <a:gd name="T48" fmla="*/ 14 w 62"/>
              <a:gd name="T49" fmla="*/ 4 h 61"/>
              <a:gd name="T50" fmla="*/ 9 w 62"/>
              <a:gd name="T51" fmla="*/ 9 h 61"/>
              <a:gd name="T52" fmla="*/ 9 w 62"/>
              <a:gd name="T53" fmla="*/ 14 h 61"/>
              <a:gd name="T54" fmla="*/ 5 w 62"/>
              <a:gd name="T55" fmla="*/ 14 h 61"/>
              <a:gd name="T56" fmla="*/ 5 w 62"/>
              <a:gd name="T57" fmla="*/ 19 h 61"/>
              <a:gd name="T58" fmla="*/ 0 w 62"/>
              <a:gd name="T59" fmla="*/ 23 h 61"/>
              <a:gd name="T60" fmla="*/ 0 w 62"/>
              <a:gd name="T61" fmla="*/ 28 h 61"/>
              <a:gd name="T62" fmla="*/ 0 w 62"/>
              <a:gd name="T63" fmla="*/ 33 h 61"/>
              <a:gd name="T64" fmla="*/ 5 w 62"/>
              <a:gd name="T65" fmla="*/ 38 h 61"/>
              <a:gd name="T66" fmla="*/ 5 w 62"/>
              <a:gd name="T67" fmla="*/ 42 h 61"/>
              <a:gd name="T68" fmla="*/ 9 w 62"/>
              <a:gd name="T69" fmla="*/ 47 h 61"/>
              <a:gd name="T70" fmla="*/ 9 w 62"/>
              <a:gd name="T71" fmla="*/ 52 h 61"/>
              <a:gd name="T72" fmla="*/ 14 w 62"/>
              <a:gd name="T73" fmla="*/ 52 h 61"/>
              <a:gd name="T74" fmla="*/ 19 w 62"/>
              <a:gd name="T75" fmla="*/ 57 h 61"/>
              <a:gd name="T76" fmla="*/ 24 w 62"/>
              <a:gd name="T77" fmla="*/ 57 h 61"/>
              <a:gd name="T78" fmla="*/ 28 w 62"/>
              <a:gd name="T79" fmla="*/ 61 h 61"/>
              <a:gd name="T80" fmla="*/ 33 w 62"/>
              <a:gd name="T81" fmla="*/ 61 h 61"/>
              <a:gd name="T82" fmla="*/ 33 w 62"/>
              <a:gd name="T83" fmla="*/ 61 h 61"/>
              <a:gd name="T84" fmla="*/ 28 w 62"/>
              <a:gd name="T85" fmla="*/ 57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2" h="61">
                <a:moveTo>
                  <a:pt x="28" y="57"/>
                </a:moveTo>
                <a:lnTo>
                  <a:pt x="38" y="61"/>
                </a:lnTo>
                <a:lnTo>
                  <a:pt x="43" y="57"/>
                </a:lnTo>
                <a:lnTo>
                  <a:pt x="47" y="57"/>
                </a:lnTo>
                <a:lnTo>
                  <a:pt x="47" y="52"/>
                </a:lnTo>
                <a:lnTo>
                  <a:pt x="52" y="52"/>
                </a:lnTo>
                <a:lnTo>
                  <a:pt x="57" y="47"/>
                </a:lnTo>
                <a:lnTo>
                  <a:pt x="57" y="42"/>
                </a:lnTo>
                <a:lnTo>
                  <a:pt x="62" y="38"/>
                </a:lnTo>
                <a:lnTo>
                  <a:pt x="62" y="33"/>
                </a:lnTo>
                <a:lnTo>
                  <a:pt x="62" y="28"/>
                </a:lnTo>
                <a:lnTo>
                  <a:pt x="62" y="23"/>
                </a:lnTo>
                <a:lnTo>
                  <a:pt x="62" y="19"/>
                </a:lnTo>
                <a:lnTo>
                  <a:pt x="57" y="14"/>
                </a:lnTo>
                <a:lnTo>
                  <a:pt x="57" y="14"/>
                </a:lnTo>
                <a:lnTo>
                  <a:pt x="52" y="9"/>
                </a:lnTo>
                <a:lnTo>
                  <a:pt x="47" y="4"/>
                </a:lnTo>
                <a:lnTo>
                  <a:pt x="47" y="4"/>
                </a:lnTo>
                <a:lnTo>
                  <a:pt x="43" y="0"/>
                </a:lnTo>
                <a:lnTo>
                  <a:pt x="38" y="0"/>
                </a:lnTo>
                <a:lnTo>
                  <a:pt x="33" y="0"/>
                </a:lnTo>
                <a:lnTo>
                  <a:pt x="28" y="0"/>
                </a:lnTo>
                <a:lnTo>
                  <a:pt x="24" y="0"/>
                </a:lnTo>
                <a:lnTo>
                  <a:pt x="19" y="4"/>
                </a:lnTo>
                <a:lnTo>
                  <a:pt x="14" y="4"/>
                </a:lnTo>
                <a:lnTo>
                  <a:pt x="9" y="9"/>
                </a:lnTo>
                <a:lnTo>
                  <a:pt x="9" y="14"/>
                </a:lnTo>
                <a:lnTo>
                  <a:pt x="5" y="14"/>
                </a:lnTo>
                <a:lnTo>
                  <a:pt x="5" y="19"/>
                </a:lnTo>
                <a:lnTo>
                  <a:pt x="0" y="23"/>
                </a:lnTo>
                <a:lnTo>
                  <a:pt x="0" y="28"/>
                </a:lnTo>
                <a:lnTo>
                  <a:pt x="0" y="33"/>
                </a:lnTo>
                <a:lnTo>
                  <a:pt x="5" y="38"/>
                </a:lnTo>
                <a:lnTo>
                  <a:pt x="5" y="42"/>
                </a:lnTo>
                <a:lnTo>
                  <a:pt x="9" y="47"/>
                </a:lnTo>
                <a:lnTo>
                  <a:pt x="9" y="52"/>
                </a:lnTo>
                <a:lnTo>
                  <a:pt x="14" y="52"/>
                </a:lnTo>
                <a:lnTo>
                  <a:pt x="19" y="57"/>
                </a:lnTo>
                <a:lnTo>
                  <a:pt x="24" y="57"/>
                </a:lnTo>
                <a:lnTo>
                  <a:pt x="28" y="61"/>
                </a:lnTo>
                <a:lnTo>
                  <a:pt x="33" y="61"/>
                </a:lnTo>
                <a:lnTo>
                  <a:pt x="33" y="61"/>
                </a:lnTo>
                <a:lnTo>
                  <a:pt x="28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98" name="Freeform 11260"/>
          <p:cNvSpPr>
            <a:spLocks/>
          </p:cNvSpPr>
          <p:nvPr/>
        </p:nvSpPr>
        <p:spPr bwMode="auto">
          <a:xfrm>
            <a:off x="5239702" y="5304155"/>
            <a:ext cx="39370" cy="39370"/>
          </a:xfrm>
          <a:custGeom>
            <a:avLst/>
            <a:gdLst>
              <a:gd name="T0" fmla="*/ 0 w 62"/>
              <a:gd name="T1" fmla="*/ 0 h 62"/>
              <a:gd name="T2" fmla="*/ 5 w 62"/>
              <a:gd name="T3" fmla="*/ 62 h 62"/>
              <a:gd name="T4" fmla="*/ 62 w 62"/>
              <a:gd name="T5" fmla="*/ 33 h 62"/>
              <a:gd name="T6" fmla="*/ 5 w 62"/>
              <a:gd name="T7" fmla="*/ 5 h 62"/>
              <a:gd name="T8" fmla="*/ 5 w 62"/>
              <a:gd name="T9" fmla="*/ 5 h 62"/>
              <a:gd name="T10" fmla="*/ 0 w 62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2">
                <a:moveTo>
                  <a:pt x="0" y="0"/>
                </a:moveTo>
                <a:lnTo>
                  <a:pt x="5" y="62"/>
                </a:lnTo>
                <a:lnTo>
                  <a:pt x="62" y="33"/>
                </a:lnTo>
                <a:lnTo>
                  <a:pt x="5" y="5"/>
                </a:lnTo>
                <a:lnTo>
                  <a:pt x="5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299" name="Freeform 11261"/>
          <p:cNvSpPr>
            <a:spLocks/>
          </p:cNvSpPr>
          <p:nvPr/>
        </p:nvSpPr>
        <p:spPr bwMode="auto">
          <a:xfrm>
            <a:off x="4487227" y="4874895"/>
            <a:ext cx="770890" cy="510540"/>
          </a:xfrm>
          <a:custGeom>
            <a:avLst/>
            <a:gdLst>
              <a:gd name="T0" fmla="*/ 1214 w 1214"/>
              <a:gd name="T1" fmla="*/ 800 h 804"/>
              <a:gd name="T2" fmla="*/ 247 w 1214"/>
              <a:gd name="T3" fmla="*/ 804 h 804"/>
              <a:gd name="T4" fmla="*/ 247 w 1214"/>
              <a:gd name="T5" fmla="*/ 0 h 804"/>
              <a:gd name="T6" fmla="*/ 0 w 1214"/>
              <a:gd name="T7" fmla="*/ 0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14" h="804">
                <a:moveTo>
                  <a:pt x="1214" y="800"/>
                </a:moveTo>
                <a:lnTo>
                  <a:pt x="247" y="804"/>
                </a:lnTo>
                <a:lnTo>
                  <a:pt x="247" y="0"/>
                </a:lnTo>
                <a:lnTo>
                  <a:pt x="0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300" name="Line 11262"/>
          <p:cNvCxnSpPr/>
          <p:nvPr/>
        </p:nvCxnSpPr>
        <p:spPr bwMode="auto">
          <a:xfrm>
            <a:off x="4484052" y="5098415"/>
            <a:ext cx="465455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1" name="Line 11263"/>
          <p:cNvCxnSpPr/>
          <p:nvPr/>
        </p:nvCxnSpPr>
        <p:spPr bwMode="auto">
          <a:xfrm>
            <a:off x="4490402" y="4983480"/>
            <a:ext cx="462280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2" name="Freeform 11264"/>
          <p:cNvSpPr>
            <a:spLocks/>
          </p:cNvSpPr>
          <p:nvPr/>
        </p:nvSpPr>
        <p:spPr bwMode="auto">
          <a:xfrm>
            <a:off x="4484052" y="4759960"/>
            <a:ext cx="770890" cy="565150"/>
          </a:xfrm>
          <a:custGeom>
            <a:avLst/>
            <a:gdLst>
              <a:gd name="T0" fmla="*/ 0 w 1214"/>
              <a:gd name="T1" fmla="*/ 0 h 890"/>
              <a:gd name="T2" fmla="*/ 348 w 1214"/>
              <a:gd name="T3" fmla="*/ 5 h 890"/>
              <a:gd name="T4" fmla="*/ 348 w 1214"/>
              <a:gd name="T5" fmla="*/ 890 h 890"/>
              <a:gd name="T6" fmla="*/ 1214 w 1214"/>
              <a:gd name="T7" fmla="*/ 890 h 8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14" h="890">
                <a:moveTo>
                  <a:pt x="0" y="0"/>
                </a:moveTo>
                <a:lnTo>
                  <a:pt x="348" y="5"/>
                </a:lnTo>
                <a:lnTo>
                  <a:pt x="348" y="890"/>
                </a:lnTo>
                <a:lnTo>
                  <a:pt x="1214" y="89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303" name="Line 11265"/>
          <p:cNvCxnSpPr/>
          <p:nvPr/>
        </p:nvCxnSpPr>
        <p:spPr bwMode="auto">
          <a:xfrm>
            <a:off x="5124767" y="5032375"/>
            <a:ext cx="73787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4" name="Freeform 11266"/>
          <p:cNvSpPr>
            <a:spLocks/>
          </p:cNvSpPr>
          <p:nvPr/>
        </p:nvSpPr>
        <p:spPr bwMode="auto">
          <a:xfrm>
            <a:off x="4795202" y="2977515"/>
            <a:ext cx="339090" cy="223520"/>
          </a:xfrm>
          <a:custGeom>
            <a:avLst/>
            <a:gdLst>
              <a:gd name="T0" fmla="*/ 534 w 534"/>
              <a:gd name="T1" fmla="*/ 347 h 352"/>
              <a:gd name="T2" fmla="*/ 534 w 534"/>
              <a:gd name="T3" fmla="*/ 0 h 352"/>
              <a:gd name="T4" fmla="*/ 0 w 534"/>
              <a:gd name="T5" fmla="*/ 0 h 352"/>
              <a:gd name="T6" fmla="*/ 0 w 534"/>
              <a:gd name="T7" fmla="*/ 352 h 352"/>
              <a:gd name="T8" fmla="*/ 534 w 534"/>
              <a:gd name="T9" fmla="*/ 352 h 352"/>
              <a:gd name="T10" fmla="*/ 534 w 534"/>
              <a:gd name="T11" fmla="*/ 352 h 352"/>
              <a:gd name="T12" fmla="*/ 534 w 534"/>
              <a:gd name="T13" fmla="*/ 347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34" h="352">
                <a:moveTo>
                  <a:pt x="534" y="347"/>
                </a:moveTo>
                <a:lnTo>
                  <a:pt x="534" y="0"/>
                </a:lnTo>
                <a:lnTo>
                  <a:pt x="0" y="0"/>
                </a:lnTo>
                <a:lnTo>
                  <a:pt x="0" y="352"/>
                </a:lnTo>
                <a:lnTo>
                  <a:pt x="534" y="352"/>
                </a:lnTo>
                <a:lnTo>
                  <a:pt x="534" y="352"/>
                </a:lnTo>
                <a:lnTo>
                  <a:pt x="534" y="3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05" name="Rectangle 11267"/>
          <p:cNvSpPr>
            <a:spLocks noChangeArrowheads="1"/>
          </p:cNvSpPr>
          <p:nvPr/>
        </p:nvSpPr>
        <p:spPr bwMode="auto">
          <a:xfrm>
            <a:off x="5067617" y="300164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cxnSp>
        <p:nvCxnSpPr>
          <p:cNvPr id="306" name="Line 11268"/>
          <p:cNvCxnSpPr/>
          <p:nvPr/>
        </p:nvCxnSpPr>
        <p:spPr bwMode="auto">
          <a:xfrm flipH="1">
            <a:off x="1956752" y="2239645"/>
            <a:ext cx="81915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" name="Freeform 11269"/>
          <p:cNvSpPr>
            <a:spLocks/>
          </p:cNvSpPr>
          <p:nvPr/>
        </p:nvSpPr>
        <p:spPr bwMode="auto">
          <a:xfrm>
            <a:off x="2026602" y="2221865"/>
            <a:ext cx="36195" cy="39370"/>
          </a:xfrm>
          <a:custGeom>
            <a:avLst/>
            <a:gdLst>
              <a:gd name="T0" fmla="*/ 0 w 57"/>
              <a:gd name="T1" fmla="*/ 0 h 62"/>
              <a:gd name="T2" fmla="*/ 0 w 57"/>
              <a:gd name="T3" fmla="*/ 62 h 62"/>
              <a:gd name="T4" fmla="*/ 57 w 57"/>
              <a:gd name="T5" fmla="*/ 33 h 62"/>
              <a:gd name="T6" fmla="*/ 0 w 57"/>
              <a:gd name="T7" fmla="*/ 5 h 62"/>
              <a:gd name="T8" fmla="*/ 0 w 57"/>
              <a:gd name="T9" fmla="*/ 5 h 62"/>
              <a:gd name="T10" fmla="*/ 0 w 57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2">
                <a:moveTo>
                  <a:pt x="0" y="0"/>
                </a:moveTo>
                <a:lnTo>
                  <a:pt x="0" y="62"/>
                </a:lnTo>
                <a:lnTo>
                  <a:pt x="57" y="33"/>
                </a:lnTo>
                <a:lnTo>
                  <a:pt x="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08" name="Freeform 11270"/>
          <p:cNvSpPr>
            <a:spLocks/>
          </p:cNvSpPr>
          <p:nvPr/>
        </p:nvSpPr>
        <p:spPr bwMode="auto">
          <a:xfrm>
            <a:off x="3967162" y="2022475"/>
            <a:ext cx="193675" cy="271780"/>
          </a:xfrm>
          <a:custGeom>
            <a:avLst/>
            <a:gdLst>
              <a:gd name="T0" fmla="*/ 148 w 305"/>
              <a:gd name="T1" fmla="*/ 38 h 428"/>
              <a:gd name="T2" fmla="*/ 129 w 305"/>
              <a:gd name="T3" fmla="*/ 43 h 428"/>
              <a:gd name="T4" fmla="*/ 114 w 305"/>
              <a:gd name="T5" fmla="*/ 38 h 428"/>
              <a:gd name="T6" fmla="*/ 95 w 305"/>
              <a:gd name="T7" fmla="*/ 38 h 428"/>
              <a:gd name="T8" fmla="*/ 86 w 305"/>
              <a:gd name="T9" fmla="*/ 38 h 428"/>
              <a:gd name="T10" fmla="*/ 71 w 305"/>
              <a:gd name="T11" fmla="*/ 33 h 428"/>
              <a:gd name="T12" fmla="*/ 57 w 305"/>
              <a:gd name="T13" fmla="*/ 28 h 428"/>
              <a:gd name="T14" fmla="*/ 48 w 305"/>
              <a:gd name="T15" fmla="*/ 24 h 428"/>
              <a:gd name="T16" fmla="*/ 33 w 305"/>
              <a:gd name="T17" fmla="*/ 19 h 428"/>
              <a:gd name="T18" fmla="*/ 19 w 305"/>
              <a:gd name="T19" fmla="*/ 9 h 428"/>
              <a:gd name="T20" fmla="*/ 0 w 305"/>
              <a:gd name="T21" fmla="*/ 0 h 428"/>
              <a:gd name="T22" fmla="*/ 0 w 305"/>
              <a:gd name="T23" fmla="*/ 5 h 428"/>
              <a:gd name="T24" fmla="*/ 0 w 305"/>
              <a:gd name="T25" fmla="*/ 24 h 428"/>
              <a:gd name="T26" fmla="*/ 0 w 305"/>
              <a:gd name="T27" fmla="*/ 47 h 428"/>
              <a:gd name="T28" fmla="*/ 0 w 305"/>
              <a:gd name="T29" fmla="*/ 76 h 428"/>
              <a:gd name="T30" fmla="*/ 0 w 305"/>
              <a:gd name="T31" fmla="*/ 109 h 428"/>
              <a:gd name="T32" fmla="*/ 0 w 305"/>
              <a:gd name="T33" fmla="*/ 147 h 428"/>
              <a:gd name="T34" fmla="*/ 0 w 305"/>
              <a:gd name="T35" fmla="*/ 181 h 428"/>
              <a:gd name="T36" fmla="*/ 5 w 305"/>
              <a:gd name="T37" fmla="*/ 214 h 428"/>
              <a:gd name="T38" fmla="*/ 5 w 305"/>
              <a:gd name="T39" fmla="*/ 238 h 428"/>
              <a:gd name="T40" fmla="*/ 10 w 305"/>
              <a:gd name="T41" fmla="*/ 257 h 428"/>
              <a:gd name="T42" fmla="*/ 19 w 305"/>
              <a:gd name="T43" fmla="*/ 285 h 428"/>
              <a:gd name="T44" fmla="*/ 29 w 305"/>
              <a:gd name="T45" fmla="*/ 314 h 428"/>
              <a:gd name="T46" fmla="*/ 48 w 305"/>
              <a:gd name="T47" fmla="*/ 338 h 428"/>
              <a:gd name="T48" fmla="*/ 62 w 305"/>
              <a:gd name="T49" fmla="*/ 357 h 428"/>
              <a:gd name="T50" fmla="*/ 76 w 305"/>
              <a:gd name="T51" fmla="*/ 376 h 428"/>
              <a:gd name="T52" fmla="*/ 95 w 305"/>
              <a:gd name="T53" fmla="*/ 390 h 428"/>
              <a:gd name="T54" fmla="*/ 110 w 305"/>
              <a:gd name="T55" fmla="*/ 404 h 428"/>
              <a:gd name="T56" fmla="*/ 129 w 305"/>
              <a:gd name="T57" fmla="*/ 414 h 428"/>
              <a:gd name="T58" fmla="*/ 143 w 305"/>
              <a:gd name="T59" fmla="*/ 423 h 428"/>
              <a:gd name="T60" fmla="*/ 152 w 305"/>
              <a:gd name="T61" fmla="*/ 428 h 428"/>
              <a:gd name="T62" fmla="*/ 167 w 305"/>
              <a:gd name="T63" fmla="*/ 423 h 428"/>
              <a:gd name="T64" fmla="*/ 181 w 305"/>
              <a:gd name="T65" fmla="*/ 414 h 428"/>
              <a:gd name="T66" fmla="*/ 195 w 305"/>
              <a:gd name="T67" fmla="*/ 404 h 428"/>
              <a:gd name="T68" fmla="*/ 214 w 305"/>
              <a:gd name="T69" fmla="*/ 390 h 428"/>
              <a:gd name="T70" fmla="*/ 229 w 305"/>
              <a:gd name="T71" fmla="*/ 376 h 428"/>
              <a:gd name="T72" fmla="*/ 248 w 305"/>
              <a:gd name="T73" fmla="*/ 357 h 428"/>
              <a:gd name="T74" fmla="*/ 262 w 305"/>
              <a:gd name="T75" fmla="*/ 338 h 428"/>
              <a:gd name="T76" fmla="*/ 276 w 305"/>
              <a:gd name="T77" fmla="*/ 314 h 428"/>
              <a:gd name="T78" fmla="*/ 290 w 305"/>
              <a:gd name="T79" fmla="*/ 285 h 428"/>
              <a:gd name="T80" fmla="*/ 300 w 305"/>
              <a:gd name="T81" fmla="*/ 257 h 428"/>
              <a:gd name="T82" fmla="*/ 300 w 305"/>
              <a:gd name="T83" fmla="*/ 238 h 428"/>
              <a:gd name="T84" fmla="*/ 305 w 305"/>
              <a:gd name="T85" fmla="*/ 214 h 428"/>
              <a:gd name="T86" fmla="*/ 305 w 305"/>
              <a:gd name="T87" fmla="*/ 181 h 428"/>
              <a:gd name="T88" fmla="*/ 305 w 305"/>
              <a:gd name="T89" fmla="*/ 147 h 428"/>
              <a:gd name="T90" fmla="*/ 305 w 305"/>
              <a:gd name="T91" fmla="*/ 109 h 428"/>
              <a:gd name="T92" fmla="*/ 305 w 305"/>
              <a:gd name="T93" fmla="*/ 76 h 428"/>
              <a:gd name="T94" fmla="*/ 305 w 305"/>
              <a:gd name="T95" fmla="*/ 47 h 428"/>
              <a:gd name="T96" fmla="*/ 305 w 305"/>
              <a:gd name="T97" fmla="*/ 24 h 428"/>
              <a:gd name="T98" fmla="*/ 305 w 305"/>
              <a:gd name="T99" fmla="*/ 5 h 428"/>
              <a:gd name="T100" fmla="*/ 305 w 305"/>
              <a:gd name="T101" fmla="*/ 0 h 428"/>
              <a:gd name="T102" fmla="*/ 290 w 305"/>
              <a:gd name="T103" fmla="*/ 9 h 428"/>
              <a:gd name="T104" fmla="*/ 271 w 305"/>
              <a:gd name="T105" fmla="*/ 19 h 428"/>
              <a:gd name="T106" fmla="*/ 257 w 305"/>
              <a:gd name="T107" fmla="*/ 24 h 428"/>
              <a:gd name="T108" fmla="*/ 243 w 305"/>
              <a:gd name="T109" fmla="*/ 28 h 428"/>
              <a:gd name="T110" fmla="*/ 233 w 305"/>
              <a:gd name="T111" fmla="*/ 33 h 428"/>
              <a:gd name="T112" fmla="*/ 219 w 305"/>
              <a:gd name="T113" fmla="*/ 38 h 428"/>
              <a:gd name="T114" fmla="*/ 205 w 305"/>
              <a:gd name="T115" fmla="*/ 38 h 428"/>
              <a:gd name="T116" fmla="*/ 186 w 305"/>
              <a:gd name="T117" fmla="*/ 38 h 428"/>
              <a:gd name="T118" fmla="*/ 171 w 305"/>
              <a:gd name="T119" fmla="*/ 43 h 428"/>
              <a:gd name="T120" fmla="*/ 148 w 305"/>
              <a:gd name="T121" fmla="*/ 43 h 428"/>
              <a:gd name="T122" fmla="*/ 148 w 305"/>
              <a:gd name="T123" fmla="*/ 43 h 428"/>
              <a:gd name="T124" fmla="*/ 148 w 305"/>
              <a:gd name="T125" fmla="*/ 38 h 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05" h="428">
                <a:moveTo>
                  <a:pt x="148" y="38"/>
                </a:moveTo>
                <a:lnTo>
                  <a:pt x="129" y="43"/>
                </a:lnTo>
                <a:lnTo>
                  <a:pt x="114" y="38"/>
                </a:lnTo>
                <a:lnTo>
                  <a:pt x="95" y="38"/>
                </a:lnTo>
                <a:lnTo>
                  <a:pt x="86" y="38"/>
                </a:lnTo>
                <a:lnTo>
                  <a:pt x="71" y="33"/>
                </a:lnTo>
                <a:lnTo>
                  <a:pt x="57" y="28"/>
                </a:lnTo>
                <a:lnTo>
                  <a:pt x="48" y="24"/>
                </a:lnTo>
                <a:lnTo>
                  <a:pt x="33" y="19"/>
                </a:lnTo>
                <a:lnTo>
                  <a:pt x="19" y="9"/>
                </a:lnTo>
                <a:lnTo>
                  <a:pt x="0" y="0"/>
                </a:lnTo>
                <a:lnTo>
                  <a:pt x="0" y="5"/>
                </a:lnTo>
                <a:lnTo>
                  <a:pt x="0" y="24"/>
                </a:lnTo>
                <a:lnTo>
                  <a:pt x="0" y="47"/>
                </a:lnTo>
                <a:lnTo>
                  <a:pt x="0" y="76"/>
                </a:lnTo>
                <a:lnTo>
                  <a:pt x="0" y="109"/>
                </a:lnTo>
                <a:lnTo>
                  <a:pt x="0" y="147"/>
                </a:lnTo>
                <a:lnTo>
                  <a:pt x="0" y="181"/>
                </a:lnTo>
                <a:lnTo>
                  <a:pt x="5" y="214"/>
                </a:lnTo>
                <a:lnTo>
                  <a:pt x="5" y="238"/>
                </a:lnTo>
                <a:lnTo>
                  <a:pt x="10" y="257"/>
                </a:lnTo>
                <a:lnTo>
                  <a:pt x="19" y="285"/>
                </a:lnTo>
                <a:lnTo>
                  <a:pt x="29" y="314"/>
                </a:lnTo>
                <a:lnTo>
                  <a:pt x="48" y="338"/>
                </a:lnTo>
                <a:lnTo>
                  <a:pt x="62" y="357"/>
                </a:lnTo>
                <a:lnTo>
                  <a:pt x="76" y="376"/>
                </a:lnTo>
                <a:lnTo>
                  <a:pt x="95" y="390"/>
                </a:lnTo>
                <a:lnTo>
                  <a:pt x="110" y="404"/>
                </a:lnTo>
                <a:lnTo>
                  <a:pt x="129" y="414"/>
                </a:lnTo>
                <a:lnTo>
                  <a:pt x="143" y="423"/>
                </a:lnTo>
                <a:lnTo>
                  <a:pt x="152" y="428"/>
                </a:lnTo>
                <a:lnTo>
                  <a:pt x="167" y="423"/>
                </a:lnTo>
                <a:lnTo>
                  <a:pt x="181" y="414"/>
                </a:lnTo>
                <a:lnTo>
                  <a:pt x="195" y="404"/>
                </a:lnTo>
                <a:lnTo>
                  <a:pt x="214" y="390"/>
                </a:lnTo>
                <a:lnTo>
                  <a:pt x="229" y="376"/>
                </a:lnTo>
                <a:lnTo>
                  <a:pt x="248" y="357"/>
                </a:lnTo>
                <a:lnTo>
                  <a:pt x="262" y="338"/>
                </a:lnTo>
                <a:lnTo>
                  <a:pt x="276" y="314"/>
                </a:lnTo>
                <a:lnTo>
                  <a:pt x="290" y="285"/>
                </a:lnTo>
                <a:lnTo>
                  <a:pt x="300" y="257"/>
                </a:lnTo>
                <a:lnTo>
                  <a:pt x="300" y="238"/>
                </a:lnTo>
                <a:lnTo>
                  <a:pt x="305" y="214"/>
                </a:lnTo>
                <a:lnTo>
                  <a:pt x="305" y="181"/>
                </a:lnTo>
                <a:lnTo>
                  <a:pt x="305" y="147"/>
                </a:lnTo>
                <a:lnTo>
                  <a:pt x="305" y="109"/>
                </a:lnTo>
                <a:lnTo>
                  <a:pt x="305" y="76"/>
                </a:lnTo>
                <a:lnTo>
                  <a:pt x="305" y="47"/>
                </a:lnTo>
                <a:lnTo>
                  <a:pt x="305" y="24"/>
                </a:lnTo>
                <a:lnTo>
                  <a:pt x="305" y="5"/>
                </a:lnTo>
                <a:lnTo>
                  <a:pt x="305" y="0"/>
                </a:lnTo>
                <a:lnTo>
                  <a:pt x="290" y="9"/>
                </a:lnTo>
                <a:lnTo>
                  <a:pt x="271" y="19"/>
                </a:lnTo>
                <a:lnTo>
                  <a:pt x="257" y="24"/>
                </a:lnTo>
                <a:lnTo>
                  <a:pt x="243" y="28"/>
                </a:lnTo>
                <a:lnTo>
                  <a:pt x="233" y="33"/>
                </a:lnTo>
                <a:lnTo>
                  <a:pt x="219" y="38"/>
                </a:lnTo>
                <a:lnTo>
                  <a:pt x="205" y="38"/>
                </a:lnTo>
                <a:lnTo>
                  <a:pt x="186" y="38"/>
                </a:lnTo>
                <a:lnTo>
                  <a:pt x="171" y="43"/>
                </a:lnTo>
                <a:lnTo>
                  <a:pt x="148" y="43"/>
                </a:lnTo>
                <a:lnTo>
                  <a:pt x="148" y="43"/>
                </a:lnTo>
                <a:lnTo>
                  <a:pt x="148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09" name="Rectangle 11271"/>
          <p:cNvSpPr>
            <a:spLocks noChangeArrowheads="1"/>
          </p:cNvSpPr>
          <p:nvPr/>
        </p:nvSpPr>
        <p:spPr bwMode="auto">
          <a:xfrm>
            <a:off x="5587682" y="249428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10" name="Rectangle 11272"/>
          <p:cNvSpPr>
            <a:spLocks noChangeArrowheads="1"/>
          </p:cNvSpPr>
          <p:nvPr/>
        </p:nvSpPr>
        <p:spPr bwMode="auto">
          <a:xfrm>
            <a:off x="5578157" y="256984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11" name="Rectangle 11273"/>
          <p:cNvSpPr>
            <a:spLocks noChangeArrowheads="1"/>
          </p:cNvSpPr>
          <p:nvPr/>
        </p:nvSpPr>
        <p:spPr bwMode="auto">
          <a:xfrm>
            <a:off x="5336857" y="215836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12" name="Rectangle 11274"/>
          <p:cNvSpPr>
            <a:spLocks noChangeArrowheads="1"/>
          </p:cNvSpPr>
          <p:nvPr/>
        </p:nvSpPr>
        <p:spPr bwMode="auto">
          <a:xfrm>
            <a:off x="5327332" y="223393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13" name="Freeform 11275"/>
          <p:cNvSpPr>
            <a:spLocks/>
          </p:cNvSpPr>
          <p:nvPr/>
        </p:nvSpPr>
        <p:spPr bwMode="auto">
          <a:xfrm>
            <a:off x="3949382" y="2732405"/>
            <a:ext cx="38735" cy="39370"/>
          </a:xfrm>
          <a:custGeom>
            <a:avLst/>
            <a:gdLst>
              <a:gd name="T0" fmla="*/ 0 w 61"/>
              <a:gd name="T1" fmla="*/ 0 h 62"/>
              <a:gd name="T2" fmla="*/ 4 w 61"/>
              <a:gd name="T3" fmla="*/ 62 h 62"/>
              <a:gd name="T4" fmla="*/ 61 w 61"/>
              <a:gd name="T5" fmla="*/ 33 h 62"/>
              <a:gd name="T6" fmla="*/ 4 w 61"/>
              <a:gd name="T7" fmla="*/ 5 h 62"/>
              <a:gd name="T8" fmla="*/ 4 w 61"/>
              <a:gd name="T9" fmla="*/ 5 h 62"/>
              <a:gd name="T10" fmla="*/ 0 w 61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" h="62">
                <a:moveTo>
                  <a:pt x="0" y="0"/>
                </a:moveTo>
                <a:lnTo>
                  <a:pt x="4" y="62"/>
                </a:lnTo>
                <a:lnTo>
                  <a:pt x="61" y="33"/>
                </a:lnTo>
                <a:lnTo>
                  <a:pt x="4" y="5"/>
                </a:lnTo>
                <a:lnTo>
                  <a:pt x="4" y="5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14" name="Freeform 11276"/>
          <p:cNvSpPr>
            <a:spLocks/>
          </p:cNvSpPr>
          <p:nvPr/>
        </p:nvSpPr>
        <p:spPr bwMode="auto">
          <a:xfrm>
            <a:off x="3994467" y="2406015"/>
            <a:ext cx="139065" cy="417195"/>
          </a:xfrm>
          <a:custGeom>
            <a:avLst/>
            <a:gdLst>
              <a:gd name="T0" fmla="*/ 0 w 219"/>
              <a:gd name="T1" fmla="*/ 105 h 657"/>
              <a:gd name="T2" fmla="*/ 0 w 219"/>
              <a:gd name="T3" fmla="*/ 91 h 657"/>
              <a:gd name="T4" fmla="*/ 5 w 219"/>
              <a:gd name="T5" fmla="*/ 72 h 657"/>
              <a:gd name="T6" fmla="*/ 14 w 219"/>
              <a:gd name="T7" fmla="*/ 57 h 657"/>
              <a:gd name="T8" fmla="*/ 24 w 219"/>
              <a:gd name="T9" fmla="*/ 43 h 657"/>
              <a:gd name="T10" fmla="*/ 33 w 219"/>
              <a:gd name="T11" fmla="*/ 29 h 657"/>
              <a:gd name="T12" fmla="*/ 48 w 219"/>
              <a:gd name="T13" fmla="*/ 19 h 657"/>
              <a:gd name="T14" fmla="*/ 62 w 219"/>
              <a:gd name="T15" fmla="*/ 10 h 657"/>
              <a:gd name="T16" fmla="*/ 76 w 219"/>
              <a:gd name="T17" fmla="*/ 5 h 657"/>
              <a:gd name="T18" fmla="*/ 90 w 219"/>
              <a:gd name="T19" fmla="*/ 0 h 657"/>
              <a:gd name="T20" fmla="*/ 109 w 219"/>
              <a:gd name="T21" fmla="*/ 0 h 657"/>
              <a:gd name="T22" fmla="*/ 128 w 219"/>
              <a:gd name="T23" fmla="*/ 0 h 657"/>
              <a:gd name="T24" fmla="*/ 143 w 219"/>
              <a:gd name="T25" fmla="*/ 5 h 657"/>
              <a:gd name="T26" fmla="*/ 162 w 219"/>
              <a:gd name="T27" fmla="*/ 10 h 657"/>
              <a:gd name="T28" fmla="*/ 176 w 219"/>
              <a:gd name="T29" fmla="*/ 19 h 657"/>
              <a:gd name="T30" fmla="*/ 186 w 219"/>
              <a:gd name="T31" fmla="*/ 29 h 657"/>
              <a:gd name="T32" fmla="*/ 200 w 219"/>
              <a:gd name="T33" fmla="*/ 43 h 657"/>
              <a:gd name="T34" fmla="*/ 209 w 219"/>
              <a:gd name="T35" fmla="*/ 57 h 657"/>
              <a:gd name="T36" fmla="*/ 214 w 219"/>
              <a:gd name="T37" fmla="*/ 72 h 657"/>
              <a:gd name="T38" fmla="*/ 219 w 219"/>
              <a:gd name="T39" fmla="*/ 91 h 657"/>
              <a:gd name="T40" fmla="*/ 219 w 219"/>
              <a:gd name="T41" fmla="*/ 110 h 657"/>
              <a:gd name="T42" fmla="*/ 219 w 219"/>
              <a:gd name="T43" fmla="*/ 547 h 657"/>
              <a:gd name="T44" fmla="*/ 219 w 219"/>
              <a:gd name="T45" fmla="*/ 566 h 657"/>
              <a:gd name="T46" fmla="*/ 214 w 219"/>
              <a:gd name="T47" fmla="*/ 581 h 657"/>
              <a:gd name="T48" fmla="*/ 209 w 219"/>
              <a:gd name="T49" fmla="*/ 595 h 657"/>
              <a:gd name="T50" fmla="*/ 200 w 219"/>
              <a:gd name="T51" fmla="*/ 609 h 657"/>
              <a:gd name="T52" fmla="*/ 186 w 219"/>
              <a:gd name="T53" fmla="*/ 624 h 657"/>
              <a:gd name="T54" fmla="*/ 176 w 219"/>
              <a:gd name="T55" fmla="*/ 633 h 657"/>
              <a:gd name="T56" fmla="*/ 162 w 219"/>
              <a:gd name="T57" fmla="*/ 643 h 657"/>
              <a:gd name="T58" fmla="*/ 143 w 219"/>
              <a:gd name="T59" fmla="*/ 652 h 657"/>
              <a:gd name="T60" fmla="*/ 128 w 219"/>
              <a:gd name="T61" fmla="*/ 657 h 657"/>
              <a:gd name="T62" fmla="*/ 109 w 219"/>
              <a:gd name="T63" fmla="*/ 657 h 657"/>
              <a:gd name="T64" fmla="*/ 90 w 219"/>
              <a:gd name="T65" fmla="*/ 657 h 657"/>
              <a:gd name="T66" fmla="*/ 76 w 219"/>
              <a:gd name="T67" fmla="*/ 652 h 657"/>
              <a:gd name="T68" fmla="*/ 62 w 219"/>
              <a:gd name="T69" fmla="*/ 643 h 657"/>
              <a:gd name="T70" fmla="*/ 48 w 219"/>
              <a:gd name="T71" fmla="*/ 633 h 657"/>
              <a:gd name="T72" fmla="*/ 33 w 219"/>
              <a:gd name="T73" fmla="*/ 624 h 657"/>
              <a:gd name="T74" fmla="*/ 24 w 219"/>
              <a:gd name="T75" fmla="*/ 609 h 657"/>
              <a:gd name="T76" fmla="*/ 14 w 219"/>
              <a:gd name="T77" fmla="*/ 595 h 657"/>
              <a:gd name="T78" fmla="*/ 5 w 219"/>
              <a:gd name="T79" fmla="*/ 581 h 657"/>
              <a:gd name="T80" fmla="*/ 0 w 219"/>
              <a:gd name="T81" fmla="*/ 566 h 657"/>
              <a:gd name="T82" fmla="*/ 0 w 219"/>
              <a:gd name="T83" fmla="*/ 547 h 657"/>
              <a:gd name="T84" fmla="*/ 0 w 219"/>
              <a:gd name="T85" fmla="*/ 110 h 657"/>
              <a:gd name="T86" fmla="*/ 0 w 219"/>
              <a:gd name="T87" fmla="*/ 110 h 657"/>
              <a:gd name="T88" fmla="*/ 0 w 219"/>
              <a:gd name="T89" fmla="*/ 105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9" h="657">
                <a:moveTo>
                  <a:pt x="0" y="105"/>
                </a:moveTo>
                <a:lnTo>
                  <a:pt x="0" y="91"/>
                </a:lnTo>
                <a:lnTo>
                  <a:pt x="5" y="72"/>
                </a:lnTo>
                <a:lnTo>
                  <a:pt x="14" y="57"/>
                </a:lnTo>
                <a:lnTo>
                  <a:pt x="24" y="43"/>
                </a:lnTo>
                <a:lnTo>
                  <a:pt x="33" y="29"/>
                </a:lnTo>
                <a:lnTo>
                  <a:pt x="48" y="19"/>
                </a:lnTo>
                <a:lnTo>
                  <a:pt x="62" y="10"/>
                </a:lnTo>
                <a:lnTo>
                  <a:pt x="76" y="5"/>
                </a:lnTo>
                <a:lnTo>
                  <a:pt x="90" y="0"/>
                </a:lnTo>
                <a:lnTo>
                  <a:pt x="109" y="0"/>
                </a:lnTo>
                <a:lnTo>
                  <a:pt x="128" y="0"/>
                </a:lnTo>
                <a:lnTo>
                  <a:pt x="143" y="5"/>
                </a:lnTo>
                <a:lnTo>
                  <a:pt x="162" y="10"/>
                </a:lnTo>
                <a:lnTo>
                  <a:pt x="176" y="19"/>
                </a:lnTo>
                <a:lnTo>
                  <a:pt x="186" y="29"/>
                </a:lnTo>
                <a:lnTo>
                  <a:pt x="200" y="43"/>
                </a:lnTo>
                <a:lnTo>
                  <a:pt x="209" y="57"/>
                </a:lnTo>
                <a:lnTo>
                  <a:pt x="214" y="72"/>
                </a:lnTo>
                <a:lnTo>
                  <a:pt x="219" y="91"/>
                </a:lnTo>
                <a:lnTo>
                  <a:pt x="219" y="110"/>
                </a:lnTo>
                <a:lnTo>
                  <a:pt x="219" y="547"/>
                </a:lnTo>
                <a:lnTo>
                  <a:pt x="219" y="566"/>
                </a:lnTo>
                <a:lnTo>
                  <a:pt x="214" y="581"/>
                </a:lnTo>
                <a:lnTo>
                  <a:pt x="209" y="595"/>
                </a:lnTo>
                <a:lnTo>
                  <a:pt x="200" y="609"/>
                </a:lnTo>
                <a:lnTo>
                  <a:pt x="186" y="624"/>
                </a:lnTo>
                <a:lnTo>
                  <a:pt x="176" y="633"/>
                </a:lnTo>
                <a:lnTo>
                  <a:pt x="162" y="643"/>
                </a:lnTo>
                <a:lnTo>
                  <a:pt x="143" y="652"/>
                </a:lnTo>
                <a:lnTo>
                  <a:pt x="128" y="657"/>
                </a:lnTo>
                <a:lnTo>
                  <a:pt x="109" y="657"/>
                </a:lnTo>
                <a:lnTo>
                  <a:pt x="90" y="657"/>
                </a:lnTo>
                <a:lnTo>
                  <a:pt x="76" y="652"/>
                </a:lnTo>
                <a:lnTo>
                  <a:pt x="62" y="643"/>
                </a:lnTo>
                <a:lnTo>
                  <a:pt x="48" y="633"/>
                </a:lnTo>
                <a:lnTo>
                  <a:pt x="33" y="624"/>
                </a:lnTo>
                <a:lnTo>
                  <a:pt x="24" y="609"/>
                </a:lnTo>
                <a:lnTo>
                  <a:pt x="14" y="595"/>
                </a:lnTo>
                <a:lnTo>
                  <a:pt x="5" y="581"/>
                </a:lnTo>
                <a:lnTo>
                  <a:pt x="0" y="566"/>
                </a:lnTo>
                <a:lnTo>
                  <a:pt x="0" y="547"/>
                </a:lnTo>
                <a:lnTo>
                  <a:pt x="0" y="110"/>
                </a:lnTo>
                <a:lnTo>
                  <a:pt x="0" y="110"/>
                </a:lnTo>
                <a:lnTo>
                  <a:pt x="0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15" name="Rectangle 11277"/>
          <p:cNvSpPr>
            <a:spLocks noChangeArrowheads="1"/>
          </p:cNvSpPr>
          <p:nvPr/>
        </p:nvSpPr>
        <p:spPr bwMode="auto">
          <a:xfrm>
            <a:off x="3861117" y="266319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0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16" name="Rectangle 11278"/>
          <p:cNvSpPr>
            <a:spLocks noChangeArrowheads="1"/>
          </p:cNvSpPr>
          <p:nvPr/>
        </p:nvSpPr>
        <p:spPr bwMode="auto">
          <a:xfrm>
            <a:off x="4030662" y="2494280"/>
            <a:ext cx="635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17" name="Rectangle 11279"/>
          <p:cNvSpPr>
            <a:spLocks noChangeArrowheads="1"/>
          </p:cNvSpPr>
          <p:nvPr/>
        </p:nvSpPr>
        <p:spPr bwMode="auto">
          <a:xfrm>
            <a:off x="4090987" y="249428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18" name="Rectangle 11280"/>
          <p:cNvSpPr>
            <a:spLocks noChangeArrowheads="1"/>
          </p:cNvSpPr>
          <p:nvPr/>
        </p:nvSpPr>
        <p:spPr bwMode="auto">
          <a:xfrm>
            <a:off x="4042727" y="256984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19" name="Rectangle 11281"/>
          <p:cNvSpPr>
            <a:spLocks noChangeArrowheads="1"/>
          </p:cNvSpPr>
          <p:nvPr/>
        </p:nvSpPr>
        <p:spPr bwMode="auto">
          <a:xfrm>
            <a:off x="4085272" y="256984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20" name="Rectangle 11282"/>
          <p:cNvSpPr>
            <a:spLocks noChangeArrowheads="1"/>
          </p:cNvSpPr>
          <p:nvPr/>
        </p:nvSpPr>
        <p:spPr bwMode="auto">
          <a:xfrm>
            <a:off x="4042727" y="264223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x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21" name="Freeform 11283"/>
          <p:cNvSpPr>
            <a:spLocks/>
          </p:cNvSpPr>
          <p:nvPr/>
        </p:nvSpPr>
        <p:spPr bwMode="auto">
          <a:xfrm>
            <a:off x="4045902" y="2360930"/>
            <a:ext cx="36195" cy="39370"/>
          </a:xfrm>
          <a:custGeom>
            <a:avLst/>
            <a:gdLst>
              <a:gd name="T0" fmla="*/ 57 w 57"/>
              <a:gd name="T1" fmla="*/ 0 h 62"/>
              <a:gd name="T2" fmla="*/ 0 w 57"/>
              <a:gd name="T3" fmla="*/ 5 h 62"/>
              <a:gd name="T4" fmla="*/ 28 w 57"/>
              <a:gd name="T5" fmla="*/ 62 h 62"/>
              <a:gd name="T6" fmla="*/ 57 w 57"/>
              <a:gd name="T7" fmla="*/ 5 h 62"/>
              <a:gd name="T8" fmla="*/ 57 w 57"/>
              <a:gd name="T9" fmla="*/ 5 h 62"/>
              <a:gd name="T10" fmla="*/ 57 w 57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2">
                <a:moveTo>
                  <a:pt x="57" y="0"/>
                </a:moveTo>
                <a:lnTo>
                  <a:pt x="0" y="5"/>
                </a:lnTo>
                <a:lnTo>
                  <a:pt x="28" y="62"/>
                </a:lnTo>
                <a:lnTo>
                  <a:pt x="57" y="5"/>
                </a:lnTo>
                <a:lnTo>
                  <a:pt x="57" y="5"/>
                </a:lnTo>
                <a:lnTo>
                  <a:pt x="5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322" name="Line 11284"/>
          <p:cNvCxnSpPr/>
          <p:nvPr/>
        </p:nvCxnSpPr>
        <p:spPr bwMode="auto">
          <a:xfrm>
            <a:off x="4063682" y="2291080"/>
            <a:ext cx="635" cy="78740"/>
          </a:xfrm>
          <a:prstGeom prst="line">
            <a:avLst/>
          </a:prstGeom>
          <a:noFill/>
          <a:ln w="14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3" name="Rectangle 11285"/>
          <p:cNvSpPr>
            <a:spLocks noChangeArrowheads="1"/>
          </p:cNvSpPr>
          <p:nvPr/>
        </p:nvSpPr>
        <p:spPr bwMode="auto">
          <a:xfrm>
            <a:off x="5442267" y="162687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EB7500"/>
                </a:solidFill>
                <a:effectLst/>
                <a:latin typeface="Arial"/>
                <a:ea typeface="Batang"/>
              </a:rPr>
              <a:t>.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24" name="Freeform 11286"/>
          <p:cNvSpPr>
            <a:spLocks/>
          </p:cNvSpPr>
          <p:nvPr/>
        </p:nvSpPr>
        <p:spPr bwMode="auto">
          <a:xfrm>
            <a:off x="3951922" y="2590165"/>
            <a:ext cx="36195" cy="39370"/>
          </a:xfrm>
          <a:custGeom>
            <a:avLst/>
            <a:gdLst>
              <a:gd name="T0" fmla="*/ 0 w 57"/>
              <a:gd name="T1" fmla="*/ 0 h 62"/>
              <a:gd name="T2" fmla="*/ 0 w 57"/>
              <a:gd name="T3" fmla="*/ 62 h 62"/>
              <a:gd name="T4" fmla="*/ 57 w 57"/>
              <a:gd name="T5" fmla="*/ 34 h 62"/>
              <a:gd name="T6" fmla="*/ 0 w 57"/>
              <a:gd name="T7" fmla="*/ 0 h 62"/>
              <a:gd name="T8" fmla="*/ 0 w 57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62">
                <a:moveTo>
                  <a:pt x="0" y="0"/>
                </a:moveTo>
                <a:lnTo>
                  <a:pt x="0" y="62"/>
                </a:lnTo>
                <a:lnTo>
                  <a:pt x="57" y="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25" name="Freeform 11287"/>
          <p:cNvSpPr>
            <a:spLocks/>
          </p:cNvSpPr>
          <p:nvPr/>
        </p:nvSpPr>
        <p:spPr bwMode="auto">
          <a:xfrm>
            <a:off x="3431857" y="3472815"/>
            <a:ext cx="36830" cy="39370"/>
          </a:xfrm>
          <a:custGeom>
            <a:avLst/>
            <a:gdLst>
              <a:gd name="T0" fmla="*/ 0 w 58"/>
              <a:gd name="T1" fmla="*/ 0 h 62"/>
              <a:gd name="T2" fmla="*/ 0 w 58"/>
              <a:gd name="T3" fmla="*/ 62 h 62"/>
              <a:gd name="T4" fmla="*/ 58 w 58"/>
              <a:gd name="T5" fmla="*/ 29 h 62"/>
              <a:gd name="T6" fmla="*/ 0 w 58"/>
              <a:gd name="T7" fmla="*/ 0 h 62"/>
              <a:gd name="T8" fmla="*/ 0 w 58"/>
              <a:gd name="T9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" h="62">
                <a:moveTo>
                  <a:pt x="0" y="0"/>
                </a:moveTo>
                <a:lnTo>
                  <a:pt x="0" y="62"/>
                </a:lnTo>
                <a:lnTo>
                  <a:pt x="58" y="2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26" name="Freeform 11288"/>
          <p:cNvSpPr>
            <a:spLocks/>
          </p:cNvSpPr>
          <p:nvPr/>
        </p:nvSpPr>
        <p:spPr bwMode="auto">
          <a:xfrm>
            <a:off x="3431857" y="3563620"/>
            <a:ext cx="36830" cy="39370"/>
          </a:xfrm>
          <a:custGeom>
            <a:avLst/>
            <a:gdLst>
              <a:gd name="T0" fmla="*/ 0 w 58"/>
              <a:gd name="T1" fmla="*/ 0 h 62"/>
              <a:gd name="T2" fmla="*/ 0 w 58"/>
              <a:gd name="T3" fmla="*/ 62 h 62"/>
              <a:gd name="T4" fmla="*/ 58 w 58"/>
              <a:gd name="T5" fmla="*/ 33 h 62"/>
              <a:gd name="T6" fmla="*/ 0 w 58"/>
              <a:gd name="T7" fmla="*/ 5 h 62"/>
              <a:gd name="T8" fmla="*/ 0 w 58"/>
              <a:gd name="T9" fmla="*/ 5 h 62"/>
              <a:gd name="T10" fmla="*/ 0 w 58"/>
              <a:gd name="T11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62">
                <a:moveTo>
                  <a:pt x="0" y="0"/>
                </a:moveTo>
                <a:lnTo>
                  <a:pt x="0" y="62"/>
                </a:lnTo>
                <a:lnTo>
                  <a:pt x="58" y="33"/>
                </a:lnTo>
                <a:lnTo>
                  <a:pt x="0" y="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327" name="Line 11289"/>
          <p:cNvCxnSpPr/>
          <p:nvPr/>
        </p:nvCxnSpPr>
        <p:spPr bwMode="auto">
          <a:xfrm flipH="1">
            <a:off x="2725102" y="3491230"/>
            <a:ext cx="719455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" name="Line 11290"/>
          <p:cNvCxnSpPr/>
          <p:nvPr/>
        </p:nvCxnSpPr>
        <p:spPr bwMode="auto">
          <a:xfrm>
            <a:off x="2725102" y="3581400"/>
            <a:ext cx="721995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9" name="Freeform 11291"/>
          <p:cNvSpPr>
            <a:spLocks/>
          </p:cNvSpPr>
          <p:nvPr/>
        </p:nvSpPr>
        <p:spPr bwMode="auto">
          <a:xfrm>
            <a:off x="2785427" y="3472815"/>
            <a:ext cx="36195" cy="39370"/>
          </a:xfrm>
          <a:custGeom>
            <a:avLst/>
            <a:gdLst>
              <a:gd name="T0" fmla="*/ 28 w 57"/>
              <a:gd name="T1" fmla="*/ 57 h 62"/>
              <a:gd name="T2" fmla="*/ 33 w 57"/>
              <a:gd name="T3" fmla="*/ 62 h 62"/>
              <a:gd name="T4" fmla="*/ 38 w 57"/>
              <a:gd name="T5" fmla="*/ 57 h 62"/>
              <a:gd name="T6" fmla="*/ 43 w 57"/>
              <a:gd name="T7" fmla="*/ 57 h 62"/>
              <a:gd name="T8" fmla="*/ 47 w 57"/>
              <a:gd name="T9" fmla="*/ 52 h 62"/>
              <a:gd name="T10" fmla="*/ 47 w 57"/>
              <a:gd name="T11" fmla="*/ 52 h 62"/>
              <a:gd name="T12" fmla="*/ 52 w 57"/>
              <a:gd name="T13" fmla="*/ 48 h 62"/>
              <a:gd name="T14" fmla="*/ 52 w 57"/>
              <a:gd name="T15" fmla="*/ 43 h 62"/>
              <a:gd name="T16" fmla="*/ 57 w 57"/>
              <a:gd name="T17" fmla="*/ 38 h 62"/>
              <a:gd name="T18" fmla="*/ 57 w 57"/>
              <a:gd name="T19" fmla="*/ 33 h 62"/>
              <a:gd name="T20" fmla="*/ 57 w 57"/>
              <a:gd name="T21" fmla="*/ 29 h 62"/>
              <a:gd name="T22" fmla="*/ 57 w 57"/>
              <a:gd name="T23" fmla="*/ 24 h 62"/>
              <a:gd name="T24" fmla="*/ 57 w 57"/>
              <a:gd name="T25" fmla="*/ 24 h 62"/>
              <a:gd name="T26" fmla="*/ 52 w 57"/>
              <a:gd name="T27" fmla="*/ 19 h 62"/>
              <a:gd name="T28" fmla="*/ 52 w 57"/>
              <a:gd name="T29" fmla="*/ 14 h 62"/>
              <a:gd name="T30" fmla="*/ 47 w 57"/>
              <a:gd name="T31" fmla="*/ 10 h 62"/>
              <a:gd name="T32" fmla="*/ 47 w 57"/>
              <a:gd name="T33" fmla="*/ 5 h 62"/>
              <a:gd name="T34" fmla="*/ 43 w 57"/>
              <a:gd name="T35" fmla="*/ 5 h 62"/>
              <a:gd name="T36" fmla="*/ 38 w 57"/>
              <a:gd name="T37" fmla="*/ 5 h 62"/>
              <a:gd name="T38" fmla="*/ 33 w 57"/>
              <a:gd name="T39" fmla="*/ 0 h 62"/>
              <a:gd name="T40" fmla="*/ 28 w 57"/>
              <a:gd name="T41" fmla="*/ 0 h 62"/>
              <a:gd name="T42" fmla="*/ 24 w 57"/>
              <a:gd name="T43" fmla="*/ 0 h 62"/>
              <a:gd name="T44" fmla="*/ 19 w 57"/>
              <a:gd name="T45" fmla="*/ 5 h 62"/>
              <a:gd name="T46" fmla="*/ 14 w 57"/>
              <a:gd name="T47" fmla="*/ 5 h 62"/>
              <a:gd name="T48" fmla="*/ 9 w 57"/>
              <a:gd name="T49" fmla="*/ 5 h 62"/>
              <a:gd name="T50" fmla="*/ 9 w 57"/>
              <a:gd name="T51" fmla="*/ 10 h 62"/>
              <a:gd name="T52" fmla="*/ 4 w 57"/>
              <a:gd name="T53" fmla="*/ 14 h 62"/>
              <a:gd name="T54" fmla="*/ 0 w 57"/>
              <a:gd name="T55" fmla="*/ 19 h 62"/>
              <a:gd name="T56" fmla="*/ 0 w 57"/>
              <a:gd name="T57" fmla="*/ 24 h 62"/>
              <a:gd name="T58" fmla="*/ 0 w 57"/>
              <a:gd name="T59" fmla="*/ 24 h 62"/>
              <a:gd name="T60" fmla="*/ 0 w 57"/>
              <a:gd name="T61" fmla="*/ 29 h 62"/>
              <a:gd name="T62" fmla="*/ 0 w 57"/>
              <a:gd name="T63" fmla="*/ 33 h 62"/>
              <a:gd name="T64" fmla="*/ 0 w 57"/>
              <a:gd name="T65" fmla="*/ 38 h 62"/>
              <a:gd name="T66" fmla="*/ 0 w 57"/>
              <a:gd name="T67" fmla="*/ 43 h 62"/>
              <a:gd name="T68" fmla="*/ 4 w 57"/>
              <a:gd name="T69" fmla="*/ 48 h 62"/>
              <a:gd name="T70" fmla="*/ 9 w 57"/>
              <a:gd name="T71" fmla="*/ 52 h 62"/>
              <a:gd name="T72" fmla="*/ 9 w 57"/>
              <a:gd name="T73" fmla="*/ 52 h 62"/>
              <a:gd name="T74" fmla="*/ 14 w 57"/>
              <a:gd name="T75" fmla="*/ 57 h 62"/>
              <a:gd name="T76" fmla="*/ 19 w 57"/>
              <a:gd name="T77" fmla="*/ 57 h 62"/>
              <a:gd name="T78" fmla="*/ 24 w 57"/>
              <a:gd name="T79" fmla="*/ 62 h 62"/>
              <a:gd name="T80" fmla="*/ 28 w 57"/>
              <a:gd name="T81" fmla="*/ 62 h 62"/>
              <a:gd name="T82" fmla="*/ 28 w 57"/>
              <a:gd name="T83" fmla="*/ 62 h 62"/>
              <a:gd name="T84" fmla="*/ 28 w 57"/>
              <a:gd name="T85" fmla="*/ 5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7" h="62">
                <a:moveTo>
                  <a:pt x="28" y="57"/>
                </a:moveTo>
                <a:lnTo>
                  <a:pt x="33" y="62"/>
                </a:lnTo>
                <a:lnTo>
                  <a:pt x="38" y="57"/>
                </a:lnTo>
                <a:lnTo>
                  <a:pt x="43" y="57"/>
                </a:lnTo>
                <a:lnTo>
                  <a:pt x="47" y="52"/>
                </a:lnTo>
                <a:lnTo>
                  <a:pt x="47" y="52"/>
                </a:lnTo>
                <a:lnTo>
                  <a:pt x="52" y="48"/>
                </a:lnTo>
                <a:lnTo>
                  <a:pt x="52" y="43"/>
                </a:lnTo>
                <a:lnTo>
                  <a:pt x="57" y="38"/>
                </a:lnTo>
                <a:lnTo>
                  <a:pt x="57" y="33"/>
                </a:lnTo>
                <a:lnTo>
                  <a:pt x="57" y="29"/>
                </a:lnTo>
                <a:lnTo>
                  <a:pt x="57" y="24"/>
                </a:lnTo>
                <a:lnTo>
                  <a:pt x="57" y="24"/>
                </a:lnTo>
                <a:lnTo>
                  <a:pt x="52" y="19"/>
                </a:lnTo>
                <a:lnTo>
                  <a:pt x="52" y="14"/>
                </a:lnTo>
                <a:lnTo>
                  <a:pt x="47" y="10"/>
                </a:lnTo>
                <a:lnTo>
                  <a:pt x="47" y="5"/>
                </a:lnTo>
                <a:lnTo>
                  <a:pt x="43" y="5"/>
                </a:lnTo>
                <a:lnTo>
                  <a:pt x="38" y="5"/>
                </a:lnTo>
                <a:lnTo>
                  <a:pt x="33" y="0"/>
                </a:lnTo>
                <a:lnTo>
                  <a:pt x="28" y="0"/>
                </a:lnTo>
                <a:lnTo>
                  <a:pt x="24" y="0"/>
                </a:lnTo>
                <a:lnTo>
                  <a:pt x="19" y="5"/>
                </a:lnTo>
                <a:lnTo>
                  <a:pt x="14" y="5"/>
                </a:lnTo>
                <a:lnTo>
                  <a:pt x="9" y="5"/>
                </a:lnTo>
                <a:lnTo>
                  <a:pt x="9" y="10"/>
                </a:lnTo>
                <a:lnTo>
                  <a:pt x="4" y="14"/>
                </a:lnTo>
                <a:lnTo>
                  <a:pt x="0" y="19"/>
                </a:lnTo>
                <a:lnTo>
                  <a:pt x="0" y="24"/>
                </a:lnTo>
                <a:lnTo>
                  <a:pt x="0" y="24"/>
                </a:lnTo>
                <a:lnTo>
                  <a:pt x="0" y="29"/>
                </a:lnTo>
                <a:lnTo>
                  <a:pt x="0" y="33"/>
                </a:lnTo>
                <a:lnTo>
                  <a:pt x="0" y="38"/>
                </a:lnTo>
                <a:lnTo>
                  <a:pt x="0" y="43"/>
                </a:lnTo>
                <a:lnTo>
                  <a:pt x="4" y="48"/>
                </a:lnTo>
                <a:lnTo>
                  <a:pt x="9" y="52"/>
                </a:lnTo>
                <a:lnTo>
                  <a:pt x="9" y="52"/>
                </a:lnTo>
                <a:lnTo>
                  <a:pt x="14" y="57"/>
                </a:lnTo>
                <a:lnTo>
                  <a:pt x="19" y="57"/>
                </a:lnTo>
                <a:lnTo>
                  <a:pt x="24" y="62"/>
                </a:lnTo>
                <a:lnTo>
                  <a:pt x="28" y="62"/>
                </a:lnTo>
                <a:lnTo>
                  <a:pt x="28" y="62"/>
                </a:lnTo>
                <a:lnTo>
                  <a:pt x="28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30" name="Freeform 11292"/>
          <p:cNvSpPr>
            <a:spLocks/>
          </p:cNvSpPr>
          <p:nvPr/>
        </p:nvSpPr>
        <p:spPr bwMode="auto">
          <a:xfrm>
            <a:off x="2873057" y="3566795"/>
            <a:ext cx="36195" cy="36195"/>
          </a:xfrm>
          <a:custGeom>
            <a:avLst/>
            <a:gdLst>
              <a:gd name="T0" fmla="*/ 24 w 57"/>
              <a:gd name="T1" fmla="*/ 57 h 57"/>
              <a:gd name="T2" fmla="*/ 33 w 57"/>
              <a:gd name="T3" fmla="*/ 57 h 57"/>
              <a:gd name="T4" fmla="*/ 38 w 57"/>
              <a:gd name="T5" fmla="*/ 57 h 57"/>
              <a:gd name="T6" fmla="*/ 43 w 57"/>
              <a:gd name="T7" fmla="*/ 52 h 57"/>
              <a:gd name="T8" fmla="*/ 43 w 57"/>
              <a:gd name="T9" fmla="*/ 52 h 57"/>
              <a:gd name="T10" fmla="*/ 47 w 57"/>
              <a:gd name="T11" fmla="*/ 47 h 57"/>
              <a:gd name="T12" fmla="*/ 52 w 57"/>
              <a:gd name="T13" fmla="*/ 47 h 57"/>
              <a:gd name="T14" fmla="*/ 52 w 57"/>
              <a:gd name="T15" fmla="*/ 42 h 57"/>
              <a:gd name="T16" fmla="*/ 57 w 57"/>
              <a:gd name="T17" fmla="*/ 38 h 57"/>
              <a:gd name="T18" fmla="*/ 57 w 57"/>
              <a:gd name="T19" fmla="*/ 33 h 57"/>
              <a:gd name="T20" fmla="*/ 57 w 57"/>
              <a:gd name="T21" fmla="*/ 28 h 57"/>
              <a:gd name="T22" fmla="*/ 57 w 57"/>
              <a:gd name="T23" fmla="*/ 23 h 57"/>
              <a:gd name="T24" fmla="*/ 57 w 57"/>
              <a:gd name="T25" fmla="*/ 19 h 57"/>
              <a:gd name="T26" fmla="*/ 52 w 57"/>
              <a:gd name="T27" fmla="*/ 14 h 57"/>
              <a:gd name="T28" fmla="*/ 52 w 57"/>
              <a:gd name="T29" fmla="*/ 9 h 57"/>
              <a:gd name="T30" fmla="*/ 47 w 57"/>
              <a:gd name="T31" fmla="*/ 9 h 57"/>
              <a:gd name="T32" fmla="*/ 43 w 57"/>
              <a:gd name="T33" fmla="*/ 4 h 57"/>
              <a:gd name="T34" fmla="*/ 43 w 57"/>
              <a:gd name="T35" fmla="*/ 0 h 57"/>
              <a:gd name="T36" fmla="*/ 38 w 57"/>
              <a:gd name="T37" fmla="*/ 0 h 57"/>
              <a:gd name="T38" fmla="*/ 33 w 57"/>
              <a:gd name="T39" fmla="*/ 0 h 57"/>
              <a:gd name="T40" fmla="*/ 28 w 57"/>
              <a:gd name="T41" fmla="*/ 0 h 57"/>
              <a:gd name="T42" fmla="*/ 24 w 57"/>
              <a:gd name="T43" fmla="*/ 0 h 57"/>
              <a:gd name="T44" fmla="*/ 19 w 57"/>
              <a:gd name="T45" fmla="*/ 0 h 57"/>
              <a:gd name="T46" fmla="*/ 14 w 57"/>
              <a:gd name="T47" fmla="*/ 0 h 57"/>
              <a:gd name="T48" fmla="*/ 9 w 57"/>
              <a:gd name="T49" fmla="*/ 4 h 57"/>
              <a:gd name="T50" fmla="*/ 5 w 57"/>
              <a:gd name="T51" fmla="*/ 9 h 57"/>
              <a:gd name="T52" fmla="*/ 5 w 57"/>
              <a:gd name="T53" fmla="*/ 9 h 57"/>
              <a:gd name="T54" fmla="*/ 0 w 57"/>
              <a:gd name="T55" fmla="*/ 14 h 57"/>
              <a:gd name="T56" fmla="*/ 0 w 57"/>
              <a:gd name="T57" fmla="*/ 19 h 57"/>
              <a:gd name="T58" fmla="*/ 0 w 57"/>
              <a:gd name="T59" fmla="*/ 23 h 57"/>
              <a:gd name="T60" fmla="*/ 0 w 57"/>
              <a:gd name="T61" fmla="*/ 28 h 57"/>
              <a:gd name="T62" fmla="*/ 0 w 57"/>
              <a:gd name="T63" fmla="*/ 33 h 57"/>
              <a:gd name="T64" fmla="*/ 0 w 57"/>
              <a:gd name="T65" fmla="*/ 38 h 57"/>
              <a:gd name="T66" fmla="*/ 0 w 57"/>
              <a:gd name="T67" fmla="*/ 42 h 57"/>
              <a:gd name="T68" fmla="*/ 5 w 57"/>
              <a:gd name="T69" fmla="*/ 47 h 57"/>
              <a:gd name="T70" fmla="*/ 5 w 57"/>
              <a:gd name="T71" fmla="*/ 47 h 57"/>
              <a:gd name="T72" fmla="*/ 9 w 57"/>
              <a:gd name="T73" fmla="*/ 52 h 57"/>
              <a:gd name="T74" fmla="*/ 14 w 57"/>
              <a:gd name="T75" fmla="*/ 52 h 57"/>
              <a:gd name="T76" fmla="*/ 19 w 57"/>
              <a:gd name="T77" fmla="*/ 57 h 57"/>
              <a:gd name="T78" fmla="*/ 24 w 57"/>
              <a:gd name="T79" fmla="*/ 57 h 57"/>
              <a:gd name="T80" fmla="*/ 28 w 57"/>
              <a:gd name="T81" fmla="*/ 57 h 57"/>
              <a:gd name="T82" fmla="*/ 28 w 57"/>
              <a:gd name="T83" fmla="*/ 57 h 57"/>
              <a:gd name="T84" fmla="*/ 24 w 57"/>
              <a:gd name="T85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7" h="57">
                <a:moveTo>
                  <a:pt x="24" y="57"/>
                </a:moveTo>
                <a:lnTo>
                  <a:pt x="33" y="57"/>
                </a:lnTo>
                <a:lnTo>
                  <a:pt x="38" y="57"/>
                </a:lnTo>
                <a:lnTo>
                  <a:pt x="43" y="52"/>
                </a:lnTo>
                <a:lnTo>
                  <a:pt x="43" y="52"/>
                </a:lnTo>
                <a:lnTo>
                  <a:pt x="47" y="47"/>
                </a:lnTo>
                <a:lnTo>
                  <a:pt x="52" y="47"/>
                </a:lnTo>
                <a:lnTo>
                  <a:pt x="52" y="42"/>
                </a:lnTo>
                <a:lnTo>
                  <a:pt x="57" y="38"/>
                </a:lnTo>
                <a:lnTo>
                  <a:pt x="57" y="33"/>
                </a:lnTo>
                <a:lnTo>
                  <a:pt x="57" y="28"/>
                </a:lnTo>
                <a:lnTo>
                  <a:pt x="57" y="23"/>
                </a:lnTo>
                <a:lnTo>
                  <a:pt x="57" y="19"/>
                </a:lnTo>
                <a:lnTo>
                  <a:pt x="52" y="14"/>
                </a:lnTo>
                <a:lnTo>
                  <a:pt x="52" y="9"/>
                </a:lnTo>
                <a:lnTo>
                  <a:pt x="47" y="9"/>
                </a:lnTo>
                <a:lnTo>
                  <a:pt x="43" y="4"/>
                </a:lnTo>
                <a:lnTo>
                  <a:pt x="43" y="0"/>
                </a:lnTo>
                <a:lnTo>
                  <a:pt x="38" y="0"/>
                </a:lnTo>
                <a:lnTo>
                  <a:pt x="33" y="0"/>
                </a:lnTo>
                <a:lnTo>
                  <a:pt x="28" y="0"/>
                </a:lnTo>
                <a:lnTo>
                  <a:pt x="24" y="0"/>
                </a:lnTo>
                <a:lnTo>
                  <a:pt x="19" y="0"/>
                </a:lnTo>
                <a:lnTo>
                  <a:pt x="14" y="0"/>
                </a:lnTo>
                <a:lnTo>
                  <a:pt x="9" y="4"/>
                </a:lnTo>
                <a:lnTo>
                  <a:pt x="5" y="9"/>
                </a:lnTo>
                <a:lnTo>
                  <a:pt x="5" y="9"/>
                </a:lnTo>
                <a:lnTo>
                  <a:pt x="0" y="14"/>
                </a:lnTo>
                <a:lnTo>
                  <a:pt x="0" y="19"/>
                </a:lnTo>
                <a:lnTo>
                  <a:pt x="0" y="23"/>
                </a:lnTo>
                <a:lnTo>
                  <a:pt x="0" y="28"/>
                </a:lnTo>
                <a:lnTo>
                  <a:pt x="0" y="33"/>
                </a:lnTo>
                <a:lnTo>
                  <a:pt x="0" y="38"/>
                </a:lnTo>
                <a:lnTo>
                  <a:pt x="0" y="42"/>
                </a:lnTo>
                <a:lnTo>
                  <a:pt x="5" y="47"/>
                </a:lnTo>
                <a:lnTo>
                  <a:pt x="5" y="47"/>
                </a:lnTo>
                <a:lnTo>
                  <a:pt x="9" y="52"/>
                </a:lnTo>
                <a:lnTo>
                  <a:pt x="14" y="52"/>
                </a:lnTo>
                <a:lnTo>
                  <a:pt x="19" y="57"/>
                </a:lnTo>
                <a:lnTo>
                  <a:pt x="24" y="57"/>
                </a:lnTo>
                <a:lnTo>
                  <a:pt x="28" y="57"/>
                </a:lnTo>
                <a:lnTo>
                  <a:pt x="28" y="57"/>
                </a:lnTo>
                <a:lnTo>
                  <a:pt x="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31" name="Freeform 11293"/>
          <p:cNvSpPr>
            <a:spLocks/>
          </p:cNvSpPr>
          <p:nvPr/>
        </p:nvSpPr>
        <p:spPr bwMode="auto">
          <a:xfrm>
            <a:off x="3568382" y="4455160"/>
            <a:ext cx="36195" cy="36195"/>
          </a:xfrm>
          <a:custGeom>
            <a:avLst/>
            <a:gdLst>
              <a:gd name="T0" fmla="*/ 28 w 57"/>
              <a:gd name="T1" fmla="*/ 57 h 57"/>
              <a:gd name="T2" fmla="*/ 33 w 57"/>
              <a:gd name="T3" fmla="*/ 57 h 57"/>
              <a:gd name="T4" fmla="*/ 38 w 57"/>
              <a:gd name="T5" fmla="*/ 57 h 57"/>
              <a:gd name="T6" fmla="*/ 43 w 57"/>
              <a:gd name="T7" fmla="*/ 52 h 57"/>
              <a:gd name="T8" fmla="*/ 47 w 57"/>
              <a:gd name="T9" fmla="*/ 52 h 57"/>
              <a:gd name="T10" fmla="*/ 47 w 57"/>
              <a:gd name="T11" fmla="*/ 47 h 57"/>
              <a:gd name="T12" fmla="*/ 52 w 57"/>
              <a:gd name="T13" fmla="*/ 42 h 57"/>
              <a:gd name="T14" fmla="*/ 52 w 57"/>
              <a:gd name="T15" fmla="*/ 42 h 57"/>
              <a:gd name="T16" fmla="*/ 57 w 57"/>
              <a:gd name="T17" fmla="*/ 38 h 57"/>
              <a:gd name="T18" fmla="*/ 57 w 57"/>
              <a:gd name="T19" fmla="*/ 33 h 57"/>
              <a:gd name="T20" fmla="*/ 57 w 57"/>
              <a:gd name="T21" fmla="*/ 28 h 57"/>
              <a:gd name="T22" fmla="*/ 57 w 57"/>
              <a:gd name="T23" fmla="*/ 23 h 57"/>
              <a:gd name="T24" fmla="*/ 57 w 57"/>
              <a:gd name="T25" fmla="*/ 19 h 57"/>
              <a:gd name="T26" fmla="*/ 52 w 57"/>
              <a:gd name="T27" fmla="*/ 14 h 57"/>
              <a:gd name="T28" fmla="*/ 52 w 57"/>
              <a:gd name="T29" fmla="*/ 9 h 57"/>
              <a:gd name="T30" fmla="*/ 47 w 57"/>
              <a:gd name="T31" fmla="*/ 4 h 57"/>
              <a:gd name="T32" fmla="*/ 47 w 57"/>
              <a:gd name="T33" fmla="*/ 4 h 57"/>
              <a:gd name="T34" fmla="*/ 43 w 57"/>
              <a:gd name="T35" fmla="*/ 0 h 57"/>
              <a:gd name="T36" fmla="*/ 38 w 57"/>
              <a:gd name="T37" fmla="*/ 0 h 57"/>
              <a:gd name="T38" fmla="*/ 33 w 57"/>
              <a:gd name="T39" fmla="*/ 0 h 57"/>
              <a:gd name="T40" fmla="*/ 28 w 57"/>
              <a:gd name="T41" fmla="*/ 0 h 57"/>
              <a:gd name="T42" fmla="*/ 24 w 57"/>
              <a:gd name="T43" fmla="*/ 0 h 57"/>
              <a:gd name="T44" fmla="*/ 19 w 57"/>
              <a:gd name="T45" fmla="*/ 0 h 57"/>
              <a:gd name="T46" fmla="*/ 14 w 57"/>
              <a:gd name="T47" fmla="*/ 0 h 57"/>
              <a:gd name="T48" fmla="*/ 9 w 57"/>
              <a:gd name="T49" fmla="*/ 4 h 57"/>
              <a:gd name="T50" fmla="*/ 9 w 57"/>
              <a:gd name="T51" fmla="*/ 4 h 57"/>
              <a:gd name="T52" fmla="*/ 4 w 57"/>
              <a:gd name="T53" fmla="*/ 9 h 57"/>
              <a:gd name="T54" fmla="*/ 0 w 57"/>
              <a:gd name="T55" fmla="*/ 14 h 57"/>
              <a:gd name="T56" fmla="*/ 0 w 57"/>
              <a:gd name="T57" fmla="*/ 19 h 57"/>
              <a:gd name="T58" fmla="*/ 0 w 57"/>
              <a:gd name="T59" fmla="*/ 23 h 57"/>
              <a:gd name="T60" fmla="*/ 0 w 57"/>
              <a:gd name="T61" fmla="*/ 28 h 57"/>
              <a:gd name="T62" fmla="*/ 0 w 57"/>
              <a:gd name="T63" fmla="*/ 33 h 57"/>
              <a:gd name="T64" fmla="*/ 0 w 57"/>
              <a:gd name="T65" fmla="*/ 38 h 57"/>
              <a:gd name="T66" fmla="*/ 0 w 57"/>
              <a:gd name="T67" fmla="*/ 42 h 57"/>
              <a:gd name="T68" fmla="*/ 4 w 57"/>
              <a:gd name="T69" fmla="*/ 42 h 57"/>
              <a:gd name="T70" fmla="*/ 9 w 57"/>
              <a:gd name="T71" fmla="*/ 47 h 57"/>
              <a:gd name="T72" fmla="*/ 9 w 57"/>
              <a:gd name="T73" fmla="*/ 52 h 57"/>
              <a:gd name="T74" fmla="*/ 14 w 57"/>
              <a:gd name="T75" fmla="*/ 52 h 57"/>
              <a:gd name="T76" fmla="*/ 19 w 57"/>
              <a:gd name="T77" fmla="*/ 57 h 57"/>
              <a:gd name="T78" fmla="*/ 24 w 57"/>
              <a:gd name="T79" fmla="*/ 57 h 57"/>
              <a:gd name="T80" fmla="*/ 28 w 57"/>
              <a:gd name="T81" fmla="*/ 57 h 57"/>
              <a:gd name="T82" fmla="*/ 28 w 57"/>
              <a:gd name="T83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7" h="57">
                <a:moveTo>
                  <a:pt x="28" y="57"/>
                </a:moveTo>
                <a:lnTo>
                  <a:pt x="33" y="57"/>
                </a:lnTo>
                <a:lnTo>
                  <a:pt x="38" y="57"/>
                </a:lnTo>
                <a:lnTo>
                  <a:pt x="43" y="52"/>
                </a:lnTo>
                <a:lnTo>
                  <a:pt x="47" y="52"/>
                </a:lnTo>
                <a:lnTo>
                  <a:pt x="47" y="47"/>
                </a:lnTo>
                <a:lnTo>
                  <a:pt x="52" y="42"/>
                </a:lnTo>
                <a:lnTo>
                  <a:pt x="52" y="42"/>
                </a:lnTo>
                <a:lnTo>
                  <a:pt x="57" y="38"/>
                </a:lnTo>
                <a:lnTo>
                  <a:pt x="57" y="33"/>
                </a:lnTo>
                <a:lnTo>
                  <a:pt x="57" y="28"/>
                </a:lnTo>
                <a:lnTo>
                  <a:pt x="57" y="23"/>
                </a:lnTo>
                <a:lnTo>
                  <a:pt x="57" y="19"/>
                </a:lnTo>
                <a:lnTo>
                  <a:pt x="52" y="14"/>
                </a:lnTo>
                <a:lnTo>
                  <a:pt x="52" y="9"/>
                </a:lnTo>
                <a:lnTo>
                  <a:pt x="47" y="4"/>
                </a:lnTo>
                <a:lnTo>
                  <a:pt x="47" y="4"/>
                </a:lnTo>
                <a:lnTo>
                  <a:pt x="43" y="0"/>
                </a:lnTo>
                <a:lnTo>
                  <a:pt x="38" y="0"/>
                </a:lnTo>
                <a:lnTo>
                  <a:pt x="33" y="0"/>
                </a:lnTo>
                <a:lnTo>
                  <a:pt x="28" y="0"/>
                </a:lnTo>
                <a:lnTo>
                  <a:pt x="24" y="0"/>
                </a:lnTo>
                <a:lnTo>
                  <a:pt x="19" y="0"/>
                </a:lnTo>
                <a:lnTo>
                  <a:pt x="14" y="0"/>
                </a:lnTo>
                <a:lnTo>
                  <a:pt x="9" y="4"/>
                </a:lnTo>
                <a:lnTo>
                  <a:pt x="9" y="4"/>
                </a:lnTo>
                <a:lnTo>
                  <a:pt x="4" y="9"/>
                </a:lnTo>
                <a:lnTo>
                  <a:pt x="0" y="14"/>
                </a:lnTo>
                <a:lnTo>
                  <a:pt x="0" y="19"/>
                </a:lnTo>
                <a:lnTo>
                  <a:pt x="0" y="23"/>
                </a:lnTo>
                <a:lnTo>
                  <a:pt x="0" y="28"/>
                </a:lnTo>
                <a:lnTo>
                  <a:pt x="0" y="33"/>
                </a:lnTo>
                <a:lnTo>
                  <a:pt x="0" y="38"/>
                </a:lnTo>
                <a:lnTo>
                  <a:pt x="0" y="42"/>
                </a:lnTo>
                <a:lnTo>
                  <a:pt x="4" y="42"/>
                </a:lnTo>
                <a:lnTo>
                  <a:pt x="9" y="47"/>
                </a:lnTo>
                <a:lnTo>
                  <a:pt x="9" y="52"/>
                </a:lnTo>
                <a:lnTo>
                  <a:pt x="14" y="52"/>
                </a:lnTo>
                <a:lnTo>
                  <a:pt x="19" y="57"/>
                </a:lnTo>
                <a:lnTo>
                  <a:pt x="24" y="57"/>
                </a:lnTo>
                <a:lnTo>
                  <a:pt x="28" y="57"/>
                </a:lnTo>
                <a:lnTo>
                  <a:pt x="28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32" name="Freeform 11294"/>
          <p:cNvSpPr>
            <a:spLocks/>
          </p:cNvSpPr>
          <p:nvPr/>
        </p:nvSpPr>
        <p:spPr bwMode="auto">
          <a:xfrm>
            <a:off x="3320097" y="2768600"/>
            <a:ext cx="266065" cy="1698625"/>
          </a:xfrm>
          <a:custGeom>
            <a:avLst/>
            <a:gdLst>
              <a:gd name="T0" fmla="*/ 419 w 419"/>
              <a:gd name="T1" fmla="*/ 2675 h 2675"/>
              <a:gd name="T2" fmla="*/ 419 w 419"/>
              <a:gd name="T3" fmla="*/ 2223 h 2675"/>
              <a:gd name="T4" fmla="*/ 0 w 419"/>
              <a:gd name="T5" fmla="*/ 2223 h 2675"/>
              <a:gd name="T6" fmla="*/ 0 w 419"/>
              <a:gd name="T7" fmla="*/ 0 h 2675"/>
              <a:gd name="T8" fmla="*/ 310 w 419"/>
              <a:gd name="T9" fmla="*/ 0 h 2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9" h="2675">
                <a:moveTo>
                  <a:pt x="419" y="2675"/>
                </a:moveTo>
                <a:lnTo>
                  <a:pt x="419" y="2223"/>
                </a:lnTo>
                <a:lnTo>
                  <a:pt x="0" y="2223"/>
                </a:lnTo>
                <a:lnTo>
                  <a:pt x="0" y="0"/>
                </a:lnTo>
                <a:lnTo>
                  <a:pt x="310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33" name="Freeform 11295"/>
          <p:cNvSpPr>
            <a:spLocks/>
          </p:cNvSpPr>
          <p:nvPr/>
        </p:nvSpPr>
        <p:spPr bwMode="auto">
          <a:xfrm>
            <a:off x="3205162" y="3091815"/>
            <a:ext cx="224155" cy="365760"/>
          </a:xfrm>
          <a:custGeom>
            <a:avLst/>
            <a:gdLst>
              <a:gd name="T0" fmla="*/ 177 w 353"/>
              <a:gd name="T1" fmla="*/ 576 h 576"/>
              <a:gd name="T2" fmla="*/ 205 w 353"/>
              <a:gd name="T3" fmla="*/ 576 h 576"/>
              <a:gd name="T4" fmla="*/ 234 w 353"/>
              <a:gd name="T5" fmla="*/ 562 h 576"/>
              <a:gd name="T6" fmla="*/ 258 w 353"/>
              <a:gd name="T7" fmla="*/ 548 h 576"/>
              <a:gd name="T8" fmla="*/ 281 w 353"/>
              <a:gd name="T9" fmla="*/ 524 h 576"/>
              <a:gd name="T10" fmla="*/ 305 w 353"/>
              <a:gd name="T11" fmla="*/ 495 h 576"/>
              <a:gd name="T12" fmla="*/ 319 w 353"/>
              <a:gd name="T13" fmla="*/ 462 h 576"/>
              <a:gd name="T14" fmla="*/ 334 w 353"/>
              <a:gd name="T15" fmla="*/ 424 h 576"/>
              <a:gd name="T16" fmla="*/ 343 w 353"/>
              <a:gd name="T17" fmla="*/ 381 h 576"/>
              <a:gd name="T18" fmla="*/ 353 w 353"/>
              <a:gd name="T19" fmla="*/ 338 h 576"/>
              <a:gd name="T20" fmla="*/ 353 w 353"/>
              <a:gd name="T21" fmla="*/ 291 h 576"/>
              <a:gd name="T22" fmla="*/ 353 w 353"/>
              <a:gd name="T23" fmla="*/ 243 h 576"/>
              <a:gd name="T24" fmla="*/ 343 w 353"/>
              <a:gd name="T25" fmla="*/ 196 h 576"/>
              <a:gd name="T26" fmla="*/ 334 w 353"/>
              <a:gd name="T27" fmla="*/ 157 h 576"/>
              <a:gd name="T28" fmla="*/ 319 w 353"/>
              <a:gd name="T29" fmla="*/ 119 h 576"/>
              <a:gd name="T30" fmla="*/ 305 w 353"/>
              <a:gd name="T31" fmla="*/ 86 h 576"/>
              <a:gd name="T32" fmla="*/ 281 w 353"/>
              <a:gd name="T33" fmla="*/ 58 h 576"/>
              <a:gd name="T34" fmla="*/ 258 w 353"/>
              <a:gd name="T35" fmla="*/ 34 h 576"/>
              <a:gd name="T36" fmla="*/ 234 w 353"/>
              <a:gd name="T37" fmla="*/ 15 h 576"/>
              <a:gd name="T38" fmla="*/ 205 w 353"/>
              <a:gd name="T39" fmla="*/ 5 h 576"/>
              <a:gd name="T40" fmla="*/ 177 w 353"/>
              <a:gd name="T41" fmla="*/ 0 h 576"/>
              <a:gd name="T42" fmla="*/ 148 w 353"/>
              <a:gd name="T43" fmla="*/ 5 h 576"/>
              <a:gd name="T44" fmla="*/ 119 w 353"/>
              <a:gd name="T45" fmla="*/ 15 h 576"/>
              <a:gd name="T46" fmla="*/ 96 w 353"/>
              <a:gd name="T47" fmla="*/ 34 h 576"/>
              <a:gd name="T48" fmla="*/ 72 w 353"/>
              <a:gd name="T49" fmla="*/ 58 h 576"/>
              <a:gd name="T50" fmla="*/ 53 w 353"/>
              <a:gd name="T51" fmla="*/ 86 h 576"/>
              <a:gd name="T52" fmla="*/ 34 w 353"/>
              <a:gd name="T53" fmla="*/ 119 h 576"/>
              <a:gd name="T54" fmla="*/ 19 w 353"/>
              <a:gd name="T55" fmla="*/ 157 h 576"/>
              <a:gd name="T56" fmla="*/ 10 w 353"/>
              <a:gd name="T57" fmla="*/ 196 h 576"/>
              <a:gd name="T58" fmla="*/ 0 w 353"/>
              <a:gd name="T59" fmla="*/ 243 h 576"/>
              <a:gd name="T60" fmla="*/ 0 w 353"/>
              <a:gd name="T61" fmla="*/ 291 h 576"/>
              <a:gd name="T62" fmla="*/ 0 w 353"/>
              <a:gd name="T63" fmla="*/ 338 h 576"/>
              <a:gd name="T64" fmla="*/ 10 w 353"/>
              <a:gd name="T65" fmla="*/ 381 h 576"/>
              <a:gd name="T66" fmla="*/ 19 w 353"/>
              <a:gd name="T67" fmla="*/ 424 h 576"/>
              <a:gd name="T68" fmla="*/ 34 w 353"/>
              <a:gd name="T69" fmla="*/ 462 h 576"/>
              <a:gd name="T70" fmla="*/ 53 w 353"/>
              <a:gd name="T71" fmla="*/ 495 h 576"/>
              <a:gd name="T72" fmla="*/ 72 w 353"/>
              <a:gd name="T73" fmla="*/ 524 h 576"/>
              <a:gd name="T74" fmla="*/ 96 w 353"/>
              <a:gd name="T75" fmla="*/ 548 h 576"/>
              <a:gd name="T76" fmla="*/ 119 w 353"/>
              <a:gd name="T77" fmla="*/ 562 h 576"/>
              <a:gd name="T78" fmla="*/ 148 w 353"/>
              <a:gd name="T79" fmla="*/ 576 h 576"/>
              <a:gd name="T80" fmla="*/ 177 w 353"/>
              <a:gd name="T81" fmla="*/ 576 h 576"/>
              <a:gd name="T82" fmla="*/ 177 w 353"/>
              <a:gd name="T83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3" h="576">
                <a:moveTo>
                  <a:pt x="177" y="576"/>
                </a:moveTo>
                <a:lnTo>
                  <a:pt x="205" y="576"/>
                </a:lnTo>
                <a:lnTo>
                  <a:pt x="234" y="562"/>
                </a:lnTo>
                <a:lnTo>
                  <a:pt x="258" y="548"/>
                </a:lnTo>
                <a:lnTo>
                  <a:pt x="281" y="524"/>
                </a:lnTo>
                <a:lnTo>
                  <a:pt x="305" y="495"/>
                </a:lnTo>
                <a:lnTo>
                  <a:pt x="319" y="462"/>
                </a:lnTo>
                <a:lnTo>
                  <a:pt x="334" y="424"/>
                </a:lnTo>
                <a:lnTo>
                  <a:pt x="343" y="381"/>
                </a:lnTo>
                <a:lnTo>
                  <a:pt x="353" y="338"/>
                </a:lnTo>
                <a:lnTo>
                  <a:pt x="353" y="291"/>
                </a:lnTo>
                <a:lnTo>
                  <a:pt x="353" y="243"/>
                </a:lnTo>
                <a:lnTo>
                  <a:pt x="343" y="196"/>
                </a:lnTo>
                <a:lnTo>
                  <a:pt x="334" y="157"/>
                </a:lnTo>
                <a:lnTo>
                  <a:pt x="319" y="119"/>
                </a:lnTo>
                <a:lnTo>
                  <a:pt x="305" y="86"/>
                </a:lnTo>
                <a:lnTo>
                  <a:pt x="281" y="58"/>
                </a:lnTo>
                <a:lnTo>
                  <a:pt x="258" y="34"/>
                </a:lnTo>
                <a:lnTo>
                  <a:pt x="234" y="15"/>
                </a:lnTo>
                <a:lnTo>
                  <a:pt x="205" y="5"/>
                </a:lnTo>
                <a:lnTo>
                  <a:pt x="177" y="0"/>
                </a:lnTo>
                <a:lnTo>
                  <a:pt x="148" y="5"/>
                </a:lnTo>
                <a:lnTo>
                  <a:pt x="119" y="15"/>
                </a:lnTo>
                <a:lnTo>
                  <a:pt x="96" y="34"/>
                </a:lnTo>
                <a:lnTo>
                  <a:pt x="72" y="58"/>
                </a:lnTo>
                <a:lnTo>
                  <a:pt x="53" y="86"/>
                </a:lnTo>
                <a:lnTo>
                  <a:pt x="34" y="119"/>
                </a:lnTo>
                <a:lnTo>
                  <a:pt x="19" y="157"/>
                </a:lnTo>
                <a:lnTo>
                  <a:pt x="10" y="196"/>
                </a:lnTo>
                <a:lnTo>
                  <a:pt x="0" y="243"/>
                </a:lnTo>
                <a:lnTo>
                  <a:pt x="0" y="291"/>
                </a:lnTo>
                <a:lnTo>
                  <a:pt x="0" y="338"/>
                </a:lnTo>
                <a:lnTo>
                  <a:pt x="10" y="381"/>
                </a:lnTo>
                <a:lnTo>
                  <a:pt x="19" y="424"/>
                </a:lnTo>
                <a:lnTo>
                  <a:pt x="34" y="462"/>
                </a:lnTo>
                <a:lnTo>
                  <a:pt x="53" y="495"/>
                </a:lnTo>
                <a:lnTo>
                  <a:pt x="72" y="524"/>
                </a:lnTo>
                <a:lnTo>
                  <a:pt x="96" y="548"/>
                </a:lnTo>
                <a:lnTo>
                  <a:pt x="119" y="562"/>
                </a:lnTo>
                <a:lnTo>
                  <a:pt x="148" y="576"/>
                </a:lnTo>
                <a:lnTo>
                  <a:pt x="177" y="576"/>
                </a:lnTo>
                <a:lnTo>
                  <a:pt x="177" y="5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34" name="Freeform 11296"/>
          <p:cNvSpPr>
            <a:spLocks/>
          </p:cNvSpPr>
          <p:nvPr/>
        </p:nvSpPr>
        <p:spPr bwMode="auto">
          <a:xfrm>
            <a:off x="3205162" y="3091815"/>
            <a:ext cx="224155" cy="365760"/>
          </a:xfrm>
          <a:custGeom>
            <a:avLst/>
            <a:gdLst>
              <a:gd name="T0" fmla="*/ 177 w 353"/>
              <a:gd name="T1" fmla="*/ 576 h 576"/>
              <a:gd name="T2" fmla="*/ 205 w 353"/>
              <a:gd name="T3" fmla="*/ 576 h 576"/>
              <a:gd name="T4" fmla="*/ 234 w 353"/>
              <a:gd name="T5" fmla="*/ 562 h 576"/>
              <a:gd name="T6" fmla="*/ 258 w 353"/>
              <a:gd name="T7" fmla="*/ 548 h 576"/>
              <a:gd name="T8" fmla="*/ 281 w 353"/>
              <a:gd name="T9" fmla="*/ 524 h 576"/>
              <a:gd name="T10" fmla="*/ 305 w 353"/>
              <a:gd name="T11" fmla="*/ 495 h 576"/>
              <a:gd name="T12" fmla="*/ 319 w 353"/>
              <a:gd name="T13" fmla="*/ 462 h 576"/>
              <a:gd name="T14" fmla="*/ 334 w 353"/>
              <a:gd name="T15" fmla="*/ 424 h 576"/>
              <a:gd name="T16" fmla="*/ 343 w 353"/>
              <a:gd name="T17" fmla="*/ 381 h 576"/>
              <a:gd name="T18" fmla="*/ 353 w 353"/>
              <a:gd name="T19" fmla="*/ 338 h 576"/>
              <a:gd name="T20" fmla="*/ 353 w 353"/>
              <a:gd name="T21" fmla="*/ 291 h 576"/>
              <a:gd name="T22" fmla="*/ 353 w 353"/>
              <a:gd name="T23" fmla="*/ 243 h 576"/>
              <a:gd name="T24" fmla="*/ 343 w 353"/>
              <a:gd name="T25" fmla="*/ 196 h 576"/>
              <a:gd name="T26" fmla="*/ 334 w 353"/>
              <a:gd name="T27" fmla="*/ 157 h 576"/>
              <a:gd name="T28" fmla="*/ 319 w 353"/>
              <a:gd name="T29" fmla="*/ 119 h 576"/>
              <a:gd name="T30" fmla="*/ 305 w 353"/>
              <a:gd name="T31" fmla="*/ 86 h 576"/>
              <a:gd name="T32" fmla="*/ 281 w 353"/>
              <a:gd name="T33" fmla="*/ 58 h 576"/>
              <a:gd name="T34" fmla="*/ 258 w 353"/>
              <a:gd name="T35" fmla="*/ 34 h 576"/>
              <a:gd name="T36" fmla="*/ 234 w 353"/>
              <a:gd name="T37" fmla="*/ 15 h 576"/>
              <a:gd name="T38" fmla="*/ 205 w 353"/>
              <a:gd name="T39" fmla="*/ 5 h 576"/>
              <a:gd name="T40" fmla="*/ 177 w 353"/>
              <a:gd name="T41" fmla="*/ 0 h 576"/>
              <a:gd name="T42" fmla="*/ 148 w 353"/>
              <a:gd name="T43" fmla="*/ 5 h 576"/>
              <a:gd name="T44" fmla="*/ 119 w 353"/>
              <a:gd name="T45" fmla="*/ 15 h 576"/>
              <a:gd name="T46" fmla="*/ 96 w 353"/>
              <a:gd name="T47" fmla="*/ 34 h 576"/>
              <a:gd name="T48" fmla="*/ 72 w 353"/>
              <a:gd name="T49" fmla="*/ 58 h 576"/>
              <a:gd name="T50" fmla="*/ 53 w 353"/>
              <a:gd name="T51" fmla="*/ 86 h 576"/>
              <a:gd name="T52" fmla="*/ 34 w 353"/>
              <a:gd name="T53" fmla="*/ 119 h 576"/>
              <a:gd name="T54" fmla="*/ 19 w 353"/>
              <a:gd name="T55" fmla="*/ 157 h 576"/>
              <a:gd name="T56" fmla="*/ 10 w 353"/>
              <a:gd name="T57" fmla="*/ 196 h 576"/>
              <a:gd name="T58" fmla="*/ 0 w 353"/>
              <a:gd name="T59" fmla="*/ 243 h 576"/>
              <a:gd name="T60" fmla="*/ 0 w 353"/>
              <a:gd name="T61" fmla="*/ 291 h 576"/>
              <a:gd name="T62" fmla="*/ 0 w 353"/>
              <a:gd name="T63" fmla="*/ 338 h 576"/>
              <a:gd name="T64" fmla="*/ 10 w 353"/>
              <a:gd name="T65" fmla="*/ 381 h 576"/>
              <a:gd name="T66" fmla="*/ 19 w 353"/>
              <a:gd name="T67" fmla="*/ 424 h 576"/>
              <a:gd name="T68" fmla="*/ 34 w 353"/>
              <a:gd name="T69" fmla="*/ 462 h 576"/>
              <a:gd name="T70" fmla="*/ 53 w 353"/>
              <a:gd name="T71" fmla="*/ 495 h 576"/>
              <a:gd name="T72" fmla="*/ 72 w 353"/>
              <a:gd name="T73" fmla="*/ 524 h 576"/>
              <a:gd name="T74" fmla="*/ 96 w 353"/>
              <a:gd name="T75" fmla="*/ 548 h 576"/>
              <a:gd name="T76" fmla="*/ 119 w 353"/>
              <a:gd name="T77" fmla="*/ 562 h 576"/>
              <a:gd name="T78" fmla="*/ 148 w 353"/>
              <a:gd name="T79" fmla="*/ 576 h 576"/>
              <a:gd name="T80" fmla="*/ 177 w 353"/>
              <a:gd name="T81" fmla="*/ 576 h 576"/>
              <a:gd name="T82" fmla="*/ 177 w 353"/>
              <a:gd name="T83" fmla="*/ 57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3" h="576">
                <a:moveTo>
                  <a:pt x="177" y="576"/>
                </a:moveTo>
                <a:lnTo>
                  <a:pt x="205" y="576"/>
                </a:lnTo>
                <a:lnTo>
                  <a:pt x="234" y="562"/>
                </a:lnTo>
                <a:lnTo>
                  <a:pt x="258" y="548"/>
                </a:lnTo>
                <a:lnTo>
                  <a:pt x="281" y="524"/>
                </a:lnTo>
                <a:lnTo>
                  <a:pt x="305" y="495"/>
                </a:lnTo>
                <a:lnTo>
                  <a:pt x="319" y="462"/>
                </a:lnTo>
                <a:lnTo>
                  <a:pt x="334" y="424"/>
                </a:lnTo>
                <a:lnTo>
                  <a:pt x="343" y="381"/>
                </a:lnTo>
                <a:lnTo>
                  <a:pt x="353" y="338"/>
                </a:lnTo>
                <a:lnTo>
                  <a:pt x="353" y="291"/>
                </a:lnTo>
                <a:lnTo>
                  <a:pt x="353" y="243"/>
                </a:lnTo>
                <a:lnTo>
                  <a:pt x="343" y="196"/>
                </a:lnTo>
                <a:lnTo>
                  <a:pt x="334" y="157"/>
                </a:lnTo>
                <a:lnTo>
                  <a:pt x="319" y="119"/>
                </a:lnTo>
                <a:lnTo>
                  <a:pt x="305" y="86"/>
                </a:lnTo>
                <a:lnTo>
                  <a:pt x="281" y="58"/>
                </a:lnTo>
                <a:lnTo>
                  <a:pt x="258" y="34"/>
                </a:lnTo>
                <a:lnTo>
                  <a:pt x="234" y="15"/>
                </a:lnTo>
                <a:lnTo>
                  <a:pt x="205" y="5"/>
                </a:lnTo>
                <a:lnTo>
                  <a:pt x="177" y="0"/>
                </a:lnTo>
                <a:lnTo>
                  <a:pt x="148" y="5"/>
                </a:lnTo>
                <a:lnTo>
                  <a:pt x="119" y="15"/>
                </a:lnTo>
                <a:lnTo>
                  <a:pt x="96" y="34"/>
                </a:lnTo>
                <a:lnTo>
                  <a:pt x="72" y="58"/>
                </a:lnTo>
                <a:lnTo>
                  <a:pt x="53" y="86"/>
                </a:lnTo>
                <a:lnTo>
                  <a:pt x="34" y="119"/>
                </a:lnTo>
                <a:lnTo>
                  <a:pt x="19" y="157"/>
                </a:lnTo>
                <a:lnTo>
                  <a:pt x="10" y="196"/>
                </a:lnTo>
                <a:lnTo>
                  <a:pt x="0" y="243"/>
                </a:lnTo>
                <a:lnTo>
                  <a:pt x="0" y="291"/>
                </a:lnTo>
                <a:lnTo>
                  <a:pt x="0" y="338"/>
                </a:lnTo>
                <a:lnTo>
                  <a:pt x="10" y="381"/>
                </a:lnTo>
                <a:lnTo>
                  <a:pt x="19" y="424"/>
                </a:lnTo>
                <a:lnTo>
                  <a:pt x="34" y="462"/>
                </a:lnTo>
                <a:lnTo>
                  <a:pt x="53" y="495"/>
                </a:lnTo>
                <a:lnTo>
                  <a:pt x="72" y="524"/>
                </a:lnTo>
                <a:lnTo>
                  <a:pt x="96" y="548"/>
                </a:lnTo>
                <a:lnTo>
                  <a:pt x="119" y="562"/>
                </a:lnTo>
                <a:lnTo>
                  <a:pt x="148" y="576"/>
                </a:lnTo>
                <a:lnTo>
                  <a:pt x="177" y="576"/>
                </a:lnTo>
                <a:lnTo>
                  <a:pt x="177" y="576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335" name="Rectangle 11297"/>
          <p:cNvSpPr>
            <a:spLocks noChangeArrowheads="1"/>
          </p:cNvSpPr>
          <p:nvPr/>
        </p:nvSpPr>
        <p:spPr bwMode="auto">
          <a:xfrm>
            <a:off x="3238817" y="3188970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36" name="Rectangle 11298"/>
          <p:cNvSpPr>
            <a:spLocks noChangeArrowheads="1"/>
          </p:cNvSpPr>
          <p:nvPr/>
        </p:nvSpPr>
        <p:spPr bwMode="auto">
          <a:xfrm>
            <a:off x="3287077" y="31889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h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37" name="Rectangle 11299"/>
          <p:cNvSpPr>
            <a:spLocks noChangeArrowheads="1"/>
          </p:cNvSpPr>
          <p:nvPr/>
        </p:nvSpPr>
        <p:spPr bwMode="auto">
          <a:xfrm>
            <a:off x="3329622" y="3188970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38" name="Rectangle 11300"/>
          <p:cNvSpPr>
            <a:spLocks noChangeArrowheads="1"/>
          </p:cNvSpPr>
          <p:nvPr/>
        </p:nvSpPr>
        <p:spPr bwMode="auto">
          <a:xfrm>
            <a:off x="3347402" y="318897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f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39" name="Rectangle 11301"/>
          <p:cNvSpPr>
            <a:spLocks noChangeArrowheads="1"/>
          </p:cNvSpPr>
          <p:nvPr/>
        </p:nvSpPr>
        <p:spPr bwMode="auto">
          <a:xfrm>
            <a:off x="3365817" y="318897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0" name="Rectangle 11302"/>
          <p:cNvSpPr>
            <a:spLocks noChangeArrowheads="1"/>
          </p:cNvSpPr>
          <p:nvPr/>
        </p:nvSpPr>
        <p:spPr bwMode="auto">
          <a:xfrm>
            <a:off x="3386772" y="318897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41" name="Rectangle 11303"/>
          <p:cNvSpPr>
            <a:spLocks noChangeArrowheads="1"/>
          </p:cNvSpPr>
          <p:nvPr/>
        </p:nvSpPr>
        <p:spPr bwMode="auto">
          <a:xfrm>
            <a:off x="3226752" y="3276600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l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2" name="Rectangle 11304"/>
          <p:cNvSpPr>
            <a:spLocks noChangeArrowheads="1"/>
          </p:cNvSpPr>
          <p:nvPr/>
        </p:nvSpPr>
        <p:spPr bwMode="auto">
          <a:xfrm>
            <a:off x="3244532" y="32766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3" name="Rectangle 11305"/>
          <p:cNvSpPr>
            <a:spLocks noChangeArrowheads="1"/>
          </p:cNvSpPr>
          <p:nvPr/>
        </p:nvSpPr>
        <p:spPr bwMode="auto">
          <a:xfrm>
            <a:off x="3283902" y="327660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f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4" name="Rectangle 11306"/>
          <p:cNvSpPr>
            <a:spLocks noChangeArrowheads="1"/>
          </p:cNvSpPr>
          <p:nvPr/>
        </p:nvSpPr>
        <p:spPr bwMode="auto">
          <a:xfrm>
            <a:off x="3305492" y="327660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5" name="Rectangle 11307"/>
          <p:cNvSpPr>
            <a:spLocks noChangeArrowheads="1"/>
          </p:cNvSpPr>
          <p:nvPr/>
        </p:nvSpPr>
        <p:spPr bwMode="auto">
          <a:xfrm>
            <a:off x="3326447" y="3276600"/>
            <a:ext cx="21590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solidFill>
                  <a:srgbClr val="000000"/>
                </a:solidFill>
                <a:effectLst/>
                <a:latin typeface="Arial"/>
                <a:ea typeface="Batang"/>
              </a:rPr>
              <a:t> 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6" name="Rectangle 11308"/>
          <p:cNvSpPr>
            <a:spLocks noChangeArrowheads="1"/>
          </p:cNvSpPr>
          <p:nvPr/>
        </p:nvSpPr>
        <p:spPr bwMode="auto">
          <a:xfrm>
            <a:off x="3347402" y="32766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2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7" name="Rectangle 11309"/>
          <p:cNvSpPr>
            <a:spLocks noChangeArrowheads="1"/>
          </p:cNvSpPr>
          <p:nvPr/>
        </p:nvSpPr>
        <p:spPr bwMode="auto">
          <a:xfrm>
            <a:off x="6422072" y="3998595"/>
            <a:ext cx="723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W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8" name="Rectangle 11310"/>
          <p:cNvSpPr>
            <a:spLocks noChangeArrowheads="1"/>
          </p:cNvSpPr>
          <p:nvPr/>
        </p:nvSpPr>
        <p:spPr bwMode="auto">
          <a:xfrm>
            <a:off x="6491287" y="3998595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49" name="Rectangle 11311"/>
          <p:cNvSpPr>
            <a:spLocks noChangeArrowheads="1"/>
          </p:cNvSpPr>
          <p:nvPr/>
        </p:nvSpPr>
        <p:spPr bwMode="auto">
          <a:xfrm>
            <a:off x="6515417" y="3998595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0" name="Rectangle 11312"/>
          <p:cNvSpPr>
            <a:spLocks noChangeArrowheads="1"/>
          </p:cNvSpPr>
          <p:nvPr/>
        </p:nvSpPr>
        <p:spPr bwMode="auto">
          <a:xfrm>
            <a:off x="6533832" y="399859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1" name="Rectangle 11313"/>
          <p:cNvSpPr>
            <a:spLocks noChangeArrowheads="1"/>
          </p:cNvSpPr>
          <p:nvPr/>
        </p:nvSpPr>
        <p:spPr bwMode="auto">
          <a:xfrm>
            <a:off x="6551612" y="39985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2" name="Rectangle 11314"/>
          <p:cNvSpPr>
            <a:spLocks noChangeArrowheads="1"/>
          </p:cNvSpPr>
          <p:nvPr/>
        </p:nvSpPr>
        <p:spPr bwMode="auto">
          <a:xfrm>
            <a:off x="6594157" y="399859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53" name="Rectangle 11315"/>
          <p:cNvSpPr>
            <a:spLocks noChangeArrowheads="1"/>
          </p:cNvSpPr>
          <p:nvPr/>
        </p:nvSpPr>
        <p:spPr bwMode="auto">
          <a:xfrm>
            <a:off x="6422072" y="407162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4" name="Rectangle 11316"/>
          <p:cNvSpPr>
            <a:spLocks noChangeArrowheads="1"/>
          </p:cNvSpPr>
          <p:nvPr/>
        </p:nvSpPr>
        <p:spPr bwMode="auto">
          <a:xfrm>
            <a:off x="6461442" y="407162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5" name="Rectangle 11317"/>
          <p:cNvSpPr>
            <a:spLocks noChangeArrowheads="1"/>
          </p:cNvSpPr>
          <p:nvPr/>
        </p:nvSpPr>
        <p:spPr bwMode="auto">
          <a:xfrm>
            <a:off x="6503352" y="407162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6" name="Rectangle 11318"/>
          <p:cNvSpPr>
            <a:spLocks noChangeArrowheads="1"/>
          </p:cNvSpPr>
          <p:nvPr/>
        </p:nvSpPr>
        <p:spPr bwMode="auto">
          <a:xfrm>
            <a:off x="6524307" y="407162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7" name="Rectangle 11319"/>
          <p:cNvSpPr>
            <a:spLocks noChangeArrowheads="1"/>
          </p:cNvSpPr>
          <p:nvPr/>
        </p:nvSpPr>
        <p:spPr bwMode="auto">
          <a:xfrm>
            <a:off x="6681787" y="3860165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8" name="Rectangle 11320"/>
          <p:cNvSpPr>
            <a:spLocks noChangeArrowheads="1"/>
          </p:cNvSpPr>
          <p:nvPr/>
        </p:nvSpPr>
        <p:spPr bwMode="auto">
          <a:xfrm>
            <a:off x="6736397" y="38601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59" name="Rectangle 11321"/>
          <p:cNvSpPr>
            <a:spLocks noChangeArrowheads="1"/>
          </p:cNvSpPr>
          <p:nvPr/>
        </p:nvSpPr>
        <p:spPr bwMode="auto">
          <a:xfrm>
            <a:off x="6775767" y="38601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60" name="Rectangle 11322"/>
          <p:cNvSpPr>
            <a:spLocks noChangeArrowheads="1"/>
          </p:cNvSpPr>
          <p:nvPr/>
        </p:nvSpPr>
        <p:spPr bwMode="auto">
          <a:xfrm>
            <a:off x="6817677" y="38601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61" name="Rectangle 11323"/>
          <p:cNvSpPr>
            <a:spLocks noChangeArrowheads="1"/>
          </p:cNvSpPr>
          <p:nvPr/>
        </p:nvSpPr>
        <p:spPr bwMode="auto">
          <a:xfrm>
            <a:off x="6860222" y="386016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62" name="Rectangle 11324"/>
          <p:cNvSpPr>
            <a:spLocks noChangeArrowheads="1"/>
          </p:cNvSpPr>
          <p:nvPr/>
        </p:nvSpPr>
        <p:spPr bwMode="auto">
          <a:xfrm>
            <a:off x="6702742" y="3935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63" name="Rectangle 11325"/>
          <p:cNvSpPr>
            <a:spLocks noChangeArrowheads="1"/>
          </p:cNvSpPr>
          <p:nvPr/>
        </p:nvSpPr>
        <p:spPr bwMode="auto">
          <a:xfrm>
            <a:off x="6745287" y="3935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64" name="Rectangle 11326"/>
          <p:cNvSpPr>
            <a:spLocks noChangeArrowheads="1"/>
          </p:cNvSpPr>
          <p:nvPr/>
        </p:nvSpPr>
        <p:spPr bwMode="auto">
          <a:xfrm>
            <a:off x="6787832" y="393573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65" name="Rectangle 11327"/>
          <p:cNvSpPr>
            <a:spLocks noChangeArrowheads="1"/>
          </p:cNvSpPr>
          <p:nvPr/>
        </p:nvSpPr>
        <p:spPr bwMode="auto">
          <a:xfrm>
            <a:off x="6805612" y="3935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66" name="Rectangle 11328"/>
          <p:cNvSpPr>
            <a:spLocks noChangeArrowheads="1"/>
          </p:cNvSpPr>
          <p:nvPr/>
        </p:nvSpPr>
        <p:spPr bwMode="auto">
          <a:xfrm>
            <a:off x="6418897" y="3742055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67" name="Rectangle 11329"/>
          <p:cNvSpPr>
            <a:spLocks noChangeArrowheads="1"/>
          </p:cNvSpPr>
          <p:nvPr/>
        </p:nvSpPr>
        <p:spPr bwMode="auto">
          <a:xfrm>
            <a:off x="6467157" y="374205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68" name="Rectangle 11330"/>
          <p:cNvSpPr>
            <a:spLocks noChangeArrowheads="1"/>
          </p:cNvSpPr>
          <p:nvPr/>
        </p:nvSpPr>
        <p:spPr bwMode="auto">
          <a:xfrm>
            <a:off x="6509702" y="374205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69" name="Rectangle 11331"/>
          <p:cNvSpPr>
            <a:spLocks noChangeArrowheads="1"/>
          </p:cNvSpPr>
          <p:nvPr/>
        </p:nvSpPr>
        <p:spPr bwMode="auto">
          <a:xfrm>
            <a:off x="6551612" y="3742055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0" name="Rectangle 11332"/>
          <p:cNvSpPr>
            <a:spLocks noChangeArrowheads="1"/>
          </p:cNvSpPr>
          <p:nvPr/>
        </p:nvSpPr>
        <p:spPr bwMode="auto">
          <a:xfrm>
            <a:off x="6575742" y="374205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1" name="Rectangle 11333"/>
          <p:cNvSpPr>
            <a:spLocks noChangeArrowheads="1"/>
          </p:cNvSpPr>
          <p:nvPr/>
        </p:nvSpPr>
        <p:spPr bwMode="auto">
          <a:xfrm>
            <a:off x="6618287" y="374205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2" name="Rectangle 11334"/>
          <p:cNvSpPr>
            <a:spLocks noChangeArrowheads="1"/>
          </p:cNvSpPr>
          <p:nvPr/>
        </p:nvSpPr>
        <p:spPr bwMode="auto">
          <a:xfrm>
            <a:off x="6654482" y="374205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3" name="Rectangle 11335"/>
          <p:cNvSpPr>
            <a:spLocks noChangeArrowheads="1"/>
          </p:cNvSpPr>
          <p:nvPr/>
        </p:nvSpPr>
        <p:spPr bwMode="auto">
          <a:xfrm>
            <a:off x="2102167" y="3881120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4" name="Rectangle 11336"/>
          <p:cNvSpPr>
            <a:spLocks noChangeArrowheads="1"/>
          </p:cNvSpPr>
          <p:nvPr/>
        </p:nvSpPr>
        <p:spPr bwMode="auto">
          <a:xfrm>
            <a:off x="2156777" y="388112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5" name="Rectangle 11337"/>
          <p:cNvSpPr>
            <a:spLocks noChangeArrowheads="1"/>
          </p:cNvSpPr>
          <p:nvPr/>
        </p:nvSpPr>
        <p:spPr bwMode="auto">
          <a:xfrm>
            <a:off x="2198687" y="388112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6" name="Rectangle 11338"/>
          <p:cNvSpPr>
            <a:spLocks noChangeArrowheads="1"/>
          </p:cNvSpPr>
          <p:nvPr/>
        </p:nvSpPr>
        <p:spPr bwMode="auto">
          <a:xfrm>
            <a:off x="2238057" y="388112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7" name="Rectangle 11339"/>
          <p:cNvSpPr>
            <a:spLocks noChangeArrowheads="1"/>
          </p:cNvSpPr>
          <p:nvPr/>
        </p:nvSpPr>
        <p:spPr bwMode="auto">
          <a:xfrm>
            <a:off x="2280602" y="388112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78" name="Rectangle 11340"/>
          <p:cNvSpPr>
            <a:spLocks noChangeArrowheads="1"/>
          </p:cNvSpPr>
          <p:nvPr/>
        </p:nvSpPr>
        <p:spPr bwMode="auto">
          <a:xfrm>
            <a:off x="2126297" y="395668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79" name="Rectangle 11341"/>
          <p:cNvSpPr>
            <a:spLocks noChangeArrowheads="1"/>
          </p:cNvSpPr>
          <p:nvPr/>
        </p:nvSpPr>
        <p:spPr bwMode="auto">
          <a:xfrm>
            <a:off x="2165667" y="395668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0" name="Rectangle 11342"/>
          <p:cNvSpPr>
            <a:spLocks noChangeArrowheads="1"/>
          </p:cNvSpPr>
          <p:nvPr/>
        </p:nvSpPr>
        <p:spPr bwMode="auto">
          <a:xfrm>
            <a:off x="2207577" y="395668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1" name="Rectangle 11343"/>
          <p:cNvSpPr>
            <a:spLocks noChangeArrowheads="1"/>
          </p:cNvSpPr>
          <p:nvPr/>
        </p:nvSpPr>
        <p:spPr bwMode="auto">
          <a:xfrm>
            <a:off x="2229167" y="395668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2" name="Rectangle 11344"/>
          <p:cNvSpPr>
            <a:spLocks noChangeArrowheads="1"/>
          </p:cNvSpPr>
          <p:nvPr/>
        </p:nvSpPr>
        <p:spPr bwMode="auto">
          <a:xfrm>
            <a:off x="1832927" y="3760470"/>
            <a:ext cx="514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3" name="Rectangle 11345"/>
          <p:cNvSpPr>
            <a:spLocks noChangeArrowheads="1"/>
          </p:cNvSpPr>
          <p:nvPr/>
        </p:nvSpPr>
        <p:spPr bwMode="auto">
          <a:xfrm>
            <a:off x="1884362" y="37604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4" name="Rectangle 11346"/>
          <p:cNvSpPr>
            <a:spLocks noChangeArrowheads="1"/>
          </p:cNvSpPr>
          <p:nvPr/>
        </p:nvSpPr>
        <p:spPr bwMode="auto">
          <a:xfrm>
            <a:off x="1923732" y="37604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5" name="Rectangle 11347"/>
          <p:cNvSpPr>
            <a:spLocks noChangeArrowheads="1"/>
          </p:cNvSpPr>
          <p:nvPr/>
        </p:nvSpPr>
        <p:spPr bwMode="auto">
          <a:xfrm>
            <a:off x="1966277" y="376047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6" name="Rectangle 11348"/>
          <p:cNvSpPr>
            <a:spLocks noChangeArrowheads="1"/>
          </p:cNvSpPr>
          <p:nvPr/>
        </p:nvSpPr>
        <p:spPr bwMode="auto">
          <a:xfrm>
            <a:off x="1990407" y="37604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7" name="Rectangle 11349"/>
          <p:cNvSpPr>
            <a:spLocks noChangeArrowheads="1"/>
          </p:cNvSpPr>
          <p:nvPr/>
        </p:nvSpPr>
        <p:spPr bwMode="auto">
          <a:xfrm>
            <a:off x="2032317" y="376047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8" name="Rectangle 11350"/>
          <p:cNvSpPr>
            <a:spLocks noChangeArrowheads="1"/>
          </p:cNvSpPr>
          <p:nvPr/>
        </p:nvSpPr>
        <p:spPr bwMode="auto">
          <a:xfrm>
            <a:off x="2068512" y="376047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89" name="Rectangle 11351"/>
          <p:cNvSpPr>
            <a:spLocks noChangeArrowheads="1"/>
          </p:cNvSpPr>
          <p:nvPr/>
        </p:nvSpPr>
        <p:spPr bwMode="auto">
          <a:xfrm>
            <a:off x="3486467" y="3757295"/>
            <a:ext cx="723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W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0" name="Rectangle 11352"/>
          <p:cNvSpPr>
            <a:spLocks noChangeArrowheads="1"/>
          </p:cNvSpPr>
          <p:nvPr/>
        </p:nvSpPr>
        <p:spPr bwMode="auto">
          <a:xfrm>
            <a:off x="3556317" y="3757295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1" name="Rectangle 11353"/>
          <p:cNvSpPr>
            <a:spLocks noChangeArrowheads="1"/>
          </p:cNvSpPr>
          <p:nvPr/>
        </p:nvSpPr>
        <p:spPr bwMode="auto">
          <a:xfrm>
            <a:off x="3580447" y="3757295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2" name="Rectangle 11354"/>
          <p:cNvSpPr>
            <a:spLocks noChangeArrowheads="1"/>
          </p:cNvSpPr>
          <p:nvPr/>
        </p:nvSpPr>
        <p:spPr bwMode="auto">
          <a:xfrm>
            <a:off x="3598227" y="375729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3" name="Rectangle 11355"/>
          <p:cNvSpPr>
            <a:spLocks noChangeArrowheads="1"/>
          </p:cNvSpPr>
          <p:nvPr/>
        </p:nvSpPr>
        <p:spPr bwMode="auto">
          <a:xfrm>
            <a:off x="3619817" y="375729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4" name="Rectangle 11356"/>
          <p:cNvSpPr>
            <a:spLocks noChangeArrowheads="1"/>
          </p:cNvSpPr>
          <p:nvPr/>
        </p:nvSpPr>
        <p:spPr bwMode="auto">
          <a:xfrm>
            <a:off x="3659187" y="375729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395" name="Rectangle 11357"/>
          <p:cNvSpPr>
            <a:spLocks noChangeArrowheads="1"/>
          </p:cNvSpPr>
          <p:nvPr/>
        </p:nvSpPr>
        <p:spPr bwMode="auto">
          <a:xfrm>
            <a:off x="3486467" y="383286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6" name="Rectangle 11358"/>
          <p:cNvSpPr>
            <a:spLocks noChangeArrowheads="1"/>
          </p:cNvSpPr>
          <p:nvPr/>
        </p:nvSpPr>
        <p:spPr bwMode="auto">
          <a:xfrm>
            <a:off x="3510597" y="383286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7" name="Rectangle 11359"/>
          <p:cNvSpPr>
            <a:spLocks noChangeArrowheads="1"/>
          </p:cNvSpPr>
          <p:nvPr/>
        </p:nvSpPr>
        <p:spPr bwMode="auto">
          <a:xfrm>
            <a:off x="3553142" y="383286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g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8" name="Rectangle 11360"/>
          <p:cNvSpPr>
            <a:spLocks noChangeArrowheads="1"/>
          </p:cNvSpPr>
          <p:nvPr/>
        </p:nvSpPr>
        <p:spPr bwMode="auto">
          <a:xfrm>
            <a:off x="3595687" y="3832860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399" name="Rectangle 11361"/>
          <p:cNvSpPr>
            <a:spLocks noChangeArrowheads="1"/>
          </p:cNvSpPr>
          <p:nvPr/>
        </p:nvSpPr>
        <p:spPr bwMode="auto">
          <a:xfrm>
            <a:off x="3610292" y="383286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0" name="Rectangle 11362"/>
          <p:cNvSpPr>
            <a:spLocks noChangeArrowheads="1"/>
          </p:cNvSpPr>
          <p:nvPr/>
        </p:nvSpPr>
        <p:spPr bwMode="auto">
          <a:xfrm>
            <a:off x="3646487" y="383286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1" name="Rectangle 11363"/>
          <p:cNvSpPr>
            <a:spLocks noChangeArrowheads="1"/>
          </p:cNvSpPr>
          <p:nvPr/>
        </p:nvSpPr>
        <p:spPr bwMode="auto">
          <a:xfrm>
            <a:off x="3668077" y="383286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2" name="Rectangle 11364"/>
          <p:cNvSpPr>
            <a:spLocks noChangeArrowheads="1"/>
          </p:cNvSpPr>
          <p:nvPr/>
        </p:nvSpPr>
        <p:spPr bwMode="auto">
          <a:xfrm>
            <a:off x="3709987" y="383286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3" name="Rectangle 11365"/>
          <p:cNvSpPr>
            <a:spLocks noChangeArrowheads="1"/>
          </p:cNvSpPr>
          <p:nvPr/>
        </p:nvSpPr>
        <p:spPr bwMode="auto">
          <a:xfrm>
            <a:off x="3480752" y="3965575"/>
            <a:ext cx="723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W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4" name="Rectangle 11366"/>
          <p:cNvSpPr>
            <a:spLocks noChangeArrowheads="1"/>
          </p:cNvSpPr>
          <p:nvPr/>
        </p:nvSpPr>
        <p:spPr bwMode="auto">
          <a:xfrm>
            <a:off x="3549967" y="3965575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5" name="Rectangle 11367"/>
          <p:cNvSpPr>
            <a:spLocks noChangeArrowheads="1"/>
          </p:cNvSpPr>
          <p:nvPr/>
        </p:nvSpPr>
        <p:spPr bwMode="auto">
          <a:xfrm>
            <a:off x="3574097" y="3965575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6" name="Rectangle 11368"/>
          <p:cNvSpPr>
            <a:spLocks noChangeArrowheads="1"/>
          </p:cNvSpPr>
          <p:nvPr/>
        </p:nvSpPr>
        <p:spPr bwMode="auto">
          <a:xfrm>
            <a:off x="3592512" y="396557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7" name="Rectangle 11369"/>
          <p:cNvSpPr>
            <a:spLocks noChangeArrowheads="1"/>
          </p:cNvSpPr>
          <p:nvPr/>
        </p:nvSpPr>
        <p:spPr bwMode="auto">
          <a:xfrm>
            <a:off x="3613467" y="39655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08" name="Rectangle 11370"/>
          <p:cNvSpPr>
            <a:spLocks noChangeArrowheads="1"/>
          </p:cNvSpPr>
          <p:nvPr/>
        </p:nvSpPr>
        <p:spPr bwMode="auto">
          <a:xfrm>
            <a:off x="3652837" y="396557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409" name="Rectangle 11371"/>
          <p:cNvSpPr>
            <a:spLocks noChangeArrowheads="1"/>
          </p:cNvSpPr>
          <p:nvPr/>
        </p:nvSpPr>
        <p:spPr bwMode="auto">
          <a:xfrm>
            <a:off x="3480752" y="404114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0" name="Rectangle 11372"/>
          <p:cNvSpPr>
            <a:spLocks noChangeArrowheads="1"/>
          </p:cNvSpPr>
          <p:nvPr/>
        </p:nvSpPr>
        <p:spPr bwMode="auto">
          <a:xfrm>
            <a:off x="3522662" y="404114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1" name="Rectangle 11373"/>
          <p:cNvSpPr>
            <a:spLocks noChangeArrowheads="1"/>
          </p:cNvSpPr>
          <p:nvPr/>
        </p:nvSpPr>
        <p:spPr bwMode="auto">
          <a:xfrm>
            <a:off x="3562032" y="404114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2" name="Rectangle 11374"/>
          <p:cNvSpPr>
            <a:spLocks noChangeArrowheads="1"/>
          </p:cNvSpPr>
          <p:nvPr/>
        </p:nvSpPr>
        <p:spPr bwMode="auto">
          <a:xfrm>
            <a:off x="3583622" y="404114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3" name="Rectangle 11375"/>
          <p:cNvSpPr>
            <a:spLocks noChangeArrowheads="1"/>
          </p:cNvSpPr>
          <p:nvPr/>
        </p:nvSpPr>
        <p:spPr bwMode="auto">
          <a:xfrm>
            <a:off x="3840162" y="3288665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4" name="Rectangle 11376"/>
          <p:cNvSpPr>
            <a:spLocks noChangeArrowheads="1"/>
          </p:cNvSpPr>
          <p:nvPr/>
        </p:nvSpPr>
        <p:spPr bwMode="auto">
          <a:xfrm>
            <a:off x="3894772" y="32886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5" name="Rectangle 11377"/>
          <p:cNvSpPr>
            <a:spLocks noChangeArrowheads="1"/>
          </p:cNvSpPr>
          <p:nvPr/>
        </p:nvSpPr>
        <p:spPr bwMode="auto">
          <a:xfrm>
            <a:off x="3936682" y="32886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6" name="Rectangle 11378"/>
          <p:cNvSpPr>
            <a:spLocks noChangeArrowheads="1"/>
          </p:cNvSpPr>
          <p:nvPr/>
        </p:nvSpPr>
        <p:spPr bwMode="auto">
          <a:xfrm>
            <a:off x="3976052" y="32886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7" name="Rectangle 11379"/>
          <p:cNvSpPr>
            <a:spLocks noChangeArrowheads="1"/>
          </p:cNvSpPr>
          <p:nvPr/>
        </p:nvSpPr>
        <p:spPr bwMode="auto">
          <a:xfrm>
            <a:off x="4018597" y="328866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418" name="Rectangle 11380"/>
          <p:cNvSpPr>
            <a:spLocks noChangeArrowheads="1"/>
          </p:cNvSpPr>
          <p:nvPr/>
        </p:nvSpPr>
        <p:spPr bwMode="auto">
          <a:xfrm>
            <a:off x="3795077" y="33642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19" name="Rectangle 11381"/>
          <p:cNvSpPr>
            <a:spLocks noChangeArrowheads="1"/>
          </p:cNvSpPr>
          <p:nvPr/>
        </p:nvSpPr>
        <p:spPr bwMode="auto">
          <a:xfrm>
            <a:off x="3836987" y="33642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0" name="Rectangle 11382"/>
          <p:cNvSpPr>
            <a:spLocks noChangeArrowheads="1"/>
          </p:cNvSpPr>
          <p:nvPr/>
        </p:nvSpPr>
        <p:spPr bwMode="auto">
          <a:xfrm>
            <a:off x="3879532" y="336423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1" name="Rectangle 11383"/>
          <p:cNvSpPr>
            <a:spLocks noChangeArrowheads="1"/>
          </p:cNvSpPr>
          <p:nvPr/>
        </p:nvSpPr>
        <p:spPr bwMode="auto">
          <a:xfrm>
            <a:off x="3900487" y="33642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2" name="Rectangle 11384"/>
          <p:cNvSpPr>
            <a:spLocks noChangeArrowheads="1"/>
          </p:cNvSpPr>
          <p:nvPr/>
        </p:nvSpPr>
        <p:spPr bwMode="auto">
          <a:xfrm>
            <a:off x="3939857" y="3364230"/>
            <a:ext cx="21590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solidFill>
                  <a:srgbClr val="000000"/>
                </a:solidFill>
                <a:effectLst/>
                <a:latin typeface="Arial"/>
                <a:ea typeface="Batang"/>
              </a:rPr>
              <a:t> 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3" name="Rectangle 11385"/>
          <p:cNvSpPr>
            <a:spLocks noChangeArrowheads="1"/>
          </p:cNvSpPr>
          <p:nvPr/>
        </p:nvSpPr>
        <p:spPr bwMode="auto">
          <a:xfrm>
            <a:off x="3961447" y="33642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1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4" name="Rectangle 11386"/>
          <p:cNvSpPr>
            <a:spLocks noChangeArrowheads="1"/>
          </p:cNvSpPr>
          <p:nvPr/>
        </p:nvSpPr>
        <p:spPr bwMode="auto">
          <a:xfrm>
            <a:off x="3846512" y="3860165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5" name="Rectangle 11387"/>
          <p:cNvSpPr>
            <a:spLocks noChangeArrowheads="1"/>
          </p:cNvSpPr>
          <p:nvPr/>
        </p:nvSpPr>
        <p:spPr bwMode="auto">
          <a:xfrm>
            <a:off x="3900487" y="38601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6" name="Rectangle 11388"/>
          <p:cNvSpPr>
            <a:spLocks noChangeArrowheads="1"/>
          </p:cNvSpPr>
          <p:nvPr/>
        </p:nvSpPr>
        <p:spPr bwMode="auto">
          <a:xfrm>
            <a:off x="3943032" y="38601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7" name="Rectangle 11389"/>
          <p:cNvSpPr>
            <a:spLocks noChangeArrowheads="1"/>
          </p:cNvSpPr>
          <p:nvPr/>
        </p:nvSpPr>
        <p:spPr bwMode="auto">
          <a:xfrm>
            <a:off x="3985577" y="386016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28" name="Rectangle 11390"/>
          <p:cNvSpPr>
            <a:spLocks noChangeArrowheads="1"/>
          </p:cNvSpPr>
          <p:nvPr/>
        </p:nvSpPr>
        <p:spPr bwMode="auto">
          <a:xfrm>
            <a:off x="4024947" y="386016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429" name="Rectangle 11391"/>
          <p:cNvSpPr>
            <a:spLocks noChangeArrowheads="1"/>
          </p:cNvSpPr>
          <p:nvPr/>
        </p:nvSpPr>
        <p:spPr bwMode="auto">
          <a:xfrm>
            <a:off x="3803967" y="3935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0" name="Rectangle 11392"/>
          <p:cNvSpPr>
            <a:spLocks noChangeArrowheads="1"/>
          </p:cNvSpPr>
          <p:nvPr/>
        </p:nvSpPr>
        <p:spPr bwMode="auto">
          <a:xfrm>
            <a:off x="3843337" y="3935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1" name="Rectangle 11393"/>
          <p:cNvSpPr>
            <a:spLocks noChangeArrowheads="1"/>
          </p:cNvSpPr>
          <p:nvPr/>
        </p:nvSpPr>
        <p:spPr bwMode="auto">
          <a:xfrm>
            <a:off x="3885882" y="393573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2" name="Rectangle 11394"/>
          <p:cNvSpPr>
            <a:spLocks noChangeArrowheads="1"/>
          </p:cNvSpPr>
          <p:nvPr/>
        </p:nvSpPr>
        <p:spPr bwMode="auto">
          <a:xfrm>
            <a:off x="3906837" y="3935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3" name="Rectangle 11395"/>
          <p:cNvSpPr>
            <a:spLocks noChangeArrowheads="1"/>
          </p:cNvSpPr>
          <p:nvPr/>
        </p:nvSpPr>
        <p:spPr bwMode="auto">
          <a:xfrm>
            <a:off x="3946207" y="3935730"/>
            <a:ext cx="21590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solidFill>
                  <a:srgbClr val="000000"/>
                </a:solidFill>
                <a:effectLst/>
                <a:latin typeface="Arial"/>
                <a:ea typeface="Batang"/>
              </a:rPr>
              <a:t> 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4" name="Rectangle 11396"/>
          <p:cNvSpPr>
            <a:spLocks noChangeArrowheads="1"/>
          </p:cNvSpPr>
          <p:nvPr/>
        </p:nvSpPr>
        <p:spPr bwMode="auto">
          <a:xfrm>
            <a:off x="3967162" y="393573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2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5" name="Rectangle 11397"/>
          <p:cNvSpPr>
            <a:spLocks noChangeArrowheads="1"/>
          </p:cNvSpPr>
          <p:nvPr/>
        </p:nvSpPr>
        <p:spPr bwMode="auto">
          <a:xfrm>
            <a:off x="3480752" y="3328035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6" name="Rectangle 11398"/>
          <p:cNvSpPr>
            <a:spLocks noChangeArrowheads="1"/>
          </p:cNvSpPr>
          <p:nvPr/>
        </p:nvSpPr>
        <p:spPr bwMode="auto">
          <a:xfrm>
            <a:off x="3534727" y="33280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7" name="Rectangle 11399"/>
          <p:cNvSpPr>
            <a:spLocks noChangeArrowheads="1"/>
          </p:cNvSpPr>
          <p:nvPr/>
        </p:nvSpPr>
        <p:spPr bwMode="auto">
          <a:xfrm>
            <a:off x="3574097" y="33280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8" name="Rectangle 11400"/>
          <p:cNvSpPr>
            <a:spLocks noChangeArrowheads="1"/>
          </p:cNvSpPr>
          <p:nvPr/>
        </p:nvSpPr>
        <p:spPr bwMode="auto">
          <a:xfrm>
            <a:off x="3616642" y="33280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39" name="Rectangle 11401"/>
          <p:cNvSpPr>
            <a:spLocks noChangeArrowheads="1"/>
          </p:cNvSpPr>
          <p:nvPr/>
        </p:nvSpPr>
        <p:spPr bwMode="auto">
          <a:xfrm>
            <a:off x="3659187" y="332803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440" name="Rectangle 11402"/>
          <p:cNvSpPr>
            <a:spLocks noChangeArrowheads="1"/>
          </p:cNvSpPr>
          <p:nvPr/>
        </p:nvSpPr>
        <p:spPr bwMode="auto">
          <a:xfrm>
            <a:off x="3480752" y="340360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41" name="Rectangle 11403"/>
          <p:cNvSpPr>
            <a:spLocks noChangeArrowheads="1"/>
          </p:cNvSpPr>
          <p:nvPr/>
        </p:nvSpPr>
        <p:spPr bwMode="auto">
          <a:xfrm>
            <a:off x="3504882" y="34036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42" name="Rectangle 11404"/>
          <p:cNvSpPr>
            <a:spLocks noChangeArrowheads="1"/>
          </p:cNvSpPr>
          <p:nvPr/>
        </p:nvSpPr>
        <p:spPr bwMode="auto">
          <a:xfrm>
            <a:off x="3546792" y="34036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g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43" name="Rectangle 11405"/>
          <p:cNvSpPr>
            <a:spLocks noChangeArrowheads="1"/>
          </p:cNvSpPr>
          <p:nvPr/>
        </p:nvSpPr>
        <p:spPr bwMode="auto">
          <a:xfrm>
            <a:off x="3586162" y="3403600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44" name="Rectangle 11406"/>
          <p:cNvSpPr>
            <a:spLocks noChangeArrowheads="1"/>
          </p:cNvSpPr>
          <p:nvPr/>
        </p:nvSpPr>
        <p:spPr bwMode="auto">
          <a:xfrm>
            <a:off x="3604577" y="340360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45" name="Rectangle 11407"/>
          <p:cNvSpPr>
            <a:spLocks noChangeArrowheads="1"/>
          </p:cNvSpPr>
          <p:nvPr/>
        </p:nvSpPr>
        <p:spPr bwMode="auto">
          <a:xfrm>
            <a:off x="3640772" y="340360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46" name="Rectangle 11408"/>
          <p:cNvSpPr>
            <a:spLocks noChangeArrowheads="1"/>
          </p:cNvSpPr>
          <p:nvPr/>
        </p:nvSpPr>
        <p:spPr bwMode="auto">
          <a:xfrm>
            <a:off x="3661727" y="34036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47" name="Rectangle 11409"/>
          <p:cNvSpPr>
            <a:spLocks noChangeArrowheads="1"/>
          </p:cNvSpPr>
          <p:nvPr/>
        </p:nvSpPr>
        <p:spPr bwMode="auto">
          <a:xfrm>
            <a:off x="3704272" y="340360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48" name="Rectangle 11410"/>
          <p:cNvSpPr>
            <a:spLocks noChangeArrowheads="1"/>
          </p:cNvSpPr>
          <p:nvPr/>
        </p:nvSpPr>
        <p:spPr bwMode="auto">
          <a:xfrm>
            <a:off x="3728402" y="3403600"/>
            <a:ext cx="21590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solidFill>
                  <a:srgbClr val="000000"/>
                </a:solidFill>
                <a:effectLst/>
                <a:latin typeface="Arial"/>
                <a:ea typeface="Batang"/>
              </a:rPr>
              <a:t> 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49" name="Rectangle 11411"/>
          <p:cNvSpPr>
            <a:spLocks noChangeArrowheads="1"/>
          </p:cNvSpPr>
          <p:nvPr/>
        </p:nvSpPr>
        <p:spPr bwMode="auto">
          <a:xfrm>
            <a:off x="3749357" y="34036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1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50" name="Rectangle 11412"/>
          <p:cNvSpPr>
            <a:spLocks noChangeArrowheads="1"/>
          </p:cNvSpPr>
          <p:nvPr/>
        </p:nvSpPr>
        <p:spPr bwMode="auto">
          <a:xfrm>
            <a:off x="3480752" y="3506470"/>
            <a:ext cx="552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51" name="Rectangle 11413"/>
          <p:cNvSpPr>
            <a:spLocks noChangeArrowheads="1"/>
          </p:cNvSpPr>
          <p:nvPr/>
        </p:nvSpPr>
        <p:spPr bwMode="auto">
          <a:xfrm>
            <a:off x="3534727" y="35064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52" name="Rectangle 11414"/>
          <p:cNvSpPr>
            <a:spLocks noChangeArrowheads="1"/>
          </p:cNvSpPr>
          <p:nvPr/>
        </p:nvSpPr>
        <p:spPr bwMode="auto">
          <a:xfrm>
            <a:off x="3574097" y="35064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53" name="Rectangle 11415"/>
          <p:cNvSpPr>
            <a:spLocks noChangeArrowheads="1"/>
          </p:cNvSpPr>
          <p:nvPr/>
        </p:nvSpPr>
        <p:spPr bwMode="auto">
          <a:xfrm>
            <a:off x="3616642" y="35064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d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54" name="Rectangle 11416"/>
          <p:cNvSpPr>
            <a:spLocks noChangeArrowheads="1"/>
          </p:cNvSpPr>
          <p:nvPr/>
        </p:nvSpPr>
        <p:spPr bwMode="auto">
          <a:xfrm>
            <a:off x="3659187" y="3506470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455" name="Rectangle 11417"/>
          <p:cNvSpPr>
            <a:spLocks noChangeArrowheads="1"/>
          </p:cNvSpPr>
          <p:nvPr/>
        </p:nvSpPr>
        <p:spPr bwMode="auto">
          <a:xfrm>
            <a:off x="3480752" y="3582035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56" name="Rectangle 11418"/>
          <p:cNvSpPr>
            <a:spLocks noChangeArrowheads="1"/>
          </p:cNvSpPr>
          <p:nvPr/>
        </p:nvSpPr>
        <p:spPr bwMode="auto">
          <a:xfrm>
            <a:off x="3504882" y="35820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57" name="Rectangle 11419"/>
          <p:cNvSpPr>
            <a:spLocks noChangeArrowheads="1"/>
          </p:cNvSpPr>
          <p:nvPr/>
        </p:nvSpPr>
        <p:spPr bwMode="auto">
          <a:xfrm>
            <a:off x="3546792" y="35820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g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58" name="Rectangle 11420"/>
          <p:cNvSpPr>
            <a:spLocks noChangeArrowheads="1"/>
          </p:cNvSpPr>
          <p:nvPr/>
        </p:nvSpPr>
        <p:spPr bwMode="auto">
          <a:xfrm>
            <a:off x="3586162" y="3582035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59" name="Rectangle 11421"/>
          <p:cNvSpPr>
            <a:spLocks noChangeArrowheads="1"/>
          </p:cNvSpPr>
          <p:nvPr/>
        </p:nvSpPr>
        <p:spPr bwMode="auto">
          <a:xfrm>
            <a:off x="3604577" y="358203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60" name="Rectangle 11422"/>
          <p:cNvSpPr>
            <a:spLocks noChangeArrowheads="1"/>
          </p:cNvSpPr>
          <p:nvPr/>
        </p:nvSpPr>
        <p:spPr bwMode="auto">
          <a:xfrm>
            <a:off x="3640772" y="358203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61" name="Rectangle 11423"/>
          <p:cNvSpPr>
            <a:spLocks noChangeArrowheads="1"/>
          </p:cNvSpPr>
          <p:nvPr/>
        </p:nvSpPr>
        <p:spPr bwMode="auto">
          <a:xfrm>
            <a:off x="3661727" y="35820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62" name="Rectangle 11424"/>
          <p:cNvSpPr>
            <a:spLocks noChangeArrowheads="1"/>
          </p:cNvSpPr>
          <p:nvPr/>
        </p:nvSpPr>
        <p:spPr bwMode="auto">
          <a:xfrm>
            <a:off x="3704272" y="3582035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63" name="Rectangle 11425"/>
          <p:cNvSpPr>
            <a:spLocks noChangeArrowheads="1"/>
          </p:cNvSpPr>
          <p:nvPr/>
        </p:nvSpPr>
        <p:spPr bwMode="auto">
          <a:xfrm>
            <a:off x="3728402" y="3582035"/>
            <a:ext cx="21590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solidFill>
                  <a:srgbClr val="000000"/>
                </a:solidFill>
                <a:effectLst/>
                <a:latin typeface="Arial"/>
                <a:ea typeface="Batang"/>
              </a:rPr>
              <a:t> 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64" name="Rectangle 11426"/>
          <p:cNvSpPr>
            <a:spLocks noChangeArrowheads="1"/>
          </p:cNvSpPr>
          <p:nvPr/>
        </p:nvSpPr>
        <p:spPr bwMode="auto">
          <a:xfrm>
            <a:off x="3749357" y="35820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2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65" name="Freeform 11427"/>
          <p:cNvSpPr>
            <a:spLocks/>
          </p:cNvSpPr>
          <p:nvPr/>
        </p:nvSpPr>
        <p:spPr bwMode="auto">
          <a:xfrm>
            <a:off x="5554027" y="4116705"/>
            <a:ext cx="254000" cy="340995"/>
          </a:xfrm>
          <a:custGeom>
            <a:avLst/>
            <a:gdLst>
              <a:gd name="T0" fmla="*/ 200 w 400"/>
              <a:gd name="T1" fmla="*/ 533 h 537"/>
              <a:gd name="T2" fmla="*/ 172 w 400"/>
              <a:gd name="T3" fmla="*/ 533 h 537"/>
              <a:gd name="T4" fmla="*/ 138 w 400"/>
              <a:gd name="T5" fmla="*/ 523 h 537"/>
              <a:gd name="T6" fmla="*/ 110 w 400"/>
              <a:gd name="T7" fmla="*/ 504 h 537"/>
              <a:gd name="T8" fmla="*/ 86 w 400"/>
              <a:gd name="T9" fmla="*/ 480 h 537"/>
              <a:gd name="T10" fmla="*/ 62 w 400"/>
              <a:gd name="T11" fmla="*/ 456 h 537"/>
              <a:gd name="T12" fmla="*/ 38 w 400"/>
              <a:gd name="T13" fmla="*/ 423 h 537"/>
              <a:gd name="T14" fmla="*/ 24 w 400"/>
              <a:gd name="T15" fmla="*/ 390 h 537"/>
              <a:gd name="T16" fmla="*/ 10 w 400"/>
              <a:gd name="T17" fmla="*/ 352 h 537"/>
              <a:gd name="T18" fmla="*/ 0 w 400"/>
              <a:gd name="T19" fmla="*/ 309 h 537"/>
              <a:gd name="T20" fmla="*/ 0 w 400"/>
              <a:gd name="T21" fmla="*/ 271 h 537"/>
              <a:gd name="T22" fmla="*/ 0 w 400"/>
              <a:gd name="T23" fmla="*/ 228 h 537"/>
              <a:gd name="T24" fmla="*/ 10 w 400"/>
              <a:gd name="T25" fmla="*/ 185 h 537"/>
              <a:gd name="T26" fmla="*/ 24 w 400"/>
              <a:gd name="T27" fmla="*/ 152 h 537"/>
              <a:gd name="T28" fmla="*/ 38 w 400"/>
              <a:gd name="T29" fmla="*/ 114 h 537"/>
              <a:gd name="T30" fmla="*/ 62 w 400"/>
              <a:gd name="T31" fmla="*/ 81 h 537"/>
              <a:gd name="T32" fmla="*/ 86 w 400"/>
              <a:gd name="T33" fmla="*/ 57 h 537"/>
              <a:gd name="T34" fmla="*/ 110 w 400"/>
              <a:gd name="T35" fmla="*/ 33 h 537"/>
              <a:gd name="T36" fmla="*/ 138 w 400"/>
              <a:gd name="T37" fmla="*/ 14 h 537"/>
              <a:gd name="T38" fmla="*/ 172 w 400"/>
              <a:gd name="T39" fmla="*/ 4 h 537"/>
              <a:gd name="T40" fmla="*/ 200 w 400"/>
              <a:gd name="T41" fmla="*/ 0 h 537"/>
              <a:gd name="T42" fmla="*/ 229 w 400"/>
              <a:gd name="T43" fmla="*/ 4 h 537"/>
              <a:gd name="T44" fmla="*/ 262 w 400"/>
              <a:gd name="T45" fmla="*/ 14 h 537"/>
              <a:gd name="T46" fmla="*/ 291 w 400"/>
              <a:gd name="T47" fmla="*/ 33 h 537"/>
              <a:gd name="T48" fmla="*/ 315 w 400"/>
              <a:gd name="T49" fmla="*/ 57 h 537"/>
              <a:gd name="T50" fmla="*/ 338 w 400"/>
              <a:gd name="T51" fmla="*/ 81 h 537"/>
              <a:gd name="T52" fmla="*/ 362 w 400"/>
              <a:gd name="T53" fmla="*/ 114 h 537"/>
              <a:gd name="T54" fmla="*/ 376 w 400"/>
              <a:gd name="T55" fmla="*/ 152 h 537"/>
              <a:gd name="T56" fmla="*/ 391 w 400"/>
              <a:gd name="T57" fmla="*/ 185 h 537"/>
              <a:gd name="T58" fmla="*/ 400 w 400"/>
              <a:gd name="T59" fmla="*/ 228 h 537"/>
              <a:gd name="T60" fmla="*/ 400 w 400"/>
              <a:gd name="T61" fmla="*/ 271 h 537"/>
              <a:gd name="T62" fmla="*/ 400 w 400"/>
              <a:gd name="T63" fmla="*/ 309 h 537"/>
              <a:gd name="T64" fmla="*/ 391 w 400"/>
              <a:gd name="T65" fmla="*/ 352 h 537"/>
              <a:gd name="T66" fmla="*/ 376 w 400"/>
              <a:gd name="T67" fmla="*/ 390 h 537"/>
              <a:gd name="T68" fmla="*/ 362 w 400"/>
              <a:gd name="T69" fmla="*/ 423 h 537"/>
              <a:gd name="T70" fmla="*/ 338 w 400"/>
              <a:gd name="T71" fmla="*/ 456 h 537"/>
              <a:gd name="T72" fmla="*/ 315 w 400"/>
              <a:gd name="T73" fmla="*/ 480 h 537"/>
              <a:gd name="T74" fmla="*/ 291 w 400"/>
              <a:gd name="T75" fmla="*/ 504 h 537"/>
              <a:gd name="T76" fmla="*/ 262 w 400"/>
              <a:gd name="T77" fmla="*/ 523 h 537"/>
              <a:gd name="T78" fmla="*/ 229 w 400"/>
              <a:gd name="T79" fmla="*/ 533 h 537"/>
              <a:gd name="T80" fmla="*/ 200 w 400"/>
              <a:gd name="T81" fmla="*/ 537 h 537"/>
              <a:gd name="T82" fmla="*/ 200 w 400"/>
              <a:gd name="T83" fmla="*/ 537 h 537"/>
              <a:gd name="T84" fmla="*/ 200 w 400"/>
              <a:gd name="T85" fmla="*/ 533 h 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00" h="537">
                <a:moveTo>
                  <a:pt x="200" y="533"/>
                </a:moveTo>
                <a:lnTo>
                  <a:pt x="172" y="533"/>
                </a:lnTo>
                <a:lnTo>
                  <a:pt x="138" y="523"/>
                </a:lnTo>
                <a:lnTo>
                  <a:pt x="110" y="504"/>
                </a:lnTo>
                <a:lnTo>
                  <a:pt x="86" y="480"/>
                </a:lnTo>
                <a:lnTo>
                  <a:pt x="62" y="456"/>
                </a:lnTo>
                <a:lnTo>
                  <a:pt x="38" y="423"/>
                </a:lnTo>
                <a:lnTo>
                  <a:pt x="24" y="390"/>
                </a:lnTo>
                <a:lnTo>
                  <a:pt x="10" y="352"/>
                </a:lnTo>
                <a:lnTo>
                  <a:pt x="0" y="309"/>
                </a:lnTo>
                <a:lnTo>
                  <a:pt x="0" y="271"/>
                </a:lnTo>
                <a:lnTo>
                  <a:pt x="0" y="228"/>
                </a:lnTo>
                <a:lnTo>
                  <a:pt x="10" y="185"/>
                </a:lnTo>
                <a:lnTo>
                  <a:pt x="24" y="152"/>
                </a:lnTo>
                <a:lnTo>
                  <a:pt x="38" y="114"/>
                </a:lnTo>
                <a:lnTo>
                  <a:pt x="62" y="81"/>
                </a:lnTo>
                <a:lnTo>
                  <a:pt x="86" y="57"/>
                </a:lnTo>
                <a:lnTo>
                  <a:pt x="110" y="33"/>
                </a:lnTo>
                <a:lnTo>
                  <a:pt x="138" y="14"/>
                </a:lnTo>
                <a:lnTo>
                  <a:pt x="172" y="4"/>
                </a:lnTo>
                <a:lnTo>
                  <a:pt x="200" y="0"/>
                </a:lnTo>
                <a:lnTo>
                  <a:pt x="229" y="4"/>
                </a:lnTo>
                <a:lnTo>
                  <a:pt x="262" y="14"/>
                </a:lnTo>
                <a:lnTo>
                  <a:pt x="291" y="33"/>
                </a:lnTo>
                <a:lnTo>
                  <a:pt x="315" y="57"/>
                </a:lnTo>
                <a:lnTo>
                  <a:pt x="338" y="81"/>
                </a:lnTo>
                <a:lnTo>
                  <a:pt x="362" y="114"/>
                </a:lnTo>
                <a:lnTo>
                  <a:pt x="376" y="152"/>
                </a:lnTo>
                <a:lnTo>
                  <a:pt x="391" y="185"/>
                </a:lnTo>
                <a:lnTo>
                  <a:pt x="400" y="228"/>
                </a:lnTo>
                <a:lnTo>
                  <a:pt x="400" y="271"/>
                </a:lnTo>
                <a:lnTo>
                  <a:pt x="400" y="309"/>
                </a:lnTo>
                <a:lnTo>
                  <a:pt x="391" y="352"/>
                </a:lnTo>
                <a:lnTo>
                  <a:pt x="376" y="390"/>
                </a:lnTo>
                <a:lnTo>
                  <a:pt x="362" y="423"/>
                </a:lnTo>
                <a:lnTo>
                  <a:pt x="338" y="456"/>
                </a:lnTo>
                <a:lnTo>
                  <a:pt x="315" y="480"/>
                </a:lnTo>
                <a:lnTo>
                  <a:pt x="291" y="504"/>
                </a:lnTo>
                <a:lnTo>
                  <a:pt x="262" y="523"/>
                </a:lnTo>
                <a:lnTo>
                  <a:pt x="229" y="533"/>
                </a:lnTo>
                <a:lnTo>
                  <a:pt x="200" y="537"/>
                </a:lnTo>
                <a:lnTo>
                  <a:pt x="200" y="537"/>
                </a:lnTo>
                <a:lnTo>
                  <a:pt x="200" y="5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466" name="Rectangle 11428"/>
          <p:cNvSpPr>
            <a:spLocks noChangeArrowheads="1"/>
          </p:cNvSpPr>
          <p:nvPr/>
        </p:nvSpPr>
        <p:spPr bwMode="auto">
          <a:xfrm>
            <a:off x="5611812" y="4173855"/>
            <a:ext cx="148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ALU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67" name="Rectangle 11429"/>
          <p:cNvSpPr>
            <a:spLocks noChangeArrowheads="1"/>
          </p:cNvSpPr>
          <p:nvPr/>
        </p:nvSpPr>
        <p:spPr bwMode="auto">
          <a:xfrm>
            <a:off x="5756592" y="4173855"/>
            <a:ext cx="69215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1200">
                <a:effectLst/>
                <a:latin typeface="Times New Roman"/>
                <a:ea typeface="Batang"/>
              </a:rPr>
              <a:t> </a:t>
            </a:r>
          </a:p>
        </p:txBody>
      </p:sp>
      <p:sp>
        <p:nvSpPr>
          <p:cNvPr id="468" name="Rectangle 11430"/>
          <p:cNvSpPr>
            <a:spLocks noChangeArrowheads="1"/>
          </p:cNvSpPr>
          <p:nvPr/>
        </p:nvSpPr>
        <p:spPr bwMode="auto">
          <a:xfrm>
            <a:off x="5560377" y="4258945"/>
            <a:ext cx="2292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control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cxnSp>
        <p:nvCxnSpPr>
          <p:cNvPr id="469" name="Line 11431"/>
          <p:cNvCxnSpPr/>
          <p:nvPr/>
        </p:nvCxnSpPr>
        <p:spPr bwMode="auto">
          <a:xfrm flipH="1" flipV="1">
            <a:off x="3840162" y="4421505"/>
            <a:ext cx="54610" cy="97155"/>
          </a:xfrm>
          <a:prstGeom prst="line">
            <a:avLst/>
          </a:prstGeom>
          <a:noFill/>
          <a:ln w="1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0" name="Rectangle 11432"/>
          <p:cNvSpPr>
            <a:spLocks noChangeArrowheads="1"/>
          </p:cNvSpPr>
          <p:nvPr/>
        </p:nvSpPr>
        <p:spPr bwMode="auto">
          <a:xfrm>
            <a:off x="3822382" y="432498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3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71" name="Rectangle 11433"/>
          <p:cNvSpPr>
            <a:spLocks noChangeArrowheads="1"/>
          </p:cNvSpPr>
          <p:nvPr/>
        </p:nvSpPr>
        <p:spPr bwMode="auto">
          <a:xfrm>
            <a:off x="3864292" y="432498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2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cxnSp>
        <p:nvCxnSpPr>
          <p:cNvPr id="472" name="Line 11434"/>
          <p:cNvCxnSpPr/>
          <p:nvPr/>
        </p:nvCxnSpPr>
        <p:spPr bwMode="auto">
          <a:xfrm flipH="1" flipV="1">
            <a:off x="3172142" y="4421505"/>
            <a:ext cx="54610" cy="97155"/>
          </a:xfrm>
          <a:prstGeom prst="line">
            <a:avLst/>
          </a:prstGeom>
          <a:noFill/>
          <a:ln w="1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3" name="Rectangle 11435"/>
          <p:cNvSpPr>
            <a:spLocks noChangeArrowheads="1"/>
          </p:cNvSpPr>
          <p:nvPr/>
        </p:nvSpPr>
        <p:spPr bwMode="auto">
          <a:xfrm>
            <a:off x="3154362" y="432498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1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74" name="Rectangle 11436"/>
          <p:cNvSpPr>
            <a:spLocks noChangeArrowheads="1"/>
          </p:cNvSpPr>
          <p:nvPr/>
        </p:nvSpPr>
        <p:spPr bwMode="auto">
          <a:xfrm>
            <a:off x="3196272" y="432498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6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cxnSp>
        <p:nvCxnSpPr>
          <p:cNvPr id="475" name="Line 11437"/>
          <p:cNvCxnSpPr/>
          <p:nvPr/>
        </p:nvCxnSpPr>
        <p:spPr bwMode="auto">
          <a:xfrm>
            <a:off x="5122227" y="4062095"/>
            <a:ext cx="141605" cy="317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6" name="Freeform 11438"/>
          <p:cNvSpPr>
            <a:spLocks/>
          </p:cNvSpPr>
          <p:nvPr/>
        </p:nvSpPr>
        <p:spPr bwMode="auto">
          <a:xfrm>
            <a:off x="5188267" y="4062095"/>
            <a:ext cx="680085" cy="471170"/>
          </a:xfrm>
          <a:custGeom>
            <a:avLst/>
            <a:gdLst>
              <a:gd name="T0" fmla="*/ 0 w 1071"/>
              <a:gd name="T1" fmla="*/ 0 h 742"/>
              <a:gd name="T2" fmla="*/ 0 w 1071"/>
              <a:gd name="T3" fmla="*/ 742 h 742"/>
              <a:gd name="T4" fmla="*/ 1071 w 1071"/>
              <a:gd name="T5" fmla="*/ 742 h 7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71" h="742">
                <a:moveTo>
                  <a:pt x="0" y="0"/>
                </a:moveTo>
                <a:lnTo>
                  <a:pt x="0" y="742"/>
                </a:lnTo>
                <a:lnTo>
                  <a:pt x="1071" y="742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477" name="Freeform 11439"/>
          <p:cNvSpPr>
            <a:spLocks/>
          </p:cNvSpPr>
          <p:nvPr/>
        </p:nvSpPr>
        <p:spPr bwMode="auto">
          <a:xfrm>
            <a:off x="6041072" y="4065270"/>
            <a:ext cx="320040" cy="459105"/>
          </a:xfrm>
          <a:custGeom>
            <a:avLst/>
            <a:gdLst>
              <a:gd name="T0" fmla="*/ 0 w 504"/>
              <a:gd name="T1" fmla="*/ 723 h 723"/>
              <a:gd name="T2" fmla="*/ 119 w 504"/>
              <a:gd name="T3" fmla="*/ 723 h 723"/>
              <a:gd name="T4" fmla="*/ 119 w 504"/>
              <a:gd name="T5" fmla="*/ 0 h 723"/>
              <a:gd name="T6" fmla="*/ 504 w 504"/>
              <a:gd name="T7" fmla="*/ 0 h 7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723">
                <a:moveTo>
                  <a:pt x="0" y="723"/>
                </a:moveTo>
                <a:lnTo>
                  <a:pt x="119" y="723"/>
                </a:lnTo>
                <a:lnTo>
                  <a:pt x="119" y="0"/>
                </a:lnTo>
                <a:lnTo>
                  <a:pt x="504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478" name="Rectangle 11440"/>
          <p:cNvSpPr>
            <a:spLocks noChangeArrowheads="1"/>
          </p:cNvSpPr>
          <p:nvPr/>
        </p:nvSpPr>
        <p:spPr bwMode="auto">
          <a:xfrm>
            <a:off x="3480752" y="500507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79" name="Rectangle 11441"/>
          <p:cNvSpPr>
            <a:spLocks noChangeArrowheads="1"/>
          </p:cNvSpPr>
          <p:nvPr/>
        </p:nvSpPr>
        <p:spPr bwMode="auto">
          <a:xfrm>
            <a:off x="3501707" y="50050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0" name="Rectangle 11442"/>
          <p:cNvSpPr>
            <a:spLocks noChangeArrowheads="1"/>
          </p:cNvSpPr>
          <p:nvPr/>
        </p:nvSpPr>
        <p:spPr bwMode="auto">
          <a:xfrm>
            <a:off x="3541077" y="500507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1" name="Rectangle 11443"/>
          <p:cNvSpPr>
            <a:spLocks noChangeArrowheads="1"/>
          </p:cNvSpPr>
          <p:nvPr/>
        </p:nvSpPr>
        <p:spPr bwMode="auto">
          <a:xfrm>
            <a:off x="3580447" y="500507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2" name="Rectangle 11444"/>
          <p:cNvSpPr>
            <a:spLocks noChangeArrowheads="1"/>
          </p:cNvSpPr>
          <p:nvPr/>
        </p:nvSpPr>
        <p:spPr bwMode="auto">
          <a:xfrm>
            <a:off x="3601402" y="500507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3" name="Rectangle 11445"/>
          <p:cNvSpPr>
            <a:spLocks noChangeArrowheads="1"/>
          </p:cNvSpPr>
          <p:nvPr/>
        </p:nvSpPr>
        <p:spPr bwMode="auto">
          <a:xfrm>
            <a:off x="3625532" y="50050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4" name="Rectangle 11446"/>
          <p:cNvSpPr>
            <a:spLocks noChangeArrowheads="1"/>
          </p:cNvSpPr>
          <p:nvPr/>
        </p:nvSpPr>
        <p:spPr bwMode="auto">
          <a:xfrm>
            <a:off x="3668077" y="500507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c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5" name="Rectangle 11447"/>
          <p:cNvSpPr>
            <a:spLocks noChangeArrowheads="1"/>
          </p:cNvSpPr>
          <p:nvPr/>
        </p:nvSpPr>
        <p:spPr bwMode="auto">
          <a:xfrm>
            <a:off x="3704272" y="500507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6" name="Rectangle 11448"/>
          <p:cNvSpPr>
            <a:spLocks noChangeArrowheads="1"/>
          </p:cNvSpPr>
          <p:nvPr/>
        </p:nvSpPr>
        <p:spPr bwMode="auto">
          <a:xfrm>
            <a:off x="3725227" y="5005070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7" name="Rectangle 11449"/>
          <p:cNvSpPr>
            <a:spLocks noChangeArrowheads="1"/>
          </p:cNvSpPr>
          <p:nvPr/>
        </p:nvSpPr>
        <p:spPr bwMode="auto">
          <a:xfrm>
            <a:off x="3740467" y="50050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o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8" name="Rectangle 11450"/>
          <p:cNvSpPr>
            <a:spLocks noChangeArrowheads="1"/>
          </p:cNvSpPr>
          <p:nvPr/>
        </p:nvSpPr>
        <p:spPr bwMode="auto">
          <a:xfrm>
            <a:off x="3783012" y="50050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89" name="Rectangle 11451"/>
          <p:cNvSpPr>
            <a:spLocks noChangeArrowheads="1"/>
          </p:cNvSpPr>
          <p:nvPr/>
        </p:nvSpPr>
        <p:spPr bwMode="auto">
          <a:xfrm>
            <a:off x="3824922" y="5005070"/>
            <a:ext cx="21590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solidFill>
                  <a:srgbClr val="000000"/>
                </a:solidFill>
                <a:effectLst/>
                <a:latin typeface="Arial"/>
                <a:ea typeface="Batang"/>
              </a:rPr>
              <a:t> 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0" name="Rectangle 11452"/>
          <p:cNvSpPr>
            <a:spLocks noChangeArrowheads="1"/>
          </p:cNvSpPr>
          <p:nvPr/>
        </p:nvSpPr>
        <p:spPr bwMode="auto">
          <a:xfrm>
            <a:off x="3843337" y="500507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[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1" name="Rectangle 11453"/>
          <p:cNvSpPr>
            <a:spLocks noChangeArrowheads="1"/>
          </p:cNvSpPr>
          <p:nvPr/>
        </p:nvSpPr>
        <p:spPr bwMode="auto">
          <a:xfrm>
            <a:off x="3864292" y="50050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1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2" name="Rectangle 11454"/>
          <p:cNvSpPr>
            <a:spLocks noChangeArrowheads="1"/>
          </p:cNvSpPr>
          <p:nvPr/>
        </p:nvSpPr>
        <p:spPr bwMode="auto">
          <a:xfrm>
            <a:off x="3906837" y="50050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5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3" name="Rectangle 11455"/>
          <p:cNvSpPr>
            <a:spLocks noChangeArrowheads="1"/>
          </p:cNvSpPr>
          <p:nvPr/>
        </p:nvSpPr>
        <p:spPr bwMode="auto">
          <a:xfrm>
            <a:off x="3949382" y="50050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–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4" name="Rectangle 11456"/>
          <p:cNvSpPr>
            <a:spLocks noChangeArrowheads="1"/>
          </p:cNvSpPr>
          <p:nvPr/>
        </p:nvSpPr>
        <p:spPr bwMode="auto">
          <a:xfrm>
            <a:off x="4003357" y="50050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1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5" name="Rectangle 11457"/>
          <p:cNvSpPr>
            <a:spLocks noChangeArrowheads="1"/>
          </p:cNvSpPr>
          <p:nvPr/>
        </p:nvSpPr>
        <p:spPr bwMode="auto">
          <a:xfrm>
            <a:off x="4045902" y="500507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1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6" name="Rectangle 11458"/>
          <p:cNvSpPr>
            <a:spLocks noChangeArrowheads="1"/>
          </p:cNvSpPr>
          <p:nvPr/>
        </p:nvSpPr>
        <p:spPr bwMode="auto">
          <a:xfrm>
            <a:off x="4088447" y="500507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]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7" name="Rectangle 11459"/>
          <p:cNvSpPr>
            <a:spLocks noChangeArrowheads="1"/>
          </p:cNvSpPr>
          <p:nvPr/>
        </p:nvSpPr>
        <p:spPr bwMode="auto">
          <a:xfrm>
            <a:off x="3480752" y="489013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8" name="Rectangle 11460"/>
          <p:cNvSpPr>
            <a:spLocks noChangeArrowheads="1"/>
          </p:cNvSpPr>
          <p:nvPr/>
        </p:nvSpPr>
        <p:spPr bwMode="auto">
          <a:xfrm>
            <a:off x="3501707" y="48901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499" name="Rectangle 11461"/>
          <p:cNvSpPr>
            <a:spLocks noChangeArrowheads="1"/>
          </p:cNvSpPr>
          <p:nvPr/>
        </p:nvSpPr>
        <p:spPr bwMode="auto">
          <a:xfrm>
            <a:off x="3541077" y="489013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0" name="Rectangle 11462"/>
          <p:cNvSpPr>
            <a:spLocks noChangeArrowheads="1"/>
          </p:cNvSpPr>
          <p:nvPr/>
        </p:nvSpPr>
        <p:spPr bwMode="auto">
          <a:xfrm>
            <a:off x="3580447" y="489013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1" name="Rectangle 11463"/>
          <p:cNvSpPr>
            <a:spLocks noChangeArrowheads="1"/>
          </p:cNvSpPr>
          <p:nvPr/>
        </p:nvSpPr>
        <p:spPr bwMode="auto">
          <a:xfrm>
            <a:off x="3601402" y="4890135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2" name="Rectangle 11464"/>
          <p:cNvSpPr>
            <a:spLocks noChangeArrowheads="1"/>
          </p:cNvSpPr>
          <p:nvPr/>
        </p:nvSpPr>
        <p:spPr bwMode="auto">
          <a:xfrm>
            <a:off x="3625532" y="48901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3" name="Rectangle 11465"/>
          <p:cNvSpPr>
            <a:spLocks noChangeArrowheads="1"/>
          </p:cNvSpPr>
          <p:nvPr/>
        </p:nvSpPr>
        <p:spPr bwMode="auto">
          <a:xfrm>
            <a:off x="3668077" y="489013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c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4" name="Rectangle 11466"/>
          <p:cNvSpPr>
            <a:spLocks noChangeArrowheads="1"/>
          </p:cNvSpPr>
          <p:nvPr/>
        </p:nvSpPr>
        <p:spPr bwMode="auto">
          <a:xfrm>
            <a:off x="3704272" y="489013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5" name="Rectangle 11467"/>
          <p:cNvSpPr>
            <a:spLocks noChangeArrowheads="1"/>
          </p:cNvSpPr>
          <p:nvPr/>
        </p:nvSpPr>
        <p:spPr bwMode="auto">
          <a:xfrm>
            <a:off x="3725227" y="4890135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6" name="Rectangle 11468"/>
          <p:cNvSpPr>
            <a:spLocks noChangeArrowheads="1"/>
          </p:cNvSpPr>
          <p:nvPr/>
        </p:nvSpPr>
        <p:spPr bwMode="auto">
          <a:xfrm>
            <a:off x="3740467" y="48901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o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7" name="Rectangle 11469"/>
          <p:cNvSpPr>
            <a:spLocks noChangeArrowheads="1"/>
          </p:cNvSpPr>
          <p:nvPr/>
        </p:nvSpPr>
        <p:spPr bwMode="auto">
          <a:xfrm>
            <a:off x="3783012" y="48901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8" name="Rectangle 11470"/>
          <p:cNvSpPr>
            <a:spLocks noChangeArrowheads="1"/>
          </p:cNvSpPr>
          <p:nvPr/>
        </p:nvSpPr>
        <p:spPr bwMode="auto">
          <a:xfrm>
            <a:off x="3824922" y="4890135"/>
            <a:ext cx="21590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solidFill>
                  <a:srgbClr val="000000"/>
                </a:solidFill>
                <a:effectLst/>
                <a:latin typeface="Arial"/>
                <a:ea typeface="Batang"/>
              </a:rPr>
              <a:t> 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09" name="Rectangle 11471"/>
          <p:cNvSpPr>
            <a:spLocks noChangeArrowheads="1"/>
          </p:cNvSpPr>
          <p:nvPr/>
        </p:nvSpPr>
        <p:spPr bwMode="auto">
          <a:xfrm>
            <a:off x="3843337" y="489013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[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0" name="Rectangle 11472"/>
          <p:cNvSpPr>
            <a:spLocks noChangeArrowheads="1"/>
          </p:cNvSpPr>
          <p:nvPr/>
        </p:nvSpPr>
        <p:spPr bwMode="auto">
          <a:xfrm>
            <a:off x="3864292" y="48901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2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1" name="Rectangle 11473"/>
          <p:cNvSpPr>
            <a:spLocks noChangeArrowheads="1"/>
          </p:cNvSpPr>
          <p:nvPr/>
        </p:nvSpPr>
        <p:spPr bwMode="auto">
          <a:xfrm>
            <a:off x="3906837" y="48901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0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2" name="Rectangle 11474"/>
          <p:cNvSpPr>
            <a:spLocks noChangeArrowheads="1"/>
          </p:cNvSpPr>
          <p:nvPr/>
        </p:nvSpPr>
        <p:spPr bwMode="auto">
          <a:xfrm>
            <a:off x="3949382" y="48901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–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3" name="Rectangle 11475"/>
          <p:cNvSpPr>
            <a:spLocks noChangeArrowheads="1"/>
          </p:cNvSpPr>
          <p:nvPr/>
        </p:nvSpPr>
        <p:spPr bwMode="auto">
          <a:xfrm>
            <a:off x="4003357" y="48901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1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4" name="Rectangle 11476"/>
          <p:cNvSpPr>
            <a:spLocks noChangeArrowheads="1"/>
          </p:cNvSpPr>
          <p:nvPr/>
        </p:nvSpPr>
        <p:spPr bwMode="auto">
          <a:xfrm>
            <a:off x="4045902" y="489013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6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5" name="Rectangle 11477"/>
          <p:cNvSpPr>
            <a:spLocks noChangeArrowheads="1"/>
          </p:cNvSpPr>
          <p:nvPr/>
        </p:nvSpPr>
        <p:spPr bwMode="auto">
          <a:xfrm>
            <a:off x="4088447" y="489013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]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6" name="Rectangle 11478"/>
          <p:cNvSpPr>
            <a:spLocks noChangeArrowheads="1"/>
          </p:cNvSpPr>
          <p:nvPr/>
        </p:nvSpPr>
        <p:spPr bwMode="auto">
          <a:xfrm>
            <a:off x="3480752" y="477837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7" name="Rectangle 11479"/>
          <p:cNvSpPr>
            <a:spLocks noChangeArrowheads="1"/>
          </p:cNvSpPr>
          <p:nvPr/>
        </p:nvSpPr>
        <p:spPr bwMode="auto">
          <a:xfrm>
            <a:off x="3501707" y="47783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8" name="Rectangle 11480"/>
          <p:cNvSpPr>
            <a:spLocks noChangeArrowheads="1"/>
          </p:cNvSpPr>
          <p:nvPr/>
        </p:nvSpPr>
        <p:spPr bwMode="auto">
          <a:xfrm>
            <a:off x="3541077" y="477837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19" name="Rectangle 11481"/>
          <p:cNvSpPr>
            <a:spLocks noChangeArrowheads="1"/>
          </p:cNvSpPr>
          <p:nvPr/>
        </p:nvSpPr>
        <p:spPr bwMode="auto">
          <a:xfrm>
            <a:off x="3580447" y="477837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0" name="Rectangle 11482"/>
          <p:cNvSpPr>
            <a:spLocks noChangeArrowheads="1"/>
          </p:cNvSpPr>
          <p:nvPr/>
        </p:nvSpPr>
        <p:spPr bwMode="auto">
          <a:xfrm>
            <a:off x="3601402" y="4778375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1" name="Rectangle 11483"/>
          <p:cNvSpPr>
            <a:spLocks noChangeArrowheads="1"/>
          </p:cNvSpPr>
          <p:nvPr/>
        </p:nvSpPr>
        <p:spPr bwMode="auto">
          <a:xfrm>
            <a:off x="3625532" y="47783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2" name="Rectangle 11484"/>
          <p:cNvSpPr>
            <a:spLocks noChangeArrowheads="1"/>
          </p:cNvSpPr>
          <p:nvPr/>
        </p:nvSpPr>
        <p:spPr bwMode="auto">
          <a:xfrm>
            <a:off x="3668077" y="4778375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c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3" name="Rectangle 11485"/>
          <p:cNvSpPr>
            <a:spLocks noChangeArrowheads="1"/>
          </p:cNvSpPr>
          <p:nvPr/>
        </p:nvSpPr>
        <p:spPr bwMode="auto">
          <a:xfrm>
            <a:off x="3704272" y="477837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4" name="Rectangle 11486"/>
          <p:cNvSpPr>
            <a:spLocks noChangeArrowheads="1"/>
          </p:cNvSpPr>
          <p:nvPr/>
        </p:nvSpPr>
        <p:spPr bwMode="auto">
          <a:xfrm>
            <a:off x="3725227" y="4778375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5" name="Rectangle 11487"/>
          <p:cNvSpPr>
            <a:spLocks noChangeArrowheads="1"/>
          </p:cNvSpPr>
          <p:nvPr/>
        </p:nvSpPr>
        <p:spPr bwMode="auto">
          <a:xfrm>
            <a:off x="3740467" y="47783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o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6" name="Rectangle 11488"/>
          <p:cNvSpPr>
            <a:spLocks noChangeArrowheads="1"/>
          </p:cNvSpPr>
          <p:nvPr/>
        </p:nvSpPr>
        <p:spPr bwMode="auto">
          <a:xfrm>
            <a:off x="3783012" y="47783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7" name="Rectangle 11489"/>
          <p:cNvSpPr>
            <a:spLocks noChangeArrowheads="1"/>
          </p:cNvSpPr>
          <p:nvPr/>
        </p:nvSpPr>
        <p:spPr bwMode="auto">
          <a:xfrm>
            <a:off x="3824922" y="4778375"/>
            <a:ext cx="21590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solidFill>
                  <a:srgbClr val="000000"/>
                </a:solidFill>
                <a:effectLst/>
                <a:latin typeface="Arial"/>
                <a:ea typeface="Batang"/>
              </a:rPr>
              <a:t> 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8" name="Rectangle 11490"/>
          <p:cNvSpPr>
            <a:spLocks noChangeArrowheads="1"/>
          </p:cNvSpPr>
          <p:nvPr/>
        </p:nvSpPr>
        <p:spPr bwMode="auto">
          <a:xfrm>
            <a:off x="3843337" y="477837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[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29" name="Rectangle 11491"/>
          <p:cNvSpPr>
            <a:spLocks noChangeArrowheads="1"/>
          </p:cNvSpPr>
          <p:nvPr/>
        </p:nvSpPr>
        <p:spPr bwMode="auto">
          <a:xfrm>
            <a:off x="3864292" y="47783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2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0" name="Rectangle 11492"/>
          <p:cNvSpPr>
            <a:spLocks noChangeArrowheads="1"/>
          </p:cNvSpPr>
          <p:nvPr/>
        </p:nvSpPr>
        <p:spPr bwMode="auto">
          <a:xfrm>
            <a:off x="3906837" y="47783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0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1" name="Rectangle 11493"/>
          <p:cNvSpPr>
            <a:spLocks noChangeArrowheads="1"/>
          </p:cNvSpPr>
          <p:nvPr/>
        </p:nvSpPr>
        <p:spPr bwMode="auto">
          <a:xfrm>
            <a:off x="3949382" y="47783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–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2" name="Rectangle 11494"/>
          <p:cNvSpPr>
            <a:spLocks noChangeArrowheads="1"/>
          </p:cNvSpPr>
          <p:nvPr/>
        </p:nvSpPr>
        <p:spPr bwMode="auto">
          <a:xfrm>
            <a:off x="4003357" y="47783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1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3" name="Rectangle 11495"/>
          <p:cNvSpPr>
            <a:spLocks noChangeArrowheads="1"/>
          </p:cNvSpPr>
          <p:nvPr/>
        </p:nvSpPr>
        <p:spPr bwMode="auto">
          <a:xfrm>
            <a:off x="4045902" y="4778375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6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4" name="Rectangle 11496"/>
          <p:cNvSpPr>
            <a:spLocks noChangeArrowheads="1"/>
          </p:cNvSpPr>
          <p:nvPr/>
        </p:nvSpPr>
        <p:spPr bwMode="auto">
          <a:xfrm>
            <a:off x="4088447" y="4778375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]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5" name="Rectangle 11497"/>
          <p:cNvSpPr>
            <a:spLocks noChangeArrowheads="1"/>
          </p:cNvSpPr>
          <p:nvPr/>
        </p:nvSpPr>
        <p:spPr bwMode="auto">
          <a:xfrm>
            <a:off x="3480752" y="466090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6" name="Rectangle 11498"/>
          <p:cNvSpPr>
            <a:spLocks noChangeArrowheads="1"/>
          </p:cNvSpPr>
          <p:nvPr/>
        </p:nvSpPr>
        <p:spPr bwMode="auto">
          <a:xfrm>
            <a:off x="3501707" y="46609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7" name="Rectangle 11499"/>
          <p:cNvSpPr>
            <a:spLocks noChangeArrowheads="1"/>
          </p:cNvSpPr>
          <p:nvPr/>
        </p:nvSpPr>
        <p:spPr bwMode="auto">
          <a:xfrm>
            <a:off x="3541077" y="466090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s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8" name="Rectangle 11500"/>
          <p:cNvSpPr>
            <a:spLocks noChangeArrowheads="1"/>
          </p:cNvSpPr>
          <p:nvPr/>
        </p:nvSpPr>
        <p:spPr bwMode="auto">
          <a:xfrm>
            <a:off x="3580447" y="466090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39" name="Rectangle 11501"/>
          <p:cNvSpPr>
            <a:spLocks noChangeArrowheads="1"/>
          </p:cNvSpPr>
          <p:nvPr/>
        </p:nvSpPr>
        <p:spPr bwMode="auto">
          <a:xfrm>
            <a:off x="3601402" y="4660900"/>
            <a:ext cx="2540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0" name="Rectangle 11502"/>
          <p:cNvSpPr>
            <a:spLocks noChangeArrowheads="1"/>
          </p:cNvSpPr>
          <p:nvPr/>
        </p:nvSpPr>
        <p:spPr bwMode="auto">
          <a:xfrm>
            <a:off x="3625532" y="46609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1" name="Rectangle 11503"/>
          <p:cNvSpPr>
            <a:spLocks noChangeArrowheads="1"/>
          </p:cNvSpPr>
          <p:nvPr/>
        </p:nvSpPr>
        <p:spPr bwMode="auto">
          <a:xfrm>
            <a:off x="3668077" y="4660900"/>
            <a:ext cx="387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c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2" name="Rectangle 11504"/>
          <p:cNvSpPr>
            <a:spLocks noChangeArrowheads="1"/>
          </p:cNvSpPr>
          <p:nvPr/>
        </p:nvSpPr>
        <p:spPr bwMode="auto">
          <a:xfrm>
            <a:off x="3704272" y="466090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3" name="Rectangle 11505"/>
          <p:cNvSpPr>
            <a:spLocks noChangeArrowheads="1"/>
          </p:cNvSpPr>
          <p:nvPr/>
        </p:nvSpPr>
        <p:spPr bwMode="auto">
          <a:xfrm>
            <a:off x="3725227" y="4660900"/>
            <a:ext cx="171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4" name="Rectangle 11506"/>
          <p:cNvSpPr>
            <a:spLocks noChangeArrowheads="1"/>
          </p:cNvSpPr>
          <p:nvPr/>
        </p:nvSpPr>
        <p:spPr bwMode="auto">
          <a:xfrm>
            <a:off x="3740467" y="46609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o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5" name="Rectangle 11507"/>
          <p:cNvSpPr>
            <a:spLocks noChangeArrowheads="1"/>
          </p:cNvSpPr>
          <p:nvPr/>
        </p:nvSpPr>
        <p:spPr bwMode="auto">
          <a:xfrm>
            <a:off x="3783012" y="46609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n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6" name="Rectangle 11508"/>
          <p:cNvSpPr>
            <a:spLocks noChangeArrowheads="1"/>
          </p:cNvSpPr>
          <p:nvPr/>
        </p:nvSpPr>
        <p:spPr bwMode="auto">
          <a:xfrm>
            <a:off x="3824922" y="4660900"/>
            <a:ext cx="21590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solidFill>
                  <a:srgbClr val="000000"/>
                </a:solidFill>
                <a:effectLst/>
                <a:latin typeface="Arial"/>
                <a:ea typeface="Batang"/>
              </a:rPr>
              <a:t> 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7" name="Rectangle 11509"/>
          <p:cNvSpPr>
            <a:spLocks noChangeArrowheads="1"/>
          </p:cNvSpPr>
          <p:nvPr/>
        </p:nvSpPr>
        <p:spPr bwMode="auto">
          <a:xfrm>
            <a:off x="3843337" y="466090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[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8" name="Rectangle 11510"/>
          <p:cNvSpPr>
            <a:spLocks noChangeArrowheads="1"/>
          </p:cNvSpPr>
          <p:nvPr/>
        </p:nvSpPr>
        <p:spPr bwMode="auto">
          <a:xfrm>
            <a:off x="3864292" y="46609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2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49" name="Rectangle 11511"/>
          <p:cNvSpPr>
            <a:spLocks noChangeArrowheads="1"/>
          </p:cNvSpPr>
          <p:nvPr/>
        </p:nvSpPr>
        <p:spPr bwMode="auto">
          <a:xfrm>
            <a:off x="3906837" y="46609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5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0" name="Rectangle 11512"/>
          <p:cNvSpPr>
            <a:spLocks noChangeArrowheads="1"/>
          </p:cNvSpPr>
          <p:nvPr/>
        </p:nvSpPr>
        <p:spPr bwMode="auto">
          <a:xfrm>
            <a:off x="3949382" y="46609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–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1" name="Rectangle 11513"/>
          <p:cNvSpPr>
            <a:spLocks noChangeArrowheads="1"/>
          </p:cNvSpPr>
          <p:nvPr/>
        </p:nvSpPr>
        <p:spPr bwMode="auto">
          <a:xfrm>
            <a:off x="4003357" y="46609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2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2" name="Rectangle 11514"/>
          <p:cNvSpPr>
            <a:spLocks noChangeArrowheads="1"/>
          </p:cNvSpPr>
          <p:nvPr/>
        </p:nvSpPr>
        <p:spPr bwMode="auto">
          <a:xfrm>
            <a:off x="4045902" y="4660900"/>
            <a:ext cx="425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1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3" name="Rectangle 11515"/>
          <p:cNvSpPr>
            <a:spLocks noChangeArrowheads="1"/>
          </p:cNvSpPr>
          <p:nvPr/>
        </p:nvSpPr>
        <p:spPr bwMode="auto">
          <a:xfrm>
            <a:off x="4088447" y="4660900"/>
            <a:ext cx="215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]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4" name="Rectangle 11516"/>
          <p:cNvSpPr>
            <a:spLocks noChangeArrowheads="1"/>
          </p:cNvSpPr>
          <p:nvPr/>
        </p:nvSpPr>
        <p:spPr bwMode="auto">
          <a:xfrm rot="16200000">
            <a:off x="4014787" y="2898140"/>
            <a:ext cx="87630" cy="41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EscreveReg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5" name="Rectangle 11517"/>
          <p:cNvSpPr>
            <a:spLocks noChangeArrowheads="1"/>
          </p:cNvSpPr>
          <p:nvPr/>
        </p:nvSpPr>
        <p:spPr bwMode="auto">
          <a:xfrm>
            <a:off x="5400357" y="4415790"/>
            <a:ext cx="250190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OpALU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6" name="Rectangle 11518"/>
          <p:cNvSpPr>
            <a:spLocks noChangeArrowheads="1"/>
          </p:cNvSpPr>
          <p:nvPr/>
        </p:nvSpPr>
        <p:spPr bwMode="auto">
          <a:xfrm>
            <a:off x="4552632" y="4619625"/>
            <a:ext cx="2546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RegDst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7" name="Rectangle 11519"/>
          <p:cNvSpPr>
            <a:spLocks noChangeArrowheads="1"/>
          </p:cNvSpPr>
          <p:nvPr/>
        </p:nvSpPr>
        <p:spPr bwMode="auto">
          <a:xfrm rot="16200000">
            <a:off x="6406832" y="2726690"/>
            <a:ext cx="102870" cy="44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EscreveMem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8" name="Rectangle 11520"/>
          <p:cNvSpPr>
            <a:spLocks noChangeArrowheads="1"/>
          </p:cNvSpPr>
          <p:nvPr/>
        </p:nvSpPr>
        <p:spPr bwMode="auto">
          <a:xfrm>
            <a:off x="6594157" y="4312920"/>
            <a:ext cx="25463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LeMem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59" name="Rectangle 11521"/>
          <p:cNvSpPr>
            <a:spLocks noChangeArrowheads="1"/>
          </p:cNvSpPr>
          <p:nvPr/>
        </p:nvSpPr>
        <p:spPr bwMode="auto">
          <a:xfrm rot="16200000">
            <a:off x="7555547" y="2668905"/>
            <a:ext cx="87630" cy="427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Mem2Reg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60" name="Freeform 11522"/>
          <p:cNvSpPr>
            <a:spLocks/>
          </p:cNvSpPr>
          <p:nvPr/>
        </p:nvSpPr>
        <p:spPr bwMode="auto">
          <a:xfrm>
            <a:off x="2041842" y="1351280"/>
            <a:ext cx="196215" cy="233045"/>
          </a:xfrm>
          <a:custGeom>
            <a:avLst/>
            <a:gdLst>
              <a:gd name="T0" fmla="*/ 0 w 309"/>
              <a:gd name="T1" fmla="*/ 219 h 367"/>
              <a:gd name="T2" fmla="*/ 0 w 309"/>
              <a:gd name="T3" fmla="*/ 243 h 367"/>
              <a:gd name="T4" fmla="*/ 9 w 309"/>
              <a:gd name="T5" fmla="*/ 267 h 367"/>
              <a:gd name="T6" fmla="*/ 19 w 309"/>
              <a:gd name="T7" fmla="*/ 286 h 367"/>
              <a:gd name="T8" fmla="*/ 28 w 309"/>
              <a:gd name="T9" fmla="*/ 310 h 367"/>
              <a:gd name="T10" fmla="*/ 42 w 309"/>
              <a:gd name="T11" fmla="*/ 324 h 367"/>
              <a:gd name="T12" fmla="*/ 62 w 309"/>
              <a:gd name="T13" fmla="*/ 338 h 367"/>
              <a:gd name="T14" fmla="*/ 81 w 309"/>
              <a:gd name="T15" fmla="*/ 353 h 367"/>
              <a:gd name="T16" fmla="*/ 104 w 309"/>
              <a:gd name="T17" fmla="*/ 362 h 367"/>
              <a:gd name="T18" fmla="*/ 128 w 309"/>
              <a:gd name="T19" fmla="*/ 367 h 367"/>
              <a:gd name="T20" fmla="*/ 152 w 309"/>
              <a:gd name="T21" fmla="*/ 367 h 367"/>
              <a:gd name="T22" fmla="*/ 181 w 309"/>
              <a:gd name="T23" fmla="*/ 367 h 367"/>
              <a:gd name="T24" fmla="*/ 200 w 309"/>
              <a:gd name="T25" fmla="*/ 362 h 367"/>
              <a:gd name="T26" fmla="*/ 223 w 309"/>
              <a:gd name="T27" fmla="*/ 353 h 367"/>
              <a:gd name="T28" fmla="*/ 242 w 309"/>
              <a:gd name="T29" fmla="*/ 338 h 367"/>
              <a:gd name="T30" fmla="*/ 261 w 309"/>
              <a:gd name="T31" fmla="*/ 324 h 367"/>
              <a:gd name="T32" fmla="*/ 276 w 309"/>
              <a:gd name="T33" fmla="*/ 310 h 367"/>
              <a:gd name="T34" fmla="*/ 290 w 309"/>
              <a:gd name="T35" fmla="*/ 286 h 367"/>
              <a:gd name="T36" fmla="*/ 300 w 309"/>
              <a:gd name="T37" fmla="*/ 267 h 367"/>
              <a:gd name="T38" fmla="*/ 304 w 309"/>
              <a:gd name="T39" fmla="*/ 243 h 367"/>
              <a:gd name="T40" fmla="*/ 309 w 309"/>
              <a:gd name="T41" fmla="*/ 219 h 367"/>
              <a:gd name="T42" fmla="*/ 309 w 309"/>
              <a:gd name="T43" fmla="*/ 0 h 367"/>
              <a:gd name="T44" fmla="*/ 0 w 309"/>
              <a:gd name="T45" fmla="*/ 0 h 367"/>
              <a:gd name="T46" fmla="*/ 0 w 309"/>
              <a:gd name="T47" fmla="*/ 219 h 367"/>
              <a:gd name="T48" fmla="*/ 0 w 309"/>
              <a:gd name="T49" fmla="*/ 219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09" h="367">
                <a:moveTo>
                  <a:pt x="0" y="219"/>
                </a:moveTo>
                <a:lnTo>
                  <a:pt x="0" y="243"/>
                </a:lnTo>
                <a:lnTo>
                  <a:pt x="9" y="267"/>
                </a:lnTo>
                <a:lnTo>
                  <a:pt x="19" y="286"/>
                </a:lnTo>
                <a:lnTo>
                  <a:pt x="28" y="310"/>
                </a:lnTo>
                <a:lnTo>
                  <a:pt x="42" y="324"/>
                </a:lnTo>
                <a:lnTo>
                  <a:pt x="62" y="338"/>
                </a:lnTo>
                <a:lnTo>
                  <a:pt x="81" y="353"/>
                </a:lnTo>
                <a:lnTo>
                  <a:pt x="104" y="362"/>
                </a:lnTo>
                <a:lnTo>
                  <a:pt x="128" y="367"/>
                </a:lnTo>
                <a:lnTo>
                  <a:pt x="152" y="367"/>
                </a:lnTo>
                <a:lnTo>
                  <a:pt x="181" y="367"/>
                </a:lnTo>
                <a:lnTo>
                  <a:pt x="200" y="362"/>
                </a:lnTo>
                <a:lnTo>
                  <a:pt x="223" y="353"/>
                </a:lnTo>
                <a:lnTo>
                  <a:pt x="242" y="338"/>
                </a:lnTo>
                <a:lnTo>
                  <a:pt x="261" y="324"/>
                </a:lnTo>
                <a:lnTo>
                  <a:pt x="276" y="310"/>
                </a:lnTo>
                <a:lnTo>
                  <a:pt x="290" y="286"/>
                </a:lnTo>
                <a:lnTo>
                  <a:pt x="300" y="267"/>
                </a:lnTo>
                <a:lnTo>
                  <a:pt x="304" y="243"/>
                </a:lnTo>
                <a:lnTo>
                  <a:pt x="309" y="219"/>
                </a:lnTo>
                <a:lnTo>
                  <a:pt x="309" y="0"/>
                </a:lnTo>
                <a:lnTo>
                  <a:pt x="0" y="0"/>
                </a:lnTo>
                <a:lnTo>
                  <a:pt x="0" y="219"/>
                </a:lnTo>
                <a:lnTo>
                  <a:pt x="0" y="219"/>
                </a:lnTo>
              </a:path>
            </a:pathLst>
          </a:custGeom>
          <a:noFill/>
          <a:ln w="14">
            <a:solidFill>
              <a:srgbClr val="EB75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grpSp>
        <p:nvGrpSpPr>
          <p:cNvPr id="561" name="Group 11523"/>
          <p:cNvGrpSpPr>
            <a:grpSpLocks/>
          </p:cNvGrpSpPr>
          <p:nvPr/>
        </p:nvGrpSpPr>
        <p:grpSpPr bwMode="auto">
          <a:xfrm>
            <a:off x="2135187" y="1587500"/>
            <a:ext cx="5015230" cy="3864610"/>
            <a:chOff x="1347" y="700"/>
            <a:chExt cx="7898" cy="6086"/>
          </a:xfrm>
        </p:grpSpPr>
        <p:cxnSp>
          <p:nvCxnSpPr>
            <p:cNvPr id="613" name="Line 11524"/>
            <p:cNvCxnSpPr/>
            <p:nvPr/>
          </p:nvCxnSpPr>
          <p:spPr bwMode="auto">
            <a:xfrm>
              <a:off x="4499" y="2308"/>
              <a:ext cx="266" cy="1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4" name="Freeform 11525"/>
            <p:cNvSpPr>
              <a:spLocks/>
            </p:cNvSpPr>
            <p:nvPr/>
          </p:nvSpPr>
          <p:spPr bwMode="auto">
            <a:xfrm>
              <a:off x="4813" y="2508"/>
              <a:ext cx="238" cy="395"/>
            </a:xfrm>
            <a:custGeom>
              <a:avLst/>
              <a:gdLst>
                <a:gd name="T0" fmla="*/ 233 w 238"/>
                <a:gd name="T1" fmla="*/ 395 h 395"/>
                <a:gd name="T2" fmla="*/ 238 w 238"/>
                <a:gd name="T3" fmla="*/ 0 h 395"/>
                <a:gd name="T4" fmla="*/ 0 w 238"/>
                <a:gd name="T5" fmla="*/ 0 h 395"/>
                <a:gd name="T6" fmla="*/ 0 w 238"/>
                <a:gd name="T7" fmla="*/ 395 h 395"/>
                <a:gd name="T8" fmla="*/ 238 w 238"/>
                <a:gd name="T9" fmla="*/ 395 h 395"/>
                <a:gd name="T10" fmla="*/ 238 w 238"/>
                <a:gd name="T11" fmla="*/ 39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" h="395">
                  <a:moveTo>
                    <a:pt x="233" y="395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0" y="395"/>
                  </a:lnTo>
                  <a:lnTo>
                    <a:pt x="238" y="395"/>
                  </a:lnTo>
                  <a:lnTo>
                    <a:pt x="238" y="395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15" name="Freeform 11526"/>
            <p:cNvSpPr>
              <a:spLocks/>
            </p:cNvSpPr>
            <p:nvPr/>
          </p:nvSpPr>
          <p:spPr bwMode="auto">
            <a:xfrm>
              <a:off x="4637" y="1913"/>
              <a:ext cx="128" cy="795"/>
            </a:xfrm>
            <a:custGeom>
              <a:avLst/>
              <a:gdLst>
                <a:gd name="T0" fmla="*/ 124 w 128"/>
                <a:gd name="T1" fmla="*/ 0 h 795"/>
                <a:gd name="T2" fmla="*/ 0 w 128"/>
                <a:gd name="T3" fmla="*/ 0 h 795"/>
                <a:gd name="T4" fmla="*/ 0 w 128"/>
                <a:gd name="T5" fmla="*/ 795 h 795"/>
                <a:gd name="T6" fmla="*/ 128 w 128"/>
                <a:gd name="T7" fmla="*/ 795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" h="795">
                  <a:moveTo>
                    <a:pt x="124" y="0"/>
                  </a:moveTo>
                  <a:lnTo>
                    <a:pt x="0" y="0"/>
                  </a:lnTo>
                  <a:lnTo>
                    <a:pt x="0" y="795"/>
                  </a:lnTo>
                  <a:lnTo>
                    <a:pt x="128" y="795"/>
                  </a:lnTo>
                </a:path>
              </a:pathLst>
            </a:cu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16" name="Freeform 11527"/>
            <p:cNvSpPr>
              <a:spLocks/>
            </p:cNvSpPr>
            <p:nvPr/>
          </p:nvSpPr>
          <p:spPr bwMode="auto">
            <a:xfrm>
              <a:off x="7255" y="2508"/>
              <a:ext cx="238" cy="395"/>
            </a:xfrm>
            <a:custGeom>
              <a:avLst/>
              <a:gdLst>
                <a:gd name="T0" fmla="*/ 233 w 238"/>
                <a:gd name="T1" fmla="*/ 395 h 395"/>
                <a:gd name="T2" fmla="*/ 238 w 238"/>
                <a:gd name="T3" fmla="*/ 0 h 395"/>
                <a:gd name="T4" fmla="*/ 0 w 238"/>
                <a:gd name="T5" fmla="*/ 0 h 395"/>
                <a:gd name="T6" fmla="*/ 0 w 238"/>
                <a:gd name="T7" fmla="*/ 395 h 395"/>
                <a:gd name="T8" fmla="*/ 238 w 238"/>
                <a:gd name="T9" fmla="*/ 395 h 395"/>
                <a:gd name="T10" fmla="*/ 238 w 238"/>
                <a:gd name="T11" fmla="*/ 39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" h="395">
                  <a:moveTo>
                    <a:pt x="233" y="395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0" y="395"/>
                  </a:lnTo>
                  <a:lnTo>
                    <a:pt x="238" y="395"/>
                  </a:lnTo>
                  <a:lnTo>
                    <a:pt x="238" y="395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17" name="Freeform 11528"/>
            <p:cNvSpPr>
              <a:spLocks/>
            </p:cNvSpPr>
            <p:nvPr/>
          </p:nvSpPr>
          <p:spPr bwMode="auto">
            <a:xfrm>
              <a:off x="9012" y="2508"/>
              <a:ext cx="233" cy="395"/>
            </a:xfrm>
            <a:custGeom>
              <a:avLst/>
              <a:gdLst>
                <a:gd name="T0" fmla="*/ 233 w 233"/>
                <a:gd name="T1" fmla="*/ 395 h 395"/>
                <a:gd name="T2" fmla="*/ 233 w 233"/>
                <a:gd name="T3" fmla="*/ 0 h 395"/>
                <a:gd name="T4" fmla="*/ 0 w 233"/>
                <a:gd name="T5" fmla="*/ 0 h 395"/>
                <a:gd name="T6" fmla="*/ 0 w 233"/>
                <a:gd name="T7" fmla="*/ 395 h 395"/>
                <a:gd name="T8" fmla="*/ 233 w 233"/>
                <a:gd name="T9" fmla="*/ 395 h 395"/>
                <a:gd name="T10" fmla="*/ 233 w 233"/>
                <a:gd name="T11" fmla="*/ 39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3" h="395">
                  <a:moveTo>
                    <a:pt x="233" y="395"/>
                  </a:moveTo>
                  <a:lnTo>
                    <a:pt x="233" y="0"/>
                  </a:lnTo>
                  <a:lnTo>
                    <a:pt x="0" y="0"/>
                  </a:lnTo>
                  <a:lnTo>
                    <a:pt x="0" y="395"/>
                  </a:lnTo>
                  <a:lnTo>
                    <a:pt x="233" y="395"/>
                  </a:lnTo>
                  <a:lnTo>
                    <a:pt x="233" y="395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18" name="Freeform 11529"/>
            <p:cNvSpPr>
              <a:spLocks/>
            </p:cNvSpPr>
            <p:nvPr/>
          </p:nvSpPr>
          <p:spPr bwMode="auto">
            <a:xfrm>
              <a:off x="6308" y="6258"/>
              <a:ext cx="880" cy="528"/>
            </a:xfrm>
            <a:custGeom>
              <a:avLst/>
              <a:gdLst>
                <a:gd name="T0" fmla="*/ 699 w 880"/>
                <a:gd name="T1" fmla="*/ 528 h 528"/>
                <a:gd name="T2" fmla="*/ 733 w 880"/>
                <a:gd name="T3" fmla="*/ 528 h 528"/>
                <a:gd name="T4" fmla="*/ 757 w 880"/>
                <a:gd name="T5" fmla="*/ 518 h 528"/>
                <a:gd name="T6" fmla="*/ 785 w 880"/>
                <a:gd name="T7" fmla="*/ 509 h 528"/>
                <a:gd name="T8" fmla="*/ 804 w 880"/>
                <a:gd name="T9" fmla="*/ 495 h 528"/>
                <a:gd name="T10" fmla="*/ 828 w 880"/>
                <a:gd name="T11" fmla="*/ 476 h 528"/>
                <a:gd name="T12" fmla="*/ 842 w 880"/>
                <a:gd name="T13" fmla="*/ 457 h 528"/>
                <a:gd name="T14" fmla="*/ 857 w 880"/>
                <a:gd name="T15" fmla="*/ 433 h 528"/>
                <a:gd name="T16" fmla="*/ 871 w 880"/>
                <a:gd name="T17" fmla="*/ 409 h 528"/>
                <a:gd name="T18" fmla="*/ 876 w 880"/>
                <a:gd name="T19" fmla="*/ 380 h 528"/>
                <a:gd name="T20" fmla="*/ 880 w 880"/>
                <a:gd name="T21" fmla="*/ 352 h 528"/>
                <a:gd name="T22" fmla="*/ 880 w 880"/>
                <a:gd name="T23" fmla="*/ 176 h 528"/>
                <a:gd name="T24" fmla="*/ 876 w 880"/>
                <a:gd name="T25" fmla="*/ 147 h 528"/>
                <a:gd name="T26" fmla="*/ 871 w 880"/>
                <a:gd name="T27" fmla="*/ 119 h 528"/>
                <a:gd name="T28" fmla="*/ 857 w 880"/>
                <a:gd name="T29" fmla="*/ 95 h 528"/>
                <a:gd name="T30" fmla="*/ 842 w 880"/>
                <a:gd name="T31" fmla="*/ 71 h 528"/>
                <a:gd name="T32" fmla="*/ 828 w 880"/>
                <a:gd name="T33" fmla="*/ 52 h 528"/>
                <a:gd name="T34" fmla="*/ 804 w 880"/>
                <a:gd name="T35" fmla="*/ 33 h 528"/>
                <a:gd name="T36" fmla="*/ 785 w 880"/>
                <a:gd name="T37" fmla="*/ 19 h 528"/>
                <a:gd name="T38" fmla="*/ 757 w 880"/>
                <a:gd name="T39" fmla="*/ 9 h 528"/>
                <a:gd name="T40" fmla="*/ 733 w 880"/>
                <a:gd name="T41" fmla="*/ 5 h 528"/>
                <a:gd name="T42" fmla="*/ 704 w 880"/>
                <a:gd name="T43" fmla="*/ 0 h 528"/>
                <a:gd name="T44" fmla="*/ 176 w 880"/>
                <a:gd name="T45" fmla="*/ 0 h 528"/>
                <a:gd name="T46" fmla="*/ 147 w 880"/>
                <a:gd name="T47" fmla="*/ 5 h 528"/>
                <a:gd name="T48" fmla="*/ 119 w 880"/>
                <a:gd name="T49" fmla="*/ 9 h 528"/>
                <a:gd name="T50" fmla="*/ 95 w 880"/>
                <a:gd name="T51" fmla="*/ 19 h 528"/>
                <a:gd name="T52" fmla="*/ 71 w 880"/>
                <a:gd name="T53" fmla="*/ 33 h 528"/>
                <a:gd name="T54" fmla="*/ 47 w 880"/>
                <a:gd name="T55" fmla="*/ 52 h 528"/>
                <a:gd name="T56" fmla="*/ 33 w 880"/>
                <a:gd name="T57" fmla="*/ 71 h 528"/>
                <a:gd name="T58" fmla="*/ 19 w 880"/>
                <a:gd name="T59" fmla="*/ 95 h 528"/>
                <a:gd name="T60" fmla="*/ 4 w 880"/>
                <a:gd name="T61" fmla="*/ 119 h 528"/>
                <a:gd name="T62" fmla="*/ 0 w 880"/>
                <a:gd name="T63" fmla="*/ 147 h 528"/>
                <a:gd name="T64" fmla="*/ 0 w 880"/>
                <a:gd name="T65" fmla="*/ 176 h 528"/>
                <a:gd name="T66" fmla="*/ 0 w 880"/>
                <a:gd name="T67" fmla="*/ 352 h 528"/>
                <a:gd name="T68" fmla="*/ 0 w 880"/>
                <a:gd name="T69" fmla="*/ 380 h 528"/>
                <a:gd name="T70" fmla="*/ 4 w 880"/>
                <a:gd name="T71" fmla="*/ 409 h 528"/>
                <a:gd name="T72" fmla="*/ 19 w 880"/>
                <a:gd name="T73" fmla="*/ 433 h 528"/>
                <a:gd name="T74" fmla="*/ 33 w 880"/>
                <a:gd name="T75" fmla="*/ 457 h 528"/>
                <a:gd name="T76" fmla="*/ 47 w 880"/>
                <a:gd name="T77" fmla="*/ 476 h 528"/>
                <a:gd name="T78" fmla="*/ 71 w 880"/>
                <a:gd name="T79" fmla="*/ 495 h 528"/>
                <a:gd name="T80" fmla="*/ 95 w 880"/>
                <a:gd name="T81" fmla="*/ 509 h 528"/>
                <a:gd name="T82" fmla="*/ 119 w 880"/>
                <a:gd name="T83" fmla="*/ 518 h 528"/>
                <a:gd name="T84" fmla="*/ 147 w 880"/>
                <a:gd name="T85" fmla="*/ 528 h 528"/>
                <a:gd name="T86" fmla="*/ 176 w 880"/>
                <a:gd name="T87" fmla="*/ 528 h 528"/>
                <a:gd name="T88" fmla="*/ 704 w 880"/>
                <a:gd name="T89" fmla="*/ 528 h 528"/>
                <a:gd name="T90" fmla="*/ 704 w 880"/>
                <a:gd name="T91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80" h="528">
                  <a:moveTo>
                    <a:pt x="699" y="528"/>
                  </a:moveTo>
                  <a:lnTo>
                    <a:pt x="733" y="528"/>
                  </a:lnTo>
                  <a:lnTo>
                    <a:pt x="757" y="518"/>
                  </a:lnTo>
                  <a:lnTo>
                    <a:pt x="785" y="509"/>
                  </a:lnTo>
                  <a:lnTo>
                    <a:pt x="804" y="495"/>
                  </a:lnTo>
                  <a:lnTo>
                    <a:pt x="828" y="476"/>
                  </a:lnTo>
                  <a:lnTo>
                    <a:pt x="842" y="457"/>
                  </a:lnTo>
                  <a:lnTo>
                    <a:pt x="857" y="433"/>
                  </a:lnTo>
                  <a:lnTo>
                    <a:pt x="871" y="409"/>
                  </a:lnTo>
                  <a:lnTo>
                    <a:pt x="876" y="380"/>
                  </a:lnTo>
                  <a:lnTo>
                    <a:pt x="880" y="352"/>
                  </a:lnTo>
                  <a:lnTo>
                    <a:pt x="880" y="176"/>
                  </a:lnTo>
                  <a:lnTo>
                    <a:pt x="876" y="147"/>
                  </a:lnTo>
                  <a:lnTo>
                    <a:pt x="871" y="119"/>
                  </a:lnTo>
                  <a:lnTo>
                    <a:pt x="857" y="95"/>
                  </a:lnTo>
                  <a:lnTo>
                    <a:pt x="842" y="71"/>
                  </a:lnTo>
                  <a:lnTo>
                    <a:pt x="828" y="52"/>
                  </a:lnTo>
                  <a:lnTo>
                    <a:pt x="804" y="33"/>
                  </a:lnTo>
                  <a:lnTo>
                    <a:pt x="785" y="19"/>
                  </a:lnTo>
                  <a:lnTo>
                    <a:pt x="757" y="9"/>
                  </a:lnTo>
                  <a:lnTo>
                    <a:pt x="733" y="5"/>
                  </a:lnTo>
                  <a:lnTo>
                    <a:pt x="704" y="0"/>
                  </a:lnTo>
                  <a:lnTo>
                    <a:pt x="176" y="0"/>
                  </a:lnTo>
                  <a:lnTo>
                    <a:pt x="147" y="5"/>
                  </a:lnTo>
                  <a:lnTo>
                    <a:pt x="119" y="9"/>
                  </a:lnTo>
                  <a:lnTo>
                    <a:pt x="95" y="19"/>
                  </a:lnTo>
                  <a:lnTo>
                    <a:pt x="71" y="33"/>
                  </a:lnTo>
                  <a:lnTo>
                    <a:pt x="47" y="52"/>
                  </a:lnTo>
                  <a:lnTo>
                    <a:pt x="33" y="71"/>
                  </a:lnTo>
                  <a:lnTo>
                    <a:pt x="19" y="95"/>
                  </a:lnTo>
                  <a:lnTo>
                    <a:pt x="4" y="119"/>
                  </a:lnTo>
                  <a:lnTo>
                    <a:pt x="0" y="147"/>
                  </a:lnTo>
                  <a:lnTo>
                    <a:pt x="0" y="176"/>
                  </a:lnTo>
                  <a:lnTo>
                    <a:pt x="0" y="352"/>
                  </a:lnTo>
                  <a:lnTo>
                    <a:pt x="0" y="380"/>
                  </a:lnTo>
                  <a:lnTo>
                    <a:pt x="4" y="409"/>
                  </a:lnTo>
                  <a:lnTo>
                    <a:pt x="19" y="433"/>
                  </a:lnTo>
                  <a:lnTo>
                    <a:pt x="33" y="457"/>
                  </a:lnTo>
                  <a:lnTo>
                    <a:pt x="47" y="476"/>
                  </a:lnTo>
                  <a:lnTo>
                    <a:pt x="71" y="495"/>
                  </a:lnTo>
                  <a:lnTo>
                    <a:pt x="95" y="509"/>
                  </a:lnTo>
                  <a:lnTo>
                    <a:pt x="119" y="518"/>
                  </a:lnTo>
                  <a:lnTo>
                    <a:pt x="147" y="528"/>
                  </a:lnTo>
                  <a:lnTo>
                    <a:pt x="176" y="528"/>
                  </a:lnTo>
                  <a:lnTo>
                    <a:pt x="704" y="528"/>
                  </a:lnTo>
                  <a:lnTo>
                    <a:pt x="704" y="528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cxnSp>
          <p:nvCxnSpPr>
            <p:cNvPr id="619" name="Line 11530"/>
            <p:cNvCxnSpPr/>
            <p:nvPr/>
          </p:nvCxnSpPr>
          <p:spPr bwMode="auto">
            <a:xfrm flipV="1">
              <a:off x="1347" y="700"/>
              <a:ext cx="1" cy="647"/>
            </a:xfrm>
            <a:prstGeom prst="line">
              <a:avLst/>
            </a:prstGeom>
            <a:noFill/>
            <a:ln w="1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62" name="Freeform 11531"/>
          <p:cNvSpPr>
            <a:spLocks/>
          </p:cNvSpPr>
          <p:nvPr/>
        </p:nvSpPr>
        <p:spPr bwMode="auto">
          <a:xfrm>
            <a:off x="1923732" y="1647825"/>
            <a:ext cx="1852930" cy="1296035"/>
          </a:xfrm>
          <a:custGeom>
            <a:avLst/>
            <a:gdLst>
              <a:gd name="T0" fmla="*/ 2828 w 2918"/>
              <a:gd name="T1" fmla="*/ 2036 h 2041"/>
              <a:gd name="T2" fmla="*/ 2918 w 2918"/>
              <a:gd name="T3" fmla="*/ 2041 h 2041"/>
              <a:gd name="T4" fmla="*/ 2918 w 2918"/>
              <a:gd name="T5" fmla="*/ 0 h 2041"/>
              <a:gd name="T6" fmla="*/ 0 w 2918"/>
              <a:gd name="T7" fmla="*/ 0 h 2041"/>
              <a:gd name="T8" fmla="*/ 0 w 2918"/>
              <a:gd name="T9" fmla="*/ 761 h 2041"/>
              <a:gd name="T10" fmla="*/ 162 w 2918"/>
              <a:gd name="T11" fmla="*/ 761 h 2041"/>
              <a:gd name="T12" fmla="*/ 181 w 2918"/>
              <a:gd name="T13" fmla="*/ 761 h 20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18" h="2041">
                <a:moveTo>
                  <a:pt x="2828" y="2036"/>
                </a:moveTo>
                <a:lnTo>
                  <a:pt x="2918" y="2041"/>
                </a:lnTo>
                <a:lnTo>
                  <a:pt x="2918" y="0"/>
                </a:lnTo>
                <a:lnTo>
                  <a:pt x="0" y="0"/>
                </a:lnTo>
                <a:lnTo>
                  <a:pt x="0" y="761"/>
                </a:lnTo>
                <a:lnTo>
                  <a:pt x="162" y="761"/>
                </a:lnTo>
                <a:lnTo>
                  <a:pt x="181" y="761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63" name="Freeform 11532"/>
          <p:cNvSpPr>
            <a:spLocks/>
          </p:cNvSpPr>
          <p:nvPr/>
        </p:nvSpPr>
        <p:spPr bwMode="auto">
          <a:xfrm>
            <a:off x="1370647" y="1955800"/>
            <a:ext cx="918845" cy="1864360"/>
          </a:xfrm>
          <a:custGeom>
            <a:avLst/>
            <a:gdLst>
              <a:gd name="T0" fmla="*/ 1314 w 1447"/>
              <a:gd name="T1" fmla="*/ 433 h 2936"/>
              <a:gd name="T2" fmla="*/ 1447 w 1447"/>
              <a:gd name="T3" fmla="*/ 433 h 2936"/>
              <a:gd name="T4" fmla="*/ 1447 w 1447"/>
              <a:gd name="T5" fmla="*/ 0 h 2936"/>
              <a:gd name="T6" fmla="*/ 0 w 1447"/>
              <a:gd name="T7" fmla="*/ 0 h 2936"/>
              <a:gd name="T8" fmla="*/ 0 w 1447"/>
              <a:gd name="T9" fmla="*/ 2936 h 2936"/>
              <a:gd name="T10" fmla="*/ 128 w 1447"/>
              <a:gd name="T11" fmla="*/ 2936 h 2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47" h="2936">
                <a:moveTo>
                  <a:pt x="1314" y="433"/>
                </a:moveTo>
                <a:lnTo>
                  <a:pt x="1447" y="433"/>
                </a:lnTo>
                <a:lnTo>
                  <a:pt x="1447" y="0"/>
                </a:lnTo>
                <a:lnTo>
                  <a:pt x="0" y="0"/>
                </a:lnTo>
                <a:lnTo>
                  <a:pt x="0" y="2936"/>
                </a:lnTo>
                <a:lnTo>
                  <a:pt x="128" y="2936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64" name="Freeform 11533"/>
          <p:cNvSpPr>
            <a:spLocks/>
          </p:cNvSpPr>
          <p:nvPr/>
        </p:nvSpPr>
        <p:spPr bwMode="auto">
          <a:xfrm>
            <a:off x="2718752" y="2007235"/>
            <a:ext cx="1584325" cy="3097530"/>
          </a:xfrm>
          <a:custGeom>
            <a:avLst/>
            <a:gdLst>
              <a:gd name="T0" fmla="*/ 162 w 2495"/>
              <a:gd name="T1" fmla="*/ 0 h 4878"/>
              <a:gd name="T2" fmla="*/ 0 w 2495"/>
              <a:gd name="T3" fmla="*/ 5 h 4878"/>
              <a:gd name="T4" fmla="*/ 0 w 2495"/>
              <a:gd name="T5" fmla="*/ 4878 h 4878"/>
              <a:gd name="T6" fmla="*/ 2495 w 2495"/>
              <a:gd name="T7" fmla="*/ 4878 h 48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95" h="4878">
                <a:moveTo>
                  <a:pt x="162" y="0"/>
                </a:moveTo>
                <a:lnTo>
                  <a:pt x="0" y="5"/>
                </a:lnTo>
                <a:lnTo>
                  <a:pt x="0" y="4878"/>
                </a:lnTo>
                <a:lnTo>
                  <a:pt x="2495" y="4878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65" name="Freeform 11534"/>
          <p:cNvSpPr>
            <a:spLocks/>
          </p:cNvSpPr>
          <p:nvPr/>
        </p:nvSpPr>
        <p:spPr bwMode="auto">
          <a:xfrm>
            <a:off x="2933382" y="2143125"/>
            <a:ext cx="1635125" cy="3142615"/>
          </a:xfrm>
          <a:custGeom>
            <a:avLst/>
            <a:gdLst>
              <a:gd name="T0" fmla="*/ 2575 w 2575"/>
              <a:gd name="T1" fmla="*/ 4473 h 4949"/>
              <a:gd name="T2" fmla="*/ 2575 w 2575"/>
              <a:gd name="T3" fmla="*/ 4949 h 4949"/>
              <a:gd name="T4" fmla="*/ 314 w 2575"/>
              <a:gd name="T5" fmla="*/ 4949 h 4949"/>
              <a:gd name="T6" fmla="*/ 314 w 2575"/>
              <a:gd name="T7" fmla="*/ 1766 h 4949"/>
              <a:gd name="T8" fmla="*/ 0 w 2575"/>
              <a:gd name="T9" fmla="*/ 1766 h 4949"/>
              <a:gd name="T10" fmla="*/ 0 w 2575"/>
              <a:gd name="T11" fmla="*/ 0 h 49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75" h="4949">
                <a:moveTo>
                  <a:pt x="2575" y="4473"/>
                </a:moveTo>
                <a:lnTo>
                  <a:pt x="2575" y="4949"/>
                </a:lnTo>
                <a:lnTo>
                  <a:pt x="314" y="4949"/>
                </a:lnTo>
                <a:lnTo>
                  <a:pt x="314" y="1766"/>
                </a:lnTo>
                <a:lnTo>
                  <a:pt x="0" y="1766"/>
                </a:lnTo>
                <a:lnTo>
                  <a:pt x="0" y="0"/>
                </a:lnTo>
              </a:path>
            </a:pathLst>
          </a:custGeom>
          <a:noFill/>
          <a:ln w="2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cxnSp>
        <p:nvCxnSpPr>
          <p:cNvPr id="566" name="Line 11535"/>
          <p:cNvCxnSpPr/>
          <p:nvPr/>
        </p:nvCxnSpPr>
        <p:spPr bwMode="auto">
          <a:xfrm flipH="1">
            <a:off x="4030662" y="3357880"/>
            <a:ext cx="269240" cy="635"/>
          </a:xfrm>
          <a:prstGeom prst="line">
            <a:avLst/>
          </a:prstGeom>
          <a:noFill/>
          <a:ln w="2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7" name="Freeform 11536"/>
          <p:cNvSpPr>
            <a:spLocks/>
          </p:cNvSpPr>
          <p:nvPr/>
        </p:nvSpPr>
        <p:spPr bwMode="auto">
          <a:xfrm>
            <a:off x="4082097" y="3536315"/>
            <a:ext cx="169545" cy="232410"/>
          </a:xfrm>
          <a:custGeom>
            <a:avLst/>
            <a:gdLst>
              <a:gd name="T0" fmla="*/ 129 w 267"/>
              <a:gd name="T1" fmla="*/ 362 h 366"/>
              <a:gd name="T2" fmla="*/ 152 w 267"/>
              <a:gd name="T3" fmla="*/ 362 h 366"/>
              <a:gd name="T4" fmla="*/ 176 w 267"/>
              <a:gd name="T5" fmla="*/ 357 h 366"/>
              <a:gd name="T6" fmla="*/ 195 w 267"/>
              <a:gd name="T7" fmla="*/ 343 h 366"/>
              <a:gd name="T8" fmla="*/ 209 w 267"/>
              <a:gd name="T9" fmla="*/ 328 h 366"/>
              <a:gd name="T10" fmla="*/ 224 w 267"/>
              <a:gd name="T11" fmla="*/ 309 h 366"/>
              <a:gd name="T12" fmla="*/ 238 w 267"/>
              <a:gd name="T13" fmla="*/ 290 h 366"/>
              <a:gd name="T14" fmla="*/ 252 w 267"/>
              <a:gd name="T15" fmla="*/ 266 h 366"/>
              <a:gd name="T16" fmla="*/ 257 w 267"/>
              <a:gd name="T17" fmla="*/ 238 h 366"/>
              <a:gd name="T18" fmla="*/ 262 w 267"/>
              <a:gd name="T19" fmla="*/ 214 h 366"/>
              <a:gd name="T20" fmla="*/ 267 w 267"/>
              <a:gd name="T21" fmla="*/ 181 h 366"/>
              <a:gd name="T22" fmla="*/ 262 w 267"/>
              <a:gd name="T23" fmla="*/ 152 h 366"/>
              <a:gd name="T24" fmla="*/ 257 w 267"/>
              <a:gd name="T25" fmla="*/ 124 h 366"/>
              <a:gd name="T26" fmla="*/ 252 w 267"/>
              <a:gd name="T27" fmla="*/ 100 h 366"/>
              <a:gd name="T28" fmla="*/ 238 w 267"/>
              <a:gd name="T29" fmla="*/ 76 h 366"/>
              <a:gd name="T30" fmla="*/ 224 w 267"/>
              <a:gd name="T31" fmla="*/ 52 h 366"/>
              <a:gd name="T32" fmla="*/ 209 w 267"/>
              <a:gd name="T33" fmla="*/ 33 h 366"/>
              <a:gd name="T34" fmla="*/ 195 w 267"/>
              <a:gd name="T35" fmla="*/ 19 h 366"/>
              <a:gd name="T36" fmla="*/ 176 w 267"/>
              <a:gd name="T37" fmla="*/ 9 h 366"/>
              <a:gd name="T38" fmla="*/ 152 w 267"/>
              <a:gd name="T39" fmla="*/ 5 h 366"/>
              <a:gd name="T40" fmla="*/ 133 w 267"/>
              <a:gd name="T41" fmla="*/ 0 h 366"/>
              <a:gd name="T42" fmla="*/ 109 w 267"/>
              <a:gd name="T43" fmla="*/ 5 h 366"/>
              <a:gd name="T44" fmla="*/ 90 w 267"/>
              <a:gd name="T45" fmla="*/ 9 h 366"/>
              <a:gd name="T46" fmla="*/ 71 w 267"/>
              <a:gd name="T47" fmla="*/ 19 h 366"/>
              <a:gd name="T48" fmla="*/ 52 w 267"/>
              <a:gd name="T49" fmla="*/ 33 h 366"/>
              <a:gd name="T50" fmla="*/ 38 w 267"/>
              <a:gd name="T51" fmla="*/ 52 h 366"/>
              <a:gd name="T52" fmla="*/ 24 w 267"/>
              <a:gd name="T53" fmla="*/ 76 h 366"/>
              <a:gd name="T54" fmla="*/ 14 w 267"/>
              <a:gd name="T55" fmla="*/ 100 h 366"/>
              <a:gd name="T56" fmla="*/ 5 w 267"/>
              <a:gd name="T57" fmla="*/ 124 h 366"/>
              <a:gd name="T58" fmla="*/ 0 w 267"/>
              <a:gd name="T59" fmla="*/ 152 h 366"/>
              <a:gd name="T60" fmla="*/ 0 w 267"/>
              <a:gd name="T61" fmla="*/ 181 h 366"/>
              <a:gd name="T62" fmla="*/ 0 w 267"/>
              <a:gd name="T63" fmla="*/ 214 h 366"/>
              <a:gd name="T64" fmla="*/ 5 w 267"/>
              <a:gd name="T65" fmla="*/ 238 h 366"/>
              <a:gd name="T66" fmla="*/ 14 w 267"/>
              <a:gd name="T67" fmla="*/ 266 h 366"/>
              <a:gd name="T68" fmla="*/ 24 w 267"/>
              <a:gd name="T69" fmla="*/ 290 h 366"/>
              <a:gd name="T70" fmla="*/ 38 w 267"/>
              <a:gd name="T71" fmla="*/ 309 h 366"/>
              <a:gd name="T72" fmla="*/ 52 w 267"/>
              <a:gd name="T73" fmla="*/ 328 h 366"/>
              <a:gd name="T74" fmla="*/ 71 w 267"/>
              <a:gd name="T75" fmla="*/ 343 h 366"/>
              <a:gd name="T76" fmla="*/ 90 w 267"/>
              <a:gd name="T77" fmla="*/ 357 h 366"/>
              <a:gd name="T78" fmla="*/ 109 w 267"/>
              <a:gd name="T79" fmla="*/ 362 h 366"/>
              <a:gd name="T80" fmla="*/ 133 w 267"/>
              <a:gd name="T81" fmla="*/ 366 h 366"/>
              <a:gd name="T82" fmla="*/ 133 w 267"/>
              <a:gd name="T83" fmla="*/ 366 h 366"/>
              <a:gd name="T84" fmla="*/ 129 w 267"/>
              <a:gd name="T85" fmla="*/ 362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67" h="366">
                <a:moveTo>
                  <a:pt x="129" y="362"/>
                </a:moveTo>
                <a:lnTo>
                  <a:pt x="152" y="362"/>
                </a:lnTo>
                <a:lnTo>
                  <a:pt x="176" y="357"/>
                </a:lnTo>
                <a:lnTo>
                  <a:pt x="195" y="343"/>
                </a:lnTo>
                <a:lnTo>
                  <a:pt x="209" y="328"/>
                </a:lnTo>
                <a:lnTo>
                  <a:pt x="224" y="309"/>
                </a:lnTo>
                <a:lnTo>
                  <a:pt x="238" y="290"/>
                </a:lnTo>
                <a:lnTo>
                  <a:pt x="252" y="266"/>
                </a:lnTo>
                <a:lnTo>
                  <a:pt x="257" y="238"/>
                </a:lnTo>
                <a:lnTo>
                  <a:pt x="262" y="214"/>
                </a:lnTo>
                <a:lnTo>
                  <a:pt x="267" y="181"/>
                </a:lnTo>
                <a:lnTo>
                  <a:pt x="262" y="152"/>
                </a:lnTo>
                <a:lnTo>
                  <a:pt x="257" y="124"/>
                </a:lnTo>
                <a:lnTo>
                  <a:pt x="252" y="100"/>
                </a:lnTo>
                <a:lnTo>
                  <a:pt x="238" y="76"/>
                </a:lnTo>
                <a:lnTo>
                  <a:pt x="224" y="52"/>
                </a:lnTo>
                <a:lnTo>
                  <a:pt x="209" y="33"/>
                </a:lnTo>
                <a:lnTo>
                  <a:pt x="195" y="19"/>
                </a:lnTo>
                <a:lnTo>
                  <a:pt x="176" y="9"/>
                </a:lnTo>
                <a:lnTo>
                  <a:pt x="152" y="5"/>
                </a:lnTo>
                <a:lnTo>
                  <a:pt x="133" y="0"/>
                </a:lnTo>
                <a:lnTo>
                  <a:pt x="109" y="5"/>
                </a:lnTo>
                <a:lnTo>
                  <a:pt x="90" y="9"/>
                </a:lnTo>
                <a:lnTo>
                  <a:pt x="71" y="19"/>
                </a:lnTo>
                <a:lnTo>
                  <a:pt x="52" y="33"/>
                </a:lnTo>
                <a:lnTo>
                  <a:pt x="38" y="52"/>
                </a:lnTo>
                <a:lnTo>
                  <a:pt x="24" y="76"/>
                </a:lnTo>
                <a:lnTo>
                  <a:pt x="14" y="100"/>
                </a:lnTo>
                <a:lnTo>
                  <a:pt x="5" y="124"/>
                </a:lnTo>
                <a:lnTo>
                  <a:pt x="0" y="152"/>
                </a:lnTo>
                <a:lnTo>
                  <a:pt x="0" y="181"/>
                </a:lnTo>
                <a:lnTo>
                  <a:pt x="0" y="214"/>
                </a:lnTo>
                <a:lnTo>
                  <a:pt x="5" y="238"/>
                </a:lnTo>
                <a:lnTo>
                  <a:pt x="14" y="266"/>
                </a:lnTo>
                <a:lnTo>
                  <a:pt x="24" y="290"/>
                </a:lnTo>
                <a:lnTo>
                  <a:pt x="38" y="309"/>
                </a:lnTo>
                <a:lnTo>
                  <a:pt x="52" y="328"/>
                </a:lnTo>
                <a:lnTo>
                  <a:pt x="71" y="343"/>
                </a:lnTo>
                <a:lnTo>
                  <a:pt x="90" y="357"/>
                </a:lnTo>
                <a:lnTo>
                  <a:pt x="109" y="362"/>
                </a:lnTo>
                <a:lnTo>
                  <a:pt x="133" y="366"/>
                </a:lnTo>
                <a:lnTo>
                  <a:pt x="133" y="366"/>
                </a:lnTo>
                <a:lnTo>
                  <a:pt x="129" y="3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68" name="Freeform 11537"/>
          <p:cNvSpPr>
            <a:spLocks/>
          </p:cNvSpPr>
          <p:nvPr/>
        </p:nvSpPr>
        <p:spPr bwMode="auto">
          <a:xfrm>
            <a:off x="4082097" y="3536315"/>
            <a:ext cx="169545" cy="232410"/>
          </a:xfrm>
          <a:custGeom>
            <a:avLst/>
            <a:gdLst>
              <a:gd name="T0" fmla="*/ 129 w 267"/>
              <a:gd name="T1" fmla="*/ 362 h 366"/>
              <a:gd name="T2" fmla="*/ 152 w 267"/>
              <a:gd name="T3" fmla="*/ 362 h 366"/>
              <a:gd name="T4" fmla="*/ 176 w 267"/>
              <a:gd name="T5" fmla="*/ 357 h 366"/>
              <a:gd name="T6" fmla="*/ 195 w 267"/>
              <a:gd name="T7" fmla="*/ 343 h 366"/>
              <a:gd name="T8" fmla="*/ 209 w 267"/>
              <a:gd name="T9" fmla="*/ 328 h 366"/>
              <a:gd name="T10" fmla="*/ 224 w 267"/>
              <a:gd name="T11" fmla="*/ 309 h 366"/>
              <a:gd name="T12" fmla="*/ 238 w 267"/>
              <a:gd name="T13" fmla="*/ 290 h 366"/>
              <a:gd name="T14" fmla="*/ 252 w 267"/>
              <a:gd name="T15" fmla="*/ 266 h 366"/>
              <a:gd name="T16" fmla="*/ 257 w 267"/>
              <a:gd name="T17" fmla="*/ 238 h 366"/>
              <a:gd name="T18" fmla="*/ 262 w 267"/>
              <a:gd name="T19" fmla="*/ 214 h 366"/>
              <a:gd name="T20" fmla="*/ 267 w 267"/>
              <a:gd name="T21" fmla="*/ 181 h 366"/>
              <a:gd name="T22" fmla="*/ 262 w 267"/>
              <a:gd name="T23" fmla="*/ 152 h 366"/>
              <a:gd name="T24" fmla="*/ 257 w 267"/>
              <a:gd name="T25" fmla="*/ 124 h 366"/>
              <a:gd name="T26" fmla="*/ 252 w 267"/>
              <a:gd name="T27" fmla="*/ 100 h 366"/>
              <a:gd name="T28" fmla="*/ 238 w 267"/>
              <a:gd name="T29" fmla="*/ 76 h 366"/>
              <a:gd name="T30" fmla="*/ 224 w 267"/>
              <a:gd name="T31" fmla="*/ 52 h 366"/>
              <a:gd name="T32" fmla="*/ 209 w 267"/>
              <a:gd name="T33" fmla="*/ 33 h 366"/>
              <a:gd name="T34" fmla="*/ 195 w 267"/>
              <a:gd name="T35" fmla="*/ 19 h 366"/>
              <a:gd name="T36" fmla="*/ 176 w 267"/>
              <a:gd name="T37" fmla="*/ 9 h 366"/>
              <a:gd name="T38" fmla="*/ 152 w 267"/>
              <a:gd name="T39" fmla="*/ 5 h 366"/>
              <a:gd name="T40" fmla="*/ 133 w 267"/>
              <a:gd name="T41" fmla="*/ 0 h 366"/>
              <a:gd name="T42" fmla="*/ 109 w 267"/>
              <a:gd name="T43" fmla="*/ 5 h 366"/>
              <a:gd name="T44" fmla="*/ 90 w 267"/>
              <a:gd name="T45" fmla="*/ 9 h 366"/>
              <a:gd name="T46" fmla="*/ 71 w 267"/>
              <a:gd name="T47" fmla="*/ 19 h 366"/>
              <a:gd name="T48" fmla="*/ 52 w 267"/>
              <a:gd name="T49" fmla="*/ 33 h 366"/>
              <a:gd name="T50" fmla="*/ 38 w 267"/>
              <a:gd name="T51" fmla="*/ 52 h 366"/>
              <a:gd name="T52" fmla="*/ 24 w 267"/>
              <a:gd name="T53" fmla="*/ 76 h 366"/>
              <a:gd name="T54" fmla="*/ 14 w 267"/>
              <a:gd name="T55" fmla="*/ 100 h 366"/>
              <a:gd name="T56" fmla="*/ 5 w 267"/>
              <a:gd name="T57" fmla="*/ 124 h 366"/>
              <a:gd name="T58" fmla="*/ 0 w 267"/>
              <a:gd name="T59" fmla="*/ 152 h 366"/>
              <a:gd name="T60" fmla="*/ 0 w 267"/>
              <a:gd name="T61" fmla="*/ 181 h 366"/>
              <a:gd name="T62" fmla="*/ 0 w 267"/>
              <a:gd name="T63" fmla="*/ 214 h 366"/>
              <a:gd name="T64" fmla="*/ 5 w 267"/>
              <a:gd name="T65" fmla="*/ 238 h 366"/>
              <a:gd name="T66" fmla="*/ 14 w 267"/>
              <a:gd name="T67" fmla="*/ 266 h 366"/>
              <a:gd name="T68" fmla="*/ 24 w 267"/>
              <a:gd name="T69" fmla="*/ 290 h 366"/>
              <a:gd name="T70" fmla="*/ 38 w 267"/>
              <a:gd name="T71" fmla="*/ 309 h 366"/>
              <a:gd name="T72" fmla="*/ 52 w 267"/>
              <a:gd name="T73" fmla="*/ 328 h 366"/>
              <a:gd name="T74" fmla="*/ 71 w 267"/>
              <a:gd name="T75" fmla="*/ 343 h 366"/>
              <a:gd name="T76" fmla="*/ 90 w 267"/>
              <a:gd name="T77" fmla="*/ 357 h 366"/>
              <a:gd name="T78" fmla="*/ 109 w 267"/>
              <a:gd name="T79" fmla="*/ 362 h 366"/>
              <a:gd name="T80" fmla="*/ 133 w 267"/>
              <a:gd name="T81" fmla="*/ 366 h 366"/>
              <a:gd name="T82" fmla="*/ 133 w 267"/>
              <a:gd name="T83" fmla="*/ 366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67" h="366">
                <a:moveTo>
                  <a:pt x="129" y="362"/>
                </a:moveTo>
                <a:lnTo>
                  <a:pt x="152" y="362"/>
                </a:lnTo>
                <a:lnTo>
                  <a:pt x="176" y="357"/>
                </a:lnTo>
                <a:lnTo>
                  <a:pt x="195" y="343"/>
                </a:lnTo>
                <a:lnTo>
                  <a:pt x="209" y="328"/>
                </a:lnTo>
                <a:lnTo>
                  <a:pt x="224" y="309"/>
                </a:lnTo>
                <a:lnTo>
                  <a:pt x="238" y="290"/>
                </a:lnTo>
                <a:lnTo>
                  <a:pt x="252" y="266"/>
                </a:lnTo>
                <a:lnTo>
                  <a:pt x="257" y="238"/>
                </a:lnTo>
                <a:lnTo>
                  <a:pt x="262" y="214"/>
                </a:lnTo>
                <a:lnTo>
                  <a:pt x="267" y="181"/>
                </a:lnTo>
                <a:lnTo>
                  <a:pt x="262" y="152"/>
                </a:lnTo>
                <a:lnTo>
                  <a:pt x="257" y="124"/>
                </a:lnTo>
                <a:lnTo>
                  <a:pt x="252" y="100"/>
                </a:lnTo>
                <a:lnTo>
                  <a:pt x="238" y="76"/>
                </a:lnTo>
                <a:lnTo>
                  <a:pt x="224" y="52"/>
                </a:lnTo>
                <a:lnTo>
                  <a:pt x="209" y="33"/>
                </a:lnTo>
                <a:lnTo>
                  <a:pt x="195" y="19"/>
                </a:lnTo>
                <a:lnTo>
                  <a:pt x="176" y="9"/>
                </a:lnTo>
                <a:lnTo>
                  <a:pt x="152" y="5"/>
                </a:lnTo>
                <a:lnTo>
                  <a:pt x="133" y="0"/>
                </a:lnTo>
                <a:lnTo>
                  <a:pt x="109" y="5"/>
                </a:lnTo>
                <a:lnTo>
                  <a:pt x="90" y="9"/>
                </a:lnTo>
                <a:lnTo>
                  <a:pt x="71" y="19"/>
                </a:lnTo>
                <a:lnTo>
                  <a:pt x="52" y="33"/>
                </a:lnTo>
                <a:lnTo>
                  <a:pt x="38" y="52"/>
                </a:lnTo>
                <a:lnTo>
                  <a:pt x="24" y="76"/>
                </a:lnTo>
                <a:lnTo>
                  <a:pt x="14" y="100"/>
                </a:lnTo>
                <a:lnTo>
                  <a:pt x="5" y="124"/>
                </a:lnTo>
                <a:lnTo>
                  <a:pt x="0" y="152"/>
                </a:lnTo>
                <a:lnTo>
                  <a:pt x="0" y="181"/>
                </a:lnTo>
                <a:lnTo>
                  <a:pt x="0" y="214"/>
                </a:lnTo>
                <a:lnTo>
                  <a:pt x="5" y="238"/>
                </a:lnTo>
                <a:lnTo>
                  <a:pt x="14" y="266"/>
                </a:lnTo>
                <a:lnTo>
                  <a:pt x="24" y="290"/>
                </a:lnTo>
                <a:lnTo>
                  <a:pt x="38" y="309"/>
                </a:lnTo>
                <a:lnTo>
                  <a:pt x="52" y="328"/>
                </a:lnTo>
                <a:lnTo>
                  <a:pt x="71" y="343"/>
                </a:lnTo>
                <a:lnTo>
                  <a:pt x="90" y="357"/>
                </a:lnTo>
                <a:lnTo>
                  <a:pt x="109" y="362"/>
                </a:lnTo>
                <a:lnTo>
                  <a:pt x="133" y="366"/>
                </a:lnTo>
                <a:lnTo>
                  <a:pt x="133" y="366"/>
                </a:lnTo>
              </a:path>
            </a:pathLst>
          </a:custGeom>
          <a:noFill/>
          <a:ln w="14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sp>
        <p:nvSpPr>
          <p:cNvPr id="569" name="Rectangle 11538"/>
          <p:cNvSpPr>
            <a:spLocks noChangeArrowheads="1"/>
          </p:cNvSpPr>
          <p:nvPr/>
        </p:nvSpPr>
        <p:spPr bwMode="auto">
          <a:xfrm>
            <a:off x="4124642" y="3581400"/>
            <a:ext cx="7429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effectLst/>
                <a:latin typeface="Arial"/>
                <a:ea typeface="Batang"/>
              </a:rPr>
              <a:t>=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70" name="Rectangle 11539"/>
          <p:cNvSpPr>
            <a:spLocks noChangeArrowheads="1"/>
          </p:cNvSpPr>
          <p:nvPr/>
        </p:nvSpPr>
        <p:spPr bwMode="auto">
          <a:xfrm rot="16200000">
            <a:off x="2700337" y="3759200"/>
            <a:ext cx="87630" cy="313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Instrução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71" name="Rectangle 11540"/>
          <p:cNvSpPr>
            <a:spLocks noChangeArrowheads="1"/>
          </p:cNvSpPr>
          <p:nvPr/>
        </p:nvSpPr>
        <p:spPr bwMode="auto">
          <a:xfrm>
            <a:off x="5436552" y="3328035"/>
            <a:ext cx="2838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>
                <a:solidFill>
                  <a:srgbClr val="000000"/>
                </a:solidFill>
                <a:effectLst/>
                <a:latin typeface="Arial"/>
                <a:ea typeface="Batang"/>
              </a:rPr>
              <a:t>overflow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cxnSp>
        <p:nvCxnSpPr>
          <p:cNvPr id="572" name="Line 11541"/>
          <p:cNvCxnSpPr/>
          <p:nvPr/>
        </p:nvCxnSpPr>
        <p:spPr bwMode="auto">
          <a:xfrm>
            <a:off x="5655627" y="3459480"/>
            <a:ext cx="635" cy="9334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73" name="Group 11542"/>
          <p:cNvGrpSpPr>
            <a:grpSpLocks/>
          </p:cNvGrpSpPr>
          <p:nvPr/>
        </p:nvGrpSpPr>
        <p:grpSpPr bwMode="auto">
          <a:xfrm>
            <a:off x="1288732" y="1155065"/>
            <a:ext cx="6294120" cy="4242435"/>
            <a:chOff x="14" y="19"/>
            <a:chExt cx="9912" cy="6681"/>
          </a:xfrm>
        </p:grpSpPr>
        <p:sp>
          <p:nvSpPr>
            <p:cNvPr id="579" name="Freeform 11543"/>
            <p:cNvSpPr>
              <a:spLocks/>
            </p:cNvSpPr>
            <p:nvPr/>
          </p:nvSpPr>
          <p:spPr bwMode="auto">
            <a:xfrm>
              <a:off x="7484" y="2584"/>
              <a:ext cx="1413" cy="2403"/>
            </a:xfrm>
            <a:custGeom>
              <a:avLst/>
              <a:gdLst>
                <a:gd name="T0" fmla="*/ 0 w 1413"/>
                <a:gd name="T1" fmla="*/ 0 h 2403"/>
                <a:gd name="T2" fmla="*/ 1113 w 1413"/>
                <a:gd name="T3" fmla="*/ 5 h 2403"/>
                <a:gd name="T4" fmla="*/ 1113 w 1413"/>
                <a:gd name="T5" fmla="*/ 738 h 2403"/>
                <a:gd name="T6" fmla="*/ 1413 w 1413"/>
                <a:gd name="T7" fmla="*/ 738 h 2403"/>
                <a:gd name="T8" fmla="*/ 1413 w 1413"/>
                <a:gd name="T9" fmla="*/ 2403 h 2403"/>
                <a:gd name="T10" fmla="*/ 1004 w 1413"/>
                <a:gd name="T11" fmla="*/ 2403 h 2403"/>
                <a:gd name="T12" fmla="*/ 1004 w 1413"/>
                <a:gd name="T13" fmla="*/ 2322 h 2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3" h="2403">
                  <a:moveTo>
                    <a:pt x="0" y="0"/>
                  </a:moveTo>
                  <a:lnTo>
                    <a:pt x="1113" y="5"/>
                  </a:lnTo>
                  <a:lnTo>
                    <a:pt x="1113" y="738"/>
                  </a:lnTo>
                  <a:lnTo>
                    <a:pt x="1413" y="738"/>
                  </a:lnTo>
                  <a:lnTo>
                    <a:pt x="1413" y="2403"/>
                  </a:lnTo>
                  <a:lnTo>
                    <a:pt x="1004" y="2403"/>
                  </a:lnTo>
                  <a:lnTo>
                    <a:pt x="1004" y="2322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80" name="Freeform 11544"/>
            <p:cNvSpPr>
              <a:spLocks/>
            </p:cNvSpPr>
            <p:nvPr/>
          </p:nvSpPr>
          <p:spPr bwMode="auto">
            <a:xfrm>
              <a:off x="5046" y="2841"/>
              <a:ext cx="905" cy="2922"/>
            </a:xfrm>
            <a:custGeom>
              <a:avLst/>
              <a:gdLst>
                <a:gd name="T0" fmla="*/ 0 w 905"/>
                <a:gd name="T1" fmla="*/ 0 h 2922"/>
                <a:gd name="T2" fmla="*/ 100 w 905"/>
                <a:gd name="T3" fmla="*/ 5 h 2922"/>
                <a:gd name="T4" fmla="*/ 100 w 905"/>
                <a:gd name="T5" fmla="*/ 2779 h 2922"/>
                <a:gd name="T6" fmla="*/ 905 w 905"/>
                <a:gd name="T7" fmla="*/ 2779 h 2922"/>
                <a:gd name="T8" fmla="*/ 905 w 905"/>
                <a:gd name="T9" fmla="*/ 2922 h 2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5" h="2922">
                  <a:moveTo>
                    <a:pt x="0" y="0"/>
                  </a:moveTo>
                  <a:lnTo>
                    <a:pt x="100" y="5"/>
                  </a:lnTo>
                  <a:lnTo>
                    <a:pt x="100" y="2779"/>
                  </a:lnTo>
                  <a:lnTo>
                    <a:pt x="905" y="2779"/>
                  </a:lnTo>
                  <a:lnTo>
                    <a:pt x="905" y="2922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81" name="Freeform 11545"/>
            <p:cNvSpPr>
              <a:spLocks/>
            </p:cNvSpPr>
            <p:nvPr/>
          </p:nvSpPr>
          <p:spPr bwMode="auto">
            <a:xfrm>
              <a:off x="5046" y="2565"/>
              <a:ext cx="1390" cy="1794"/>
            </a:xfrm>
            <a:custGeom>
              <a:avLst/>
              <a:gdLst>
                <a:gd name="T0" fmla="*/ 0 w 1390"/>
                <a:gd name="T1" fmla="*/ 0 h 1794"/>
                <a:gd name="T2" fmla="*/ 338 w 1390"/>
                <a:gd name="T3" fmla="*/ 0 h 1794"/>
                <a:gd name="T4" fmla="*/ 338 w 1390"/>
                <a:gd name="T5" fmla="*/ 757 h 1794"/>
                <a:gd name="T6" fmla="*/ 1390 w 1390"/>
                <a:gd name="T7" fmla="*/ 757 h 1794"/>
                <a:gd name="T8" fmla="*/ 1390 w 1390"/>
                <a:gd name="T9" fmla="*/ 1794 h 1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0" h="1794">
                  <a:moveTo>
                    <a:pt x="0" y="0"/>
                  </a:moveTo>
                  <a:lnTo>
                    <a:pt x="338" y="0"/>
                  </a:lnTo>
                  <a:lnTo>
                    <a:pt x="338" y="757"/>
                  </a:lnTo>
                  <a:lnTo>
                    <a:pt x="1390" y="757"/>
                  </a:lnTo>
                  <a:lnTo>
                    <a:pt x="1390" y="1794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82" name="Freeform 11546"/>
            <p:cNvSpPr>
              <a:spLocks/>
            </p:cNvSpPr>
            <p:nvPr/>
          </p:nvSpPr>
          <p:spPr bwMode="auto">
            <a:xfrm>
              <a:off x="5046" y="2732"/>
              <a:ext cx="1690" cy="2393"/>
            </a:xfrm>
            <a:custGeom>
              <a:avLst/>
              <a:gdLst>
                <a:gd name="T0" fmla="*/ 0 w 1690"/>
                <a:gd name="T1" fmla="*/ 0 h 2393"/>
                <a:gd name="T2" fmla="*/ 219 w 1690"/>
                <a:gd name="T3" fmla="*/ 4 h 2393"/>
                <a:gd name="T4" fmla="*/ 219 w 1690"/>
                <a:gd name="T5" fmla="*/ 2393 h 2393"/>
                <a:gd name="T6" fmla="*/ 1690 w 1690"/>
                <a:gd name="T7" fmla="*/ 2393 h 2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0" h="2393">
                  <a:moveTo>
                    <a:pt x="0" y="0"/>
                  </a:moveTo>
                  <a:lnTo>
                    <a:pt x="219" y="4"/>
                  </a:lnTo>
                  <a:lnTo>
                    <a:pt x="219" y="2393"/>
                  </a:lnTo>
                  <a:lnTo>
                    <a:pt x="1690" y="2393"/>
                  </a:lnTo>
                </a:path>
              </a:pathLst>
            </a:cu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83" name="Freeform 11547"/>
            <p:cNvSpPr>
              <a:spLocks/>
            </p:cNvSpPr>
            <p:nvPr/>
          </p:nvSpPr>
          <p:spPr bwMode="auto">
            <a:xfrm>
              <a:off x="5941" y="5011"/>
              <a:ext cx="362" cy="1375"/>
            </a:xfrm>
            <a:custGeom>
              <a:avLst/>
              <a:gdLst>
                <a:gd name="T0" fmla="*/ 0 w 362"/>
                <a:gd name="T1" fmla="*/ 0 h 1375"/>
                <a:gd name="T2" fmla="*/ 0 w 362"/>
                <a:gd name="T3" fmla="*/ 443 h 1375"/>
                <a:gd name="T4" fmla="*/ 281 w 362"/>
                <a:gd name="T5" fmla="*/ 443 h 1375"/>
                <a:gd name="T6" fmla="*/ 276 w 362"/>
                <a:gd name="T7" fmla="*/ 1375 h 1375"/>
                <a:gd name="T8" fmla="*/ 362 w 362"/>
                <a:gd name="T9" fmla="*/ 1375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2" h="1375">
                  <a:moveTo>
                    <a:pt x="0" y="0"/>
                  </a:moveTo>
                  <a:lnTo>
                    <a:pt x="0" y="443"/>
                  </a:lnTo>
                  <a:lnTo>
                    <a:pt x="281" y="443"/>
                  </a:lnTo>
                  <a:lnTo>
                    <a:pt x="276" y="1375"/>
                  </a:lnTo>
                  <a:lnTo>
                    <a:pt x="362" y="1375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84" name="Freeform 11548"/>
            <p:cNvSpPr>
              <a:spLocks/>
            </p:cNvSpPr>
            <p:nvPr/>
          </p:nvSpPr>
          <p:spPr bwMode="auto">
            <a:xfrm>
              <a:off x="5736" y="4097"/>
              <a:ext cx="572" cy="2370"/>
            </a:xfrm>
            <a:custGeom>
              <a:avLst/>
              <a:gdLst>
                <a:gd name="T0" fmla="*/ 196 w 572"/>
                <a:gd name="T1" fmla="*/ 0 h 2370"/>
                <a:gd name="T2" fmla="*/ 200 w 572"/>
                <a:gd name="T3" fmla="*/ 115 h 2370"/>
                <a:gd name="T4" fmla="*/ 0 w 572"/>
                <a:gd name="T5" fmla="*/ 115 h 2370"/>
                <a:gd name="T6" fmla="*/ 0 w 572"/>
                <a:gd name="T7" fmla="*/ 1456 h 2370"/>
                <a:gd name="T8" fmla="*/ 405 w 572"/>
                <a:gd name="T9" fmla="*/ 1456 h 2370"/>
                <a:gd name="T10" fmla="*/ 405 w 572"/>
                <a:gd name="T11" fmla="*/ 2370 h 2370"/>
                <a:gd name="T12" fmla="*/ 572 w 572"/>
                <a:gd name="T13" fmla="*/ 237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2370">
                  <a:moveTo>
                    <a:pt x="196" y="0"/>
                  </a:moveTo>
                  <a:lnTo>
                    <a:pt x="200" y="115"/>
                  </a:lnTo>
                  <a:lnTo>
                    <a:pt x="0" y="115"/>
                  </a:lnTo>
                  <a:lnTo>
                    <a:pt x="0" y="1456"/>
                  </a:lnTo>
                  <a:lnTo>
                    <a:pt x="405" y="1456"/>
                  </a:lnTo>
                  <a:lnTo>
                    <a:pt x="405" y="2370"/>
                  </a:lnTo>
                  <a:lnTo>
                    <a:pt x="572" y="2370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cxnSp>
          <p:nvCxnSpPr>
            <p:cNvPr id="585" name="Line 11549"/>
            <p:cNvCxnSpPr/>
            <p:nvPr/>
          </p:nvCxnSpPr>
          <p:spPr bwMode="auto">
            <a:xfrm>
              <a:off x="3199" y="2308"/>
              <a:ext cx="1033" cy="1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6" name="Freeform 11550"/>
            <p:cNvSpPr>
              <a:spLocks/>
            </p:cNvSpPr>
            <p:nvPr/>
          </p:nvSpPr>
          <p:spPr bwMode="auto">
            <a:xfrm>
              <a:off x="4027" y="1056"/>
              <a:ext cx="5484" cy="5644"/>
            </a:xfrm>
            <a:custGeom>
              <a:avLst/>
              <a:gdLst>
                <a:gd name="T0" fmla="*/ 0 w 5484"/>
                <a:gd name="T1" fmla="*/ 2266 h 5644"/>
                <a:gd name="T2" fmla="*/ 5 w 5484"/>
                <a:gd name="T3" fmla="*/ 0 h 5644"/>
                <a:gd name="T4" fmla="*/ 5484 w 5484"/>
                <a:gd name="T5" fmla="*/ 0 h 5644"/>
                <a:gd name="T6" fmla="*/ 5484 w 5484"/>
                <a:gd name="T7" fmla="*/ 5644 h 5644"/>
                <a:gd name="T8" fmla="*/ 3190 w 5484"/>
                <a:gd name="T9" fmla="*/ 5644 h 5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4" h="5644">
                  <a:moveTo>
                    <a:pt x="0" y="2266"/>
                  </a:moveTo>
                  <a:lnTo>
                    <a:pt x="5" y="0"/>
                  </a:lnTo>
                  <a:lnTo>
                    <a:pt x="5484" y="0"/>
                  </a:lnTo>
                  <a:lnTo>
                    <a:pt x="5484" y="5644"/>
                  </a:lnTo>
                  <a:lnTo>
                    <a:pt x="3190" y="5644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cxnSp>
          <p:nvCxnSpPr>
            <p:cNvPr id="587" name="Line 11551"/>
            <p:cNvCxnSpPr/>
            <p:nvPr/>
          </p:nvCxnSpPr>
          <p:spPr bwMode="auto">
            <a:xfrm>
              <a:off x="9245" y="2703"/>
              <a:ext cx="266" cy="5"/>
            </a:xfrm>
            <a:prstGeom prst="line">
              <a:avLst/>
            </a:prstGeom>
            <a:noFill/>
            <a:ln w="1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8" name="Freeform 11552"/>
            <p:cNvSpPr>
              <a:spLocks/>
            </p:cNvSpPr>
            <p:nvPr/>
          </p:nvSpPr>
          <p:spPr bwMode="auto">
            <a:xfrm>
              <a:off x="7236" y="2308"/>
              <a:ext cx="519" cy="4216"/>
            </a:xfrm>
            <a:custGeom>
              <a:avLst/>
              <a:gdLst>
                <a:gd name="T0" fmla="*/ 519 w 519"/>
                <a:gd name="T1" fmla="*/ 0 h 4216"/>
                <a:gd name="T2" fmla="*/ 519 w 519"/>
                <a:gd name="T3" fmla="*/ 4216 h 4216"/>
                <a:gd name="T4" fmla="*/ 0 w 519"/>
                <a:gd name="T5" fmla="*/ 4216 h 4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9" h="4216">
                  <a:moveTo>
                    <a:pt x="519" y="0"/>
                  </a:moveTo>
                  <a:lnTo>
                    <a:pt x="519" y="4216"/>
                  </a:lnTo>
                  <a:lnTo>
                    <a:pt x="0" y="4216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89" name="Freeform 11553"/>
            <p:cNvSpPr>
              <a:spLocks/>
            </p:cNvSpPr>
            <p:nvPr/>
          </p:nvSpPr>
          <p:spPr bwMode="auto">
            <a:xfrm>
              <a:off x="1885" y="1275"/>
              <a:ext cx="595" cy="1571"/>
            </a:xfrm>
            <a:custGeom>
              <a:avLst/>
              <a:gdLst>
                <a:gd name="T0" fmla="*/ 0 w 595"/>
                <a:gd name="T1" fmla="*/ 1571 h 1571"/>
                <a:gd name="T2" fmla="*/ 0 w 595"/>
                <a:gd name="T3" fmla="*/ 0 h 1571"/>
                <a:gd name="T4" fmla="*/ 595 w 595"/>
                <a:gd name="T5" fmla="*/ 0 h 1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5" h="1571">
                  <a:moveTo>
                    <a:pt x="0" y="1571"/>
                  </a:moveTo>
                  <a:lnTo>
                    <a:pt x="0" y="0"/>
                  </a:lnTo>
                  <a:lnTo>
                    <a:pt x="595" y="0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90" name="Freeform 11554"/>
            <p:cNvSpPr>
              <a:spLocks/>
            </p:cNvSpPr>
            <p:nvPr/>
          </p:nvSpPr>
          <p:spPr bwMode="auto">
            <a:xfrm>
              <a:off x="424" y="1042"/>
              <a:ext cx="2156" cy="2808"/>
            </a:xfrm>
            <a:custGeom>
              <a:avLst/>
              <a:gdLst>
                <a:gd name="T0" fmla="*/ 0 w 2156"/>
                <a:gd name="T1" fmla="*/ 2808 h 2808"/>
                <a:gd name="T2" fmla="*/ 4 w 2156"/>
                <a:gd name="T3" fmla="*/ 0 h 2808"/>
                <a:gd name="T4" fmla="*/ 2156 w 2156"/>
                <a:gd name="T5" fmla="*/ 0 h 2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6" h="2808">
                  <a:moveTo>
                    <a:pt x="0" y="2808"/>
                  </a:moveTo>
                  <a:lnTo>
                    <a:pt x="4" y="0"/>
                  </a:lnTo>
                  <a:lnTo>
                    <a:pt x="2156" y="0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91" name="Freeform 11555"/>
            <p:cNvSpPr>
              <a:spLocks/>
            </p:cNvSpPr>
            <p:nvPr/>
          </p:nvSpPr>
          <p:spPr bwMode="auto">
            <a:xfrm>
              <a:off x="14" y="923"/>
              <a:ext cx="3437" cy="5316"/>
            </a:xfrm>
            <a:custGeom>
              <a:avLst/>
              <a:gdLst>
                <a:gd name="T0" fmla="*/ 1705 w 3437"/>
                <a:gd name="T1" fmla="*/ 5316 h 5316"/>
                <a:gd name="T2" fmla="*/ 0 w 3437"/>
                <a:gd name="T3" fmla="*/ 5316 h 5316"/>
                <a:gd name="T4" fmla="*/ 0 w 3437"/>
                <a:gd name="T5" fmla="*/ 0 h 5316"/>
                <a:gd name="T6" fmla="*/ 3437 w 3437"/>
                <a:gd name="T7" fmla="*/ 0 h 5316"/>
                <a:gd name="T8" fmla="*/ 3437 w 3437"/>
                <a:gd name="T9" fmla="*/ 1038 h 5316"/>
                <a:gd name="T10" fmla="*/ 3128 w 3437"/>
                <a:gd name="T11" fmla="*/ 1038 h 5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37" h="5316">
                  <a:moveTo>
                    <a:pt x="1705" y="5316"/>
                  </a:moveTo>
                  <a:lnTo>
                    <a:pt x="0" y="5316"/>
                  </a:lnTo>
                  <a:lnTo>
                    <a:pt x="0" y="0"/>
                  </a:lnTo>
                  <a:lnTo>
                    <a:pt x="3437" y="0"/>
                  </a:lnTo>
                  <a:lnTo>
                    <a:pt x="3437" y="1038"/>
                  </a:lnTo>
                  <a:lnTo>
                    <a:pt x="3128" y="103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92" name="Freeform 11556"/>
            <p:cNvSpPr>
              <a:spLocks/>
            </p:cNvSpPr>
            <p:nvPr/>
          </p:nvSpPr>
          <p:spPr bwMode="auto">
            <a:xfrm>
              <a:off x="2752" y="1799"/>
              <a:ext cx="442" cy="1028"/>
            </a:xfrm>
            <a:custGeom>
              <a:avLst/>
              <a:gdLst>
                <a:gd name="T0" fmla="*/ 219 w 442"/>
                <a:gd name="T1" fmla="*/ 1023 h 1028"/>
                <a:gd name="T2" fmla="*/ 257 w 442"/>
                <a:gd name="T3" fmla="*/ 1018 h 1028"/>
                <a:gd name="T4" fmla="*/ 295 w 442"/>
                <a:gd name="T5" fmla="*/ 999 h 1028"/>
                <a:gd name="T6" fmla="*/ 328 w 442"/>
                <a:gd name="T7" fmla="*/ 971 h 1028"/>
                <a:gd name="T8" fmla="*/ 357 w 442"/>
                <a:gd name="T9" fmla="*/ 928 h 1028"/>
                <a:gd name="T10" fmla="*/ 380 w 442"/>
                <a:gd name="T11" fmla="*/ 875 h 1028"/>
                <a:gd name="T12" fmla="*/ 404 w 442"/>
                <a:gd name="T13" fmla="*/ 818 h 1028"/>
                <a:gd name="T14" fmla="*/ 418 w 442"/>
                <a:gd name="T15" fmla="*/ 747 h 1028"/>
                <a:gd name="T16" fmla="*/ 433 w 442"/>
                <a:gd name="T17" fmla="*/ 676 h 1028"/>
                <a:gd name="T18" fmla="*/ 442 w 442"/>
                <a:gd name="T19" fmla="*/ 595 h 1028"/>
                <a:gd name="T20" fmla="*/ 442 w 442"/>
                <a:gd name="T21" fmla="*/ 514 h 1028"/>
                <a:gd name="T22" fmla="*/ 442 w 442"/>
                <a:gd name="T23" fmla="*/ 428 h 1028"/>
                <a:gd name="T24" fmla="*/ 433 w 442"/>
                <a:gd name="T25" fmla="*/ 352 h 1028"/>
                <a:gd name="T26" fmla="*/ 418 w 442"/>
                <a:gd name="T27" fmla="*/ 276 h 1028"/>
                <a:gd name="T28" fmla="*/ 404 w 442"/>
                <a:gd name="T29" fmla="*/ 209 h 1028"/>
                <a:gd name="T30" fmla="*/ 380 w 442"/>
                <a:gd name="T31" fmla="*/ 147 h 1028"/>
                <a:gd name="T32" fmla="*/ 357 w 442"/>
                <a:gd name="T33" fmla="*/ 100 h 1028"/>
                <a:gd name="T34" fmla="*/ 328 w 442"/>
                <a:gd name="T35" fmla="*/ 57 h 1028"/>
                <a:gd name="T36" fmla="*/ 295 w 442"/>
                <a:gd name="T37" fmla="*/ 24 h 1028"/>
                <a:gd name="T38" fmla="*/ 257 w 442"/>
                <a:gd name="T39" fmla="*/ 5 h 1028"/>
                <a:gd name="T40" fmla="*/ 219 w 442"/>
                <a:gd name="T41" fmla="*/ 0 h 1028"/>
                <a:gd name="T42" fmla="*/ 180 w 442"/>
                <a:gd name="T43" fmla="*/ 5 h 1028"/>
                <a:gd name="T44" fmla="*/ 147 w 442"/>
                <a:gd name="T45" fmla="*/ 24 h 1028"/>
                <a:gd name="T46" fmla="*/ 114 w 442"/>
                <a:gd name="T47" fmla="*/ 57 h 1028"/>
                <a:gd name="T48" fmla="*/ 85 w 442"/>
                <a:gd name="T49" fmla="*/ 100 h 1028"/>
                <a:gd name="T50" fmla="*/ 57 w 442"/>
                <a:gd name="T51" fmla="*/ 147 h 1028"/>
                <a:gd name="T52" fmla="*/ 38 w 442"/>
                <a:gd name="T53" fmla="*/ 209 h 1028"/>
                <a:gd name="T54" fmla="*/ 19 w 442"/>
                <a:gd name="T55" fmla="*/ 276 h 1028"/>
                <a:gd name="T56" fmla="*/ 9 w 442"/>
                <a:gd name="T57" fmla="*/ 352 h 1028"/>
                <a:gd name="T58" fmla="*/ 0 w 442"/>
                <a:gd name="T59" fmla="*/ 428 h 1028"/>
                <a:gd name="T60" fmla="*/ 0 w 442"/>
                <a:gd name="T61" fmla="*/ 514 h 1028"/>
                <a:gd name="T62" fmla="*/ 0 w 442"/>
                <a:gd name="T63" fmla="*/ 595 h 1028"/>
                <a:gd name="T64" fmla="*/ 9 w 442"/>
                <a:gd name="T65" fmla="*/ 676 h 1028"/>
                <a:gd name="T66" fmla="*/ 19 w 442"/>
                <a:gd name="T67" fmla="*/ 747 h 1028"/>
                <a:gd name="T68" fmla="*/ 38 w 442"/>
                <a:gd name="T69" fmla="*/ 818 h 1028"/>
                <a:gd name="T70" fmla="*/ 57 w 442"/>
                <a:gd name="T71" fmla="*/ 875 h 1028"/>
                <a:gd name="T72" fmla="*/ 85 w 442"/>
                <a:gd name="T73" fmla="*/ 928 h 1028"/>
                <a:gd name="T74" fmla="*/ 114 w 442"/>
                <a:gd name="T75" fmla="*/ 971 h 1028"/>
                <a:gd name="T76" fmla="*/ 147 w 442"/>
                <a:gd name="T77" fmla="*/ 999 h 1028"/>
                <a:gd name="T78" fmla="*/ 180 w 442"/>
                <a:gd name="T79" fmla="*/ 1018 h 1028"/>
                <a:gd name="T80" fmla="*/ 219 w 442"/>
                <a:gd name="T81" fmla="*/ 1028 h 1028"/>
                <a:gd name="T82" fmla="*/ 219 w 442"/>
                <a:gd name="T83" fmla="*/ 1028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42" h="1028">
                  <a:moveTo>
                    <a:pt x="219" y="1023"/>
                  </a:moveTo>
                  <a:lnTo>
                    <a:pt x="257" y="1018"/>
                  </a:lnTo>
                  <a:lnTo>
                    <a:pt x="295" y="999"/>
                  </a:lnTo>
                  <a:lnTo>
                    <a:pt x="328" y="971"/>
                  </a:lnTo>
                  <a:lnTo>
                    <a:pt x="357" y="928"/>
                  </a:lnTo>
                  <a:lnTo>
                    <a:pt x="380" y="875"/>
                  </a:lnTo>
                  <a:lnTo>
                    <a:pt x="404" y="818"/>
                  </a:lnTo>
                  <a:lnTo>
                    <a:pt x="418" y="747"/>
                  </a:lnTo>
                  <a:lnTo>
                    <a:pt x="433" y="676"/>
                  </a:lnTo>
                  <a:lnTo>
                    <a:pt x="442" y="595"/>
                  </a:lnTo>
                  <a:lnTo>
                    <a:pt x="442" y="514"/>
                  </a:lnTo>
                  <a:lnTo>
                    <a:pt x="442" y="428"/>
                  </a:lnTo>
                  <a:lnTo>
                    <a:pt x="433" y="352"/>
                  </a:lnTo>
                  <a:lnTo>
                    <a:pt x="418" y="276"/>
                  </a:lnTo>
                  <a:lnTo>
                    <a:pt x="404" y="209"/>
                  </a:lnTo>
                  <a:lnTo>
                    <a:pt x="380" y="147"/>
                  </a:lnTo>
                  <a:lnTo>
                    <a:pt x="357" y="100"/>
                  </a:lnTo>
                  <a:lnTo>
                    <a:pt x="328" y="57"/>
                  </a:lnTo>
                  <a:lnTo>
                    <a:pt x="295" y="24"/>
                  </a:lnTo>
                  <a:lnTo>
                    <a:pt x="257" y="5"/>
                  </a:lnTo>
                  <a:lnTo>
                    <a:pt x="219" y="0"/>
                  </a:lnTo>
                  <a:lnTo>
                    <a:pt x="180" y="5"/>
                  </a:lnTo>
                  <a:lnTo>
                    <a:pt x="147" y="24"/>
                  </a:lnTo>
                  <a:lnTo>
                    <a:pt x="114" y="57"/>
                  </a:lnTo>
                  <a:lnTo>
                    <a:pt x="85" y="100"/>
                  </a:lnTo>
                  <a:lnTo>
                    <a:pt x="57" y="147"/>
                  </a:lnTo>
                  <a:lnTo>
                    <a:pt x="38" y="209"/>
                  </a:lnTo>
                  <a:lnTo>
                    <a:pt x="19" y="276"/>
                  </a:lnTo>
                  <a:lnTo>
                    <a:pt x="9" y="352"/>
                  </a:lnTo>
                  <a:lnTo>
                    <a:pt x="0" y="428"/>
                  </a:lnTo>
                  <a:lnTo>
                    <a:pt x="0" y="514"/>
                  </a:lnTo>
                  <a:lnTo>
                    <a:pt x="0" y="595"/>
                  </a:lnTo>
                  <a:lnTo>
                    <a:pt x="9" y="676"/>
                  </a:lnTo>
                  <a:lnTo>
                    <a:pt x="19" y="747"/>
                  </a:lnTo>
                  <a:lnTo>
                    <a:pt x="38" y="818"/>
                  </a:lnTo>
                  <a:lnTo>
                    <a:pt x="57" y="875"/>
                  </a:lnTo>
                  <a:lnTo>
                    <a:pt x="85" y="928"/>
                  </a:lnTo>
                  <a:lnTo>
                    <a:pt x="114" y="971"/>
                  </a:lnTo>
                  <a:lnTo>
                    <a:pt x="147" y="999"/>
                  </a:lnTo>
                  <a:lnTo>
                    <a:pt x="180" y="1018"/>
                  </a:lnTo>
                  <a:lnTo>
                    <a:pt x="219" y="1028"/>
                  </a:lnTo>
                  <a:lnTo>
                    <a:pt x="219" y="1028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93" name="Freeform 11557"/>
            <p:cNvSpPr>
              <a:spLocks/>
            </p:cNvSpPr>
            <p:nvPr/>
          </p:nvSpPr>
          <p:spPr bwMode="auto">
            <a:xfrm>
              <a:off x="4813" y="2113"/>
              <a:ext cx="238" cy="395"/>
            </a:xfrm>
            <a:custGeom>
              <a:avLst/>
              <a:gdLst>
                <a:gd name="T0" fmla="*/ 233 w 238"/>
                <a:gd name="T1" fmla="*/ 395 h 395"/>
                <a:gd name="T2" fmla="*/ 238 w 238"/>
                <a:gd name="T3" fmla="*/ 0 h 395"/>
                <a:gd name="T4" fmla="*/ 0 w 238"/>
                <a:gd name="T5" fmla="*/ 0 h 395"/>
                <a:gd name="T6" fmla="*/ 0 w 238"/>
                <a:gd name="T7" fmla="*/ 395 h 395"/>
                <a:gd name="T8" fmla="*/ 238 w 238"/>
                <a:gd name="T9" fmla="*/ 395 h 395"/>
                <a:gd name="T10" fmla="*/ 238 w 238"/>
                <a:gd name="T11" fmla="*/ 39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" h="395">
                  <a:moveTo>
                    <a:pt x="233" y="395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0" y="395"/>
                  </a:lnTo>
                  <a:lnTo>
                    <a:pt x="238" y="395"/>
                  </a:lnTo>
                  <a:lnTo>
                    <a:pt x="238" y="395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94" name="Freeform 11558"/>
            <p:cNvSpPr>
              <a:spLocks/>
            </p:cNvSpPr>
            <p:nvPr/>
          </p:nvSpPr>
          <p:spPr bwMode="auto">
            <a:xfrm>
              <a:off x="4813" y="1718"/>
              <a:ext cx="238" cy="395"/>
            </a:xfrm>
            <a:custGeom>
              <a:avLst/>
              <a:gdLst>
                <a:gd name="T0" fmla="*/ 233 w 238"/>
                <a:gd name="T1" fmla="*/ 390 h 395"/>
                <a:gd name="T2" fmla="*/ 238 w 238"/>
                <a:gd name="T3" fmla="*/ 0 h 395"/>
                <a:gd name="T4" fmla="*/ 0 w 238"/>
                <a:gd name="T5" fmla="*/ 0 h 395"/>
                <a:gd name="T6" fmla="*/ 0 w 238"/>
                <a:gd name="T7" fmla="*/ 395 h 395"/>
                <a:gd name="T8" fmla="*/ 238 w 238"/>
                <a:gd name="T9" fmla="*/ 395 h 395"/>
                <a:gd name="T10" fmla="*/ 238 w 238"/>
                <a:gd name="T11" fmla="*/ 39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" h="395">
                  <a:moveTo>
                    <a:pt x="233" y="390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0" y="395"/>
                  </a:lnTo>
                  <a:lnTo>
                    <a:pt x="238" y="395"/>
                  </a:lnTo>
                  <a:lnTo>
                    <a:pt x="238" y="395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95" name="Freeform 11559"/>
            <p:cNvSpPr>
              <a:spLocks/>
            </p:cNvSpPr>
            <p:nvPr/>
          </p:nvSpPr>
          <p:spPr bwMode="auto">
            <a:xfrm>
              <a:off x="7255" y="2113"/>
              <a:ext cx="238" cy="395"/>
            </a:xfrm>
            <a:custGeom>
              <a:avLst/>
              <a:gdLst>
                <a:gd name="T0" fmla="*/ 233 w 238"/>
                <a:gd name="T1" fmla="*/ 395 h 395"/>
                <a:gd name="T2" fmla="*/ 238 w 238"/>
                <a:gd name="T3" fmla="*/ 0 h 395"/>
                <a:gd name="T4" fmla="*/ 0 w 238"/>
                <a:gd name="T5" fmla="*/ 0 h 395"/>
                <a:gd name="T6" fmla="*/ 0 w 238"/>
                <a:gd name="T7" fmla="*/ 395 h 395"/>
                <a:gd name="T8" fmla="*/ 238 w 238"/>
                <a:gd name="T9" fmla="*/ 395 h 395"/>
                <a:gd name="T10" fmla="*/ 238 w 238"/>
                <a:gd name="T11" fmla="*/ 39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" h="395">
                  <a:moveTo>
                    <a:pt x="233" y="395"/>
                  </a:moveTo>
                  <a:lnTo>
                    <a:pt x="238" y="0"/>
                  </a:lnTo>
                  <a:lnTo>
                    <a:pt x="0" y="0"/>
                  </a:lnTo>
                  <a:lnTo>
                    <a:pt x="0" y="395"/>
                  </a:lnTo>
                  <a:lnTo>
                    <a:pt x="238" y="395"/>
                  </a:lnTo>
                  <a:lnTo>
                    <a:pt x="238" y="395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96" name="Freeform 11560"/>
            <p:cNvSpPr>
              <a:spLocks/>
            </p:cNvSpPr>
            <p:nvPr/>
          </p:nvSpPr>
          <p:spPr bwMode="auto">
            <a:xfrm>
              <a:off x="6529" y="2308"/>
              <a:ext cx="674" cy="371"/>
            </a:xfrm>
            <a:custGeom>
              <a:avLst/>
              <a:gdLst>
                <a:gd name="T0" fmla="*/ 353 w 353"/>
                <a:gd name="T1" fmla="*/ 371 h 371"/>
                <a:gd name="T2" fmla="*/ 143 w 353"/>
                <a:gd name="T3" fmla="*/ 371 h 371"/>
                <a:gd name="T4" fmla="*/ 143 w 353"/>
                <a:gd name="T5" fmla="*/ 0 h 371"/>
                <a:gd name="T6" fmla="*/ 0 w 353"/>
                <a:gd name="T7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3" h="371">
                  <a:moveTo>
                    <a:pt x="353" y="371"/>
                  </a:moveTo>
                  <a:lnTo>
                    <a:pt x="143" y="371"/>
                  </a:lnTo>
                  <a:lnTo>
                    <a:pt x="143" y="0"/>
                  </a:lnTo>
                  <a:lnTo>
                    <a:pt x="0" y="0"/>
                  </a:lnTo>
                </a:path>
              </a:pathLst>
            </a:cu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cxnSp>
          <p:nvCxnSpPr>
            <p:cNvPr id="597" name="Line 11561"/>
            <p:cNvCxnSpPr/>
            <p:nvPr/>
          </p:nvCxnSpPr>
          <p:spPr bwMode="auto">
            <a:xfrm flipH="1">
              <a:off x="5051" y="2308"/>
              <a:ext cx="1528" cy="1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98" name="Freeform 11562"/>
            <p:cNvSpPr>
              <a:spLocks/>
            </p:cNvSpPr>
            <p:nvPr/>
          </p:nvSpPr>
          <p:spPr bwMode="auto">
            <a:xfrm>
              <a:off x="6455" y="1884"/>
              <a:ext cx="752" cy="424"/>
            </a:xfrm>
            <a:custGeom>
              <a:avLst/>
              <a:gdLst>
                <a:gd name="T0" fmla="*/ 0 w 752"/>
                <a:gd name="T1" fmla="*/ 0 h 528"/>
                <a:gd name="T2" fmla="*/ 624 w 752"/>
                <a:gd name="T3" fmla="*/ 0 h 528"/>
                <a:gd name="T4" fmla="*/ 624 w 752"/>
                <a:gd name="T5" fmla="*/ 528 h 528"/>
                <a:gd name="T6" fmla="*/ 752 w 752"/>
                <a:gd name="T7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2" h="528">
                  <a:moveTo>
                    <a:pt x="0" y="0"/>
                  </a:moveTo>
                  <a:lnTo>
                    <a:pt x="624" y="0"/>
                  </a:lnTo>
                  <a:lnTo>
                    <a:pt x="624" y="528"/>
                  </a:lnTo>
                  <a:lnTo>
                    <a:pt x="752" y="528"/>
                  </a:lnTo>
                </a:path>
              </a:pathLst>
            </a:cu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599" name="Freeform 11563"/>
            <p:cNvSpPr>
              <a:spLocks/>
            </p:cNvSpPr>
            <p:nvPr/>
          </p:nvSpPr>
          <p:spPr bwMode="auto">
            <a:xfrm>
              <a:off x="7493" y="2308"/>
              <a:ext cx="1466" cy="400"/>
            </a:xfrm>
            <a:custGeom>
              <a:avLst/>
              <a:gdLst>
                <a:gd name="T0" fmla="*/ 1466 w 1466"/>
                <a:gd name="T1" fmla="*/ 395 h 400"/>
                <a:gd name="T2" fmla="*/ 1342 w 1466"/>
                <a:gd name="T3" fmla="*/ 400 h 400"/>
                <a:gd name="T4" fmla="*/ 1342 w 1466"/>
                <a:gd name="T5" fmla="*/ 0 h 400"/>
                <a:gd name="T6" fmla="*/ 0 w 1466"/>
                <a:gd name="T7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66" h="400">
                  <a:moveTo>
                    <a:pt x="1466" y="395"/>
                  </a:moveTo>
                  <a:lnTo>
                    <a:pt x="1342" y="400"/>
                  </a:lnTo>
                  <a:lnTo>
                    <a:pt x="1342" y="0"/>
                  </a:lnTo>
                  <a:lnTo>
                    <a:pt x="0" y="0"/>
                  </a:lnTo>
                </a:path>
              </a:pathLst>
            </a:custGeom>
            <a:noFill/>
            <a:ln w="2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00" name="Freeform 11564"/>
            <p:cNvSpPr>
              <a:spLocks/>
            </p:cNvSpPr>
            <p:nvPr/>
          </p:nvSpPr>
          <p:spPr bwMode="auto">
            <a:xfrm>
              <a:off x="2480" y="1023"/>
              <a:ext cx="881" cy="528"/>
            </a:xfrm>
            <a:custGeom>
              <a:avLst/>
              <a:gdLst>
                <a:gd name="T0" fmla="*/ 700 w 881"/>
                <a:gd name="T1" fmla="*/ 524 h 528"/>
                <a:gd name="T2" fmla="*/ 733 w 881"/>
                <a:gd name="T3" fmla="*/ 524 h 528"/>
                <a:gd name="T4" fmla="*/ 757 w 881"/>
                <a:gd name="T5" fmla="*/ 519 h 528"/>
                <a:gd name="T6" fmla="*/ 786 w 881"/>
                <a:gd name="T7" fmla="*/ 505 h 528"/>
                <a:gd name="T8" fmla="*/ 805 w 881"/>
                <a:gd name="T9" fmla="*/ 490 h 528"/>
                <a:gd name="T10" fmla="*/ 829 w 881"/>
                <a:gd name="T11" fmla="*/ 476 h 528"/>
                <a:gd name="T12" fmla="*/ 843 w 881"/>
                <a:gd name="T13" fmla="*/ 452 h 528"/>
                <a:gd name="T14" fmla="*/ 857 w 881"/>
                <a:gd name="T15" fmla="*/ 433 h 528"/>
                <a:gd name="T16" fmla="*/ 871 w 881"/>
                <a:gd name="T17" fmla="*/ 405 h 528"/>
                <a:gd name="T18" fmla="*/ 876 w 881"/>
                <a:gd name="T19" fmla="*/ 381 h 528"/>
                <a:gd name="T20" fmla="*/ 881 w 881"/>
                <a:gd name="T21" fmla="*/ 352 h 528"/>
                <a:gd name="T22" fmla="*/ 881 w 881"/>
                <a:gd name="T23" fmla="*/ 176 h 528"/>
                <a:gd name="T24" fmla="*/ 876 w 881"/>
                <a:gd name="T25" fmla="*/ 148 h 528"/>
                <a:gd name="T26" fmla="*/ 871 w 881"/>
                <a:gd name="T27" fmla="*/ 119 h 528"/>
                <a:gd name="T28" fmla="*/ 857 w 881"/>
                <a:gd name="T29" fmla="*/ 95 h 528"/>
                <a:gd name="T30" fmla="*/ 843 w 881"/>
                <a:gd name="T31" fmla="*/ 72 h 528"/>
                <a:gd name="T32" fmla="*/ 829 w 881"/>
                <a:gd name="T33" fmla="*/ 48 h 528"/>
                <a:gd name="T34" fmla="*/ 805 w 881"/>
                <a:gd name="T35" fmla="*/ 33 h 528"/>
                <a:gd name="T36" fmla="*/ 786 w 881"/>
                <a:gd name="T37" fmla="*/ 19 h 528"/>
                <a:gd name="T38" fmla="*/ 757 w 881"/>
                <a:gd name="T39" fmla="*/ 10 h 528"/>
                <a:gd name="T40" fmla="*/ 733 w 881"/>
                <a:gd name="T41" fmla="*/ 0 h 528"/>
                <a:gd name="T42" fmla="*/ 705 w 881"/>
                <a:gd name="T43" fmla="*/ 0 h 528"/>
                <a:gd name="T44" fmla="*/ 176 w 881"/>
                <a:gd name="T45" fmla="*/ 0 h 528"/>
                <a:gd name="T46" fmla="*/ 148 w 881"/>
                <a:gd name="T47" fmla="*/ 0 h 528"/>
                <a:gd name="T48" fmla="*/ 119 w 881"/>
                <a:gd name="T49" fmla="*/ 10 h 528"/>
                <a:gd name="T50" fmla="*/ 95 w 881"/>
                <a:gd name="T51" fmla="*/ 19 h 528"/>
                <a:gd name="T52" fmla="*/ 72 w 881"/>
                <a:gd name="T53" fmla="*/ 33 h 528"/>
                <a:gd name="T54" fmla="*/ 48 w 881"/>
                <a:gd name="T55" fmla="*/ 48 h 528"/>
                <a:gd name="T56" fmla="*/ 34 w 881"/>
                <a:gd name="T57" fmla="*/ 72 h 528"/>
                <a:gd name="T58" fmla="*/ 19 w 881"/>
                <a:gd name="T59" fmla="*/ 95 h 528"/>
                <a:gd name="T60" fmla="*/ 10 w 881"/>
                <a:gd name="T61" fmla="*/ 119 h 528"/>
                <a:gd name="T62" fmla="*/ 0 w 881"/>
                <a:gd name="T63" fmla="*/ 148 h 528"/>
                <a:gd name="T64" fmla="*/ 0 w 881"/>
                <a:gd name="T65" fmla="*/ 176 h 528"/>
                <a:gd name="T66" fmla="*/ 0 w 881"/>
                <a:gd name="T67" fmla="*/ 352 h 528"/>
                <a:gd name="T68" fmla="*/ 0 w 881"/>
                <a:gd name="T69" fmla="*/ 381 h 528"/>
                <a:gd name="T70" fmla="*/ 10 w 881"/>
                <a:gd name="T71" fmla="*/ 405 h 528"/>
                <a:gd name="T72" fmla="*/ 19 w 881"/>
                <a:gd name="T73" fmla="*/ 433 h 528"/>
                <a:gd name="T74" fmla="*/ 34 w 881"/>
                <a:gd name="T75" fmla="*/ 452 h 528"/>
                <a:gd name="T76" fmla="*/ 48 w 881"/>
                <a:gd name="T77" fmla="*/ 476 h 528"/>
                <a:gd name="T78" fmla="*/ 72 w 881"/>
                <a:gd name="T79" fmla="*/ 490 h 528"/>
                <a:gd name="T80" fmla="*/ 95 w 881"/>
                <a:gd name="T81" fmla="*/ 505 h 528"/>
                <a:gd name="T82" fmla="*/ 119 w 881"/>
                <a:gd name="T83" fmla="*/ 519 h 528"/>
                <a:gd name="T84" fmla="*/ 148 w 881"/>
                <a:gd name="T85" fmla="*/ 524 h 528"/>
                <a:gd name="T86" fmla="*/ 176 w 881"/>
                <a:gd name="T87" fmla="*/ 528 h 528"/>
                <a:gd name="T88" fmla="*/ 705 w 881"/>
                <a:gd name="T89" fmla="*/ 528 h 528"/>
                <a:gd name="T90" fmla="*/ 705 w 881"/>
                <a:gd name="T91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81" h="528">
                  <a:moveTo>
                    <a:pt x="700" y="524"/>
                  </a:moveTo>
                  <a:lnTo>
                    <a:pt x="733" y="524"/>
                  </a:lnTo>
                  <a:lnTo>
                    <a:pt x="757" y="519"/>
                  </a:lnTo>
                  <a:lnTo>
                    <a:pt x="786" y="505"/>
                  </a:lnTo>
                  <a:lnTo>
                    <a:pt x="805" y="490"/>
                  </a:lnTo>
                  <a:lnTo>
                    <a:pt x="829" y="476"/>
                  </a:lnTo>
                  <a:lnTo>
                    <a:pt x="843" y="452"/>
                  </a:lnTo>
                  <a:lnTo>
                    <a:pt x="857" y="433"/>
                  </a:lnTo>
                  <a:lnTo>
                    <a:pt x="871" y="405"/>
                  </a:lnTo>
                  <a:lnTo>
                    <a:pt x="876" y="381"/>
                  </a:lnTo>
                  <a:lnTo>
                    <a:pt x="881" y="352"/>
                  </a:lnTo>
                  <a:lnTo>
                    <a:pt x="881" y="176"/>
                  </a:lnTo>
                  <a:lnTo>
                    <a:pt x="876" y="148"/>
                  </a:lnTo>
                  <a:lnTo>
                    <a:pt x="871" y="119"/>
                  </a:lnTo>
                  <a:lnTo>
                    <a:pt x="857" y="95"/>
                  </a:lnTo>
                  <a:lnTo>
                    <a:pt x="843" y="72"/>
                  </a:lnTo>
                  <a:lnTo>
                    <a:pt x="829" y="48"/>
                  </a:lnTo>
                  <a:lnTo>
                    <a:pt x="805" y="33"/>
                  </a:lnTo>
                  <a:lnTo>
                    <a:pt x="786" y="19"/>
                  </a:lnTo>
                  <a:lnTo>
                    <a:pt x="757" y="10"/>
                  </a:lnTo>
                  <a:lnTo>
                    <a:pt x="733" y="0"/>
                  </a:lnTo>
                  <a:lnTo>
                    <a:pt x="705" y="0"/>
                  </a:lnTo>
                  <a:lnTo>
                    <a:pt x="176" y="0"/>
                  </a:lnTo>
                  <a:lnTo>
                    <a:pt x="148" y="0"/>
                  </a:lnTo>
                  <a:lnTo>
                    <a:pt x="119" y="10"/>
                  </a:lnTo>
                  <a:lnTo>
                    <a:pt x="95" y="19"/>
                  </a:lnTo>
                  <a:lnTo>
                    <a:pt x="72" y="33"/>
                  </a:lnTo>
                  <a:lnTo>
                    <a:pt x="48" y="48"/>
                  </a:lnTo>
                  <a:lnTo>
                    <a:pt x="34" y="72"/>
                  </a:lnTo>
                  <a:lnTo>
                    <a:pt x="19" y="95"/>
                  </a:lnTo>
                  <a:lnTo>
                    <a:pt x="10" y="119"/>
                  </a:lnTo>
                  <a:lnTo>
                    <a:pt x="0" y="148"/>
                  </a:lnTo>
                  <a:lnTo>
                    <a:pt x="0" y="176"/>
                  </a:lnTo>
                  <a:lnTo>
                    <a:pt x="0" y="352"/>
                  </a:lnTo>
                  <a:lnTo>
                    <a:pt x="0" y="381"/>
                  </a:lnTo>
                  <a:lnTo>
                    <a:pt x="10" y="405"/>
                  </a:lnTo>
                  <a:lnTo>
                    <a:pt x="19" y="433"/>
                  </a:lnTo>
                  <a:lnTo>
                    <a:pt x="34" y="452"/>
                  </a:lnTo>
                  <a:lnTo>
                    <a:pt x="48" y="476"/>
                  </a:lnTo>
                  <a:lnTo>
                    <a:pt x="72" y="490"/>
                  </a:lnTo>
                  <a:lnTo>
                    <a:pt x="95" y="505"/>
                  </a:lnTo>
                  <a:lnTo>
                    <a:pt x="119" y="519"/>
                  </a:lnTo>
                  <a:lnTo>
                    <a:pt x="148" y="524"/>
                  </a:lnTo>
                  <a:lnTo>
                    <a:pt x="176" y="528"/>
                  </a:lnTo>
                  <a:lnTo>
                    <a:pt x="705" y="528"/>
                  </a:lnTo>
                  <a:lnTo>
                    <a:pt x="705" y="528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01" name="Freeform 11565"/>
            <p:cNvSpPr>
              <a:spLocks/>
            </p:cNvSpPr>
            <p:nvPr/>
          </p:nvSpPr>
          <p:spPr bwMode="auto">
            <a:xfrm>
              <a:off x="3409" y="1190"/>
              <a:ext cx="1770" cy="1128"/>
            </a:xfrm>
            <a:custGeom>
              <a:avLst/>
              <a:gdLst>
                <a:gd name="T0" fmla="*/ 1770 w 1770"/>
                <a:gd name="T1" fmla="*/ 1128 h 1128"/>
                <a:gd name="T2" fmla="*/ 1770 w 1770"/>
                <a:gd name="T3" fmla="*/ 0 h 1128"/>
                <a:gd name="T4" fmla="*/ 0 w 1770"/>
                <a:gd name="T5" fmla="*/ 0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70" h="1128">
                  <a:moveTo>
                    <a:pt x="1770" y="1128"/>
                  </a:moveTo>
                  <a:lnTo>
                    <a:pt x="1770" y="0"/>
                  </a:lnTo>
                  <a:lnTo>
                    <a:pt x="0" y="0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02" name="Freeform 11566"/>
            <p:cNvSpPr>
              <a:spLocks/>
            </p:cNvSpPr>
            <p:nvPr/>
          </p:nvSpPr>
          <p:spPr bwMode="auto">
            <a:xfrm>
              <a:off x="4275" y="1989"/>
              <a:ext cx="219" cy="657"/>
            </a:xfrm>
            <a:custGeom>
              <a:avLst/>
              <a:gdLst>
                <a:gd name="T0" fmla="*/ 0 w 219"/>
                <a:gd name="T1" fmla="*/ 105 h 657"/>
                <a:gd name="T2" fmla="*/ 0 w 219"/>
                <a:gd name="T3" fmla="*/ 91 h 657"/>
                <a:gd name="T4" fmla="*/ 5 w 219"/>
                <a:gd name="T5" fmla="*/ 72 h 657"/>
                <a:gd name="T6" fmla="*/ 14 w 219"/>
                <a:gd name="T7" fmla="*/ 57 h 657"/>
                <a:gd name="T8" fmla="*/ 24 w 219"/>
                <a:gd name="T9" fmla="*/ 43 h 657"/>
                <a:gd name="T10" fmla="*/ 33 w 219"/>
                <a:gd name="T11" fmla="*/ 29 h 657"/>
                <a:gd name="T12" fmla="*/ 48 w 219"/>
                <a:gd name="T13" fmla="*/ 19 h 657"/>
                <a:gd name="T14" fmla="*/ 62 w 219"/>
                <a:gd name="T15" fmla="*/ 10 h 657"/>
                <a:gd name="T16" fmla="*/ 76 w 219"/>
                <a:gd name="T17" fmla="*/ 5 h 657"/>
                <a:gd name="T18" fmla="*/ 90 w 219"/>
                <a:gd name="T19" fmla="*/ 0 h 657"/>
                <a:gd name="T20" fmla="*/ 109 w 219"/>
                <a:gd name="T21" fmla="*/ 0 h 657"/>
                <a:gd name="T22" fmla="*/ 128 w 219"/>
                <a:gd name="T23" fmla="*/ 0 h 657"/>
                <a:gd name="T24" fmla="*/ 143 w 219"/>
                <a:gd name="T25" fmla="*/ 5 h 657"/>
                <a:gd name="T26" fmla="*/ 162 w 219"/>
                <a:gd name="T27" fmla="*/ 10 h 657"/>
                <a:gd name="T28" fmla="*/ 176 w 219"/>
                <a:gd name="T29" fmla="*/ 19 h 657"/>
                <a:gd name="T30" fmla="*/ 186 w 219"/>
                <a:gd name="T31" fmla="*/ 29 h 657"/>
                <a:gd name="T32" fmla="*/ 200 w 219"/>
                <a:gd name="T33" fmla="*/ 43 h 657"/>
                <a:gd name="T34" fmla="*/ 209 w 219"/>
                <a:gd name="T35" fmla="*/ 57 h 657"/>
                <a:gd name="T36" fmla="*/ 214 w 219"/>
                <a:gd name="T37" fmla="*/ 72 h 657"/>
                <a:gd name="T38" fmla="*/ 219 w 219"/>
                <a:gd name="T39" fmla="*/ 91 h 657"/>
                <a:gd name="T40" fmla="*/ 219 w 219"/>
                <a:gd name="T41" fmla="*/ 110 h 657"/>
                <a:gd name="T42" fmla="*/ 219 w 219"/>
                <a:gd name="T43" fmla="*/ 547 h 657"/>
                <a:gd name="T44" fmla="*/ 219 w 219"/>
                <a:gd name="T45" fmla="*/ 566 h 657"/>
                <a:gd name="T46" fmla="*/ 214 w 219"/>
                <a:gd name="T47" fmla="*/ 581 h 657"/>
                <a:gd name="T48" fmla="*/ 209 w 219"/>
                <a:gd name="T49" fmla="*/ 595 h 657"/>
                <a:gd name="T50" fmla="*/ 200 w 219"/>
                <a:gd name="T51" fmla="*/ 609 h 657"/>
                <a:gd name="T52" fmla="*/ 186 w 219"/>
                <a:gd name="T53" fmla="*/ 624 h 657"/>
                <a:gd name="T54" fmla="*/ 176 w 219"/>
                <a:gd name="T55" fmla="*/ 633 h 657"/>
                <a:gd name="T56" fmla="*/ 162 w 219"/>
                <a:gd name="T57" fmla="*/ 643 h 657"/>
                <a:gd name="T58" fmla="*/ 143 w 219"/>
                <a:gd name="T59" fmla="*/ 652 h 657"/>
                <a:gd name="T60" fmla="*/ 128 w 219"/>
                <a:gd name="T61" fmla="*/ 657 h 657"/>
                <a:gd name="T62" fmla="*/ 109 w 219"/>
                <a:gd name="T63" fmla="*/ 657 h 657"/>
                <a:gd name="T64" fmla="*/ 90 w 219"/>
                <a:gd name="T65" fmla="*/ 657 h 657"/>
                <a:gd name="T66" fmla="*/ 76 w 219"/>
                <a:gd name="T67" fmla="*/ 652 h 657"/>
                <a:gd name="T68" fmla="*/ 62 w 219"/>
                <a:gd name="T69" fmla="*/ 643 h 657"/>
                <a:gd name="T70" fmla="*/ 48 w 219"/>
                <a:gd name="T71" fmla="*/ 633 h 657"/>
                <a:gd name="T72" fmla="*/ 33 w 219"/>
                <a:gd name="T73" fmla="*/ 624 h 657"/>
                <a:gd name="T74" fmla="*/ 24 w 219"/>
                <a:gd name="T75" fmla="*/ 609 h 657"/>
                <a:gd name="T76" fmla="*/ 14 w 219"/>
                <a:gd name="T77" fmla="*/ 595 h 657"/>
                <a:gd name="T78" fmla="*/ 5 w 219"/>
                <a:gd name="T79" fmla="*/ 581 h 657"/>
                <a:gd name="T80" fmla="*/ 0 w 219"/>
                <a:gd name="T81" fmla="*/ 566 h 657"/>
                <a:gd name="T82" fmla="*/ 0 w 219"/>
                <a:gd name="T83" fmla="*/ 547 h 657"/>
                <a:gd name="T84" fmla="*/ 0 w 219"/>
                <a:gd name="T85" fmla="*/ 110 h 657"/>
                <a:gd name="T86" fmla="*/ 0 w 219"/>
                <a:gd name="T87" fmla="*/ 11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9" h="657">
                  <a:moveTo>
                    <a:pt x="0" y="105"/>
                  </a:moveTo>
                  <a:lnTo>
                    <a:pt x="0" y="91"/>
                  </a:lnTo>
                  <a:lnTo>
                    <a:pt x="5" y="72"/>
                  </a:lnTo>
                  <a:lnTo>
                    <a:pt x="14" y="57"/>
                  </a:lnTo>
                  <a:lnTo>
                    <a:pt x="24" y="43"/>
                  </a:lnTo>
                  <a:lnTo>
                    <a:pt x="33" y="29"/>
                  </a:lnTo>
                  <a:lnTo>
                    <a:pt x="48" y="19"/>
                  </a:lnTo>
                  <a:lnTo>
                    <a:pt x="62" y="10"/>
                  </a:lnTo>
                  <a:lnTo>
                    <a:pt x="76" y="5"/>
                  </a:lnTo>
                  <a:lnTo>
                    <a:pt x="90" y="0"/>
                  </a:lnTo>
                  <a:lnTo>
                    <a:pt x="109" y="0"/>
                  </a:lnTo>
                  <a:lnTo>
                    <a:pt x="128" y="0"/>
                  </a:lnTo>
                  <a:lnTo>
                    <a:pt x="143" y="5"/>
                  </a:lnTo>
                  <a:lnTo>
                    <a:pt x="162" y="10"/>
                  </a:lnTo>
                  <a:lnTo>
                    <a:pt x="176" y="19"/>
                  </a:lnTo>
                  <a:lnTo>
                    <a:pt x="186" y="29"/>
                  </a:lnTo>
                  <a:lnTo>
                    <a:pt x="200" y="43"/>
                  </a:lnTo>
                  <a:lnTo>
                    <a:pt x="209" y="57"/>
                  </a:lnTo>
                  <a:lnTo>
                    <a:pt x="214" y="72"/>
                  </a:lnTo>
                  <a:lnTo>
                    <a:pt x="219" y="91"/>
                  </a:lnTo>
                  <a:lnTo>
                    <a:pt x="219" y="110"/>
                  </a:lnTo>
                  <a:lnTo>
                    <a:pt x="219" y="547"/>
                  </a:lnTo>
                  <a:lnTo>
                    <a:pt x="219" y="566"/>
                  </a:lnTo>
                  <a:lnTo>
                    <a:pt x="214" y="581"/>
                  </a:lnTo>
                  <a:lnTo>
                    <a:pt x="209" y="595"/>
                  </a:lnTo>
                  <a:lnTo>
                    <a:pt x="200" y="609"/>
                  </a:lnTo>
                  <a:lnTo>
                    <a:pt x="186" y="624"/>
                  </a:lnTo>
                  <a:lnTo>
                    <a:pt x="176" y="633"/>
                  </a:lnTo>
                  <a:lnTo>
                    <a:pt x="162" y="643"/>
                  </a:lnTo>
                  <a:lnTo>
                    <a:pt x="143" y="652"/>
                  </a:lnTo>
                  <a:lnTo>
                    <a:pt x="128" y="657"/>
                  </a:lnTo>
                  <a:lnTo>
                    <a:pt x="109" y="657"/>
                  </a:lnTo>
                  <a:lnTo>
                    <a:pt x="90" y="657"/>
                  </a:lnTo>
                  <a:lnTo>
                    <a:pt x="76" y="652"/>
                  </a:lnTo>
                  <a:lnTo>
                    <a:pt x="62" y="643"/>
                  </a:lnTo>
                  <a:lnTo>
                    <a:pt x="48" y="633"/>
                  </a:lnTo>
                  <a:lnTo>
                    <a:pt x="33" y="624"/>
                  </a:lnTo>
                  <a:lnTo>
                    <a:pt x="24" y="609"/>
                  </a:lnTo>
                  <a:lnTo>
                    <a:pt x="14" y="595"/>
                  </a:lnTo>
                  <a:lnTo>
                    <a:pt x="5" y="581"/>
                  </a:lnTo>
                  <a:lnTo>
                    <a:pt x="0" y="566"/>
                  </a:lnTo>
                  <a:lnTo>
                    <a:pt x="0" y="547"/>
                  </a:lnTo>
                  <a:lnTo>
                    <a:pt x="0" y="110"/>
                  </a:lnTo>
                  <a:lnTo>
                    <a:pt x="0" y="110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cxnSp>
          <p:nvCxnSpPr>
            <p:cNvPr id="603" name="Line 11567"/>
            <p:cNvCxnSpPr/>
            <p:nvPr/>
          </p:nvCxnSpPr>
          <p:spPr bwMode="auto">
            <a:xfrm flipH="1">
              <a:off x="4099" y="2532"/>
              <a:ext cx="133" cy="4"/>
            </a:xfrm>
            <a:prstGeom prst="line">
              <a:avLst/>
            </a:prstGeom>
            <a:noFill/>
            <a:ln w="1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04" name="Freeform 11568"/>
            <p:cNvSpPr>
              <a:spLocks/>
            </p:cNvSpPr>
            <p:nvPr/>
          </p:nvSpPr>
          <p:spPr bwMode="auto">
            <a:xfrm>
              <a:off x="3351" y="1280"/>
              <a:ext cx="1034" cy="638"/>
            </a:xfrm>
            <a:custGeom>
              <a:avLst/>
              <a:gdLst>
                <a:gd name="T0" fmla="*/ 933 w 938"/>
                <a:gd name="T1" fmla="*/ 95 h 95"/>
                <a:gd name="T2" fmla="*/ 938 w 938"/>
                <a:gd name="T3" fmla="*/ 0 h 95"/>
                <a:gd name="T4" fmla="*/ 0 w 938"/>
                <a:gd name="T5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8" h="95">
                  <a:moveTo>
                    <a:pt x="933" y="95"/>
                  </a:moveTo>
                  <a:lnTo>
                    <a:pt x="938" y="0"/>
                  </a:lnTo>
                  <a:lnTo>
                    <a:pt x="0" y="0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05" name="Freeform 11569"/>
            <p:cNvSpPr>
              <a:spLocks/>
            </p:cNvSpPr>
            <p:nvPr/>
          </p:nvSpPr>
          <p:spPr bwMode="auto">
            <a:xfrm>
              <a:off x="6731" y="4683"/>
              <a:ext cx="400" cy="537"/>
            </a:xfrm>
            <a:custGeom>
              <a:avLst/>
              <a:gdLst>
                <a:gd name="T0" fmla="*/ 200 w 400"/>
                <a:gd name="T1" fmla="*/ 533 h 537"/>
                <a:gd name="T2" fmla="*/ 172 w 400"/>
                <a:gd name="T3" fmla="*/ 533 h 537"/>
                <a:gd name="T4" fmla="*/ 138 w 400"/>
                <a:gd name="T5" fmla="*/ 523 h 537"/>
                <a:gd name="T6" fmla="*/ 110 w 400"/>
                <a:gd name="T7" fmla="*/ 504 h 537"/>
                <a:gd name="T8" fmla="*/ 86 w 400"/>
                <a:gd name="T9" fmla="*/ 480 h 537"/>
                <a:gd name="T10" fmla="*/ 62 w 400"/>
                <a:gd name="T11" fmla="*/ 456 h 537"/>
                <a:gd name="T12" fmla="*/ 38 w 400"/>
                <a:gd name="T13" fmla="*/ 423 h 537"/>
                <a:gd name="T14" fmla="*/ 24 w 400"/>
                <a:gd name="T15" fmla="*/ 390 h 537"/>
                <a:gd name="T16" fmla="*/ 10 w 400"/>
                <a:gd name="T17" fmla="*/ 352 h 537"/>
                <a:gd name="T18" fmla="*/ 0 w 400"/>
                <a:gd name="T19" fmla="*/ 309 h 537"/>
                <a:gd name="T20" fmla="*/ 0 w 400"/>
                <a:gd name="T21" fmla="*/ 271 h 537"/>
                <a:gd name="T22" fmla="*/ 0 w 400"/>
                <a:gd name="T23" fmla="*/ 228 h 537"/>
                <a:gd name="T24" fmla="*/ 10 w 400"/>
                <a:gd name="T25" fmla="*/ 185 h 537"/>
                <a:gd name="T26" fmla="*/ 24 w 400"/>
                <a:gd name="T27" fmla="*/ 152 h 537"/>
                <a:gd name="T28" fmla="*/ 38 w 400"/>
                <a:gd name="T29" fmla="*/ 114 h 537"/>
                <a:gd name="T30" fmla="*/ 62 w 400"/>
                <a:gd name="T31" fmla="*/ 81 h 537"/>
                <a:gd name="T32" fmla="*/ 86 w 400"/>
                <a:gd name="T33" fmla="*/ 57 h 537"/>
                <a:gd name="T34" fmla="*/ 110 w 400"/>
                <a:gd name="T35" fmla="*/ 33 h 537"/>
                <a:gd name="T36" fmla="*/ 138 w 400"/>
                <a:gd name="T37" fmla="*/ 14 h 537"/>
                <a:gd name="T38" fmla="*/ 172 w 400"/>
                <a:gd name="T39" fmla="*/ 4 h 537"/>
                <a:gd name="T40" fmla="*/ 200 w 400"/>
                <a:gd name="T41" fmla="*/ 0 h 537"/>
                <a:gd name="T42" fmla="*/ 229 w 400"/>
                <a:gd name="T43" fmla="*/ 4 h 537"/>
                <a:gd name="T44" fmla="*/ 262 w 400"/>
                <a:gd name="T45" fmla="*/ 14 h 537"/>
                <a:gd name="T46" fmla="*/ 291 w 400"/>
                <a:gd name="T47" fmla="*/ 33 h 537"/>
                <a:gd name="T48" fmla="*/ 315 w 400"/>
                <a:gd name="T49" fmla="*/ 57 h 537"/>
                <a:gd name="T50" fmla="*/ 338 w 400"/>
                <a:gd name="T51" fmla="*/ 81 h 537"/>
                <a:gd name="T52" fmla="*/ 362 w 400"/>
                <a:gd name="T53" fmla="*/ 114 h 537"/>
                <a:gd name="T54" fmla="*/ 376 w 400"/>
                <a:gd name="T55" fmla="*/ 152 h 537"/>
                <a:gd name="T56" fmla="*/ 391 w 400"/>
                <a:gd name="T57" fmla="*/ 185 h 537"/>
                <a:gd name="T58" fmla="*/ 400 w 400"/>
                <a:gd name="T59" fmla="*/ 228 h 537"/>
                <a:gd name="T60" fmla="*/ 400 w 400"/>
                <a:gd name="T61" fmla="*/ 271 h 537"/>
                <a:gd name="T62" fmla="*/ 400 w 400"/>
                <a:gd name="T63" fmla="*/ 309 h 537"/>
                <a:gd name="T64" fmla="*/ 391 w 400"/>
                <a:gd name="T65" fmla="*/ 352 h 537"/>
                <a:gd name="T66" fmla="*/ 376 w 400"/>
                <a:gd name="T67" fmla="*/ 390 h 537"/>
                <a:gd name="T68" fmla="*/ 362 w 400"/>
                <a:gd name="T69" fmla="*/ 423 h 537"/>
                <a:gd name="T70" fmla="*/ 338 w 400"/>
                <a:gd name="T71" fmla="*/ 456 h 537"/>
                <a:gd name="T72" fmla="*/ 315 w 400"/>
                <a:gd name="T73" fmla="*/ 480 h 537"/>
                <a:gd name="T74" fmla="*/ 291 w 400"/>
                <a:gd name="T75" fmla="*/ 504 h 537"/>
                <a:gd name="T76" fmla="*/ 262 w 400"/>
                <a:gd name="T77" fmla="*/ 523 h 537"/>
                <a:gd name="T78" fmla="*/ 229 w 400"/>
                <a:gd name="T79" fmla="*/ 533 h 537"/>
                <a:gd name="T80" fmla="*/ 200 w 400"/>
                <a:gd name="T81" fmla="*/ 537 h 537"/>
                <a:gd name="T82" fmla="*/ 200 w 400"/>
                <a:gd name="T83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00" h="537">
                  <a:moveTo>
                    <a:pt x="200" y="533"/>
                  </a:moveTo>
                  <a:lnTo>
                    <a:pt x="172" y="533"/>
                  </a:lnTo>
                  <a:lnTo>
                    <a:pt x="138" y="523"/>
                  </a:lnTo>
                  <a:lnTo>
                    <a:pt x="110" y="504"/>
                  </a:lnTo>
                  <a:lnTo>
                    <a:pt x="86" y="480"/>
                  </a:lnTo>
                  <a:lnTo>
                    <a:pt x="62" y="456"/>
                  </a:lnTo>
                  <a:lnTo>
                    <a:pt x="38" y="423"/>
                  </a:lnTo>
                  <a:lnTo>
                    <a:pt x="24" y="390"/>
                  </a:lnTo>
                  <a:lnTo>
                    <a:pt x="10" y="352"/>
                  </a:lnTo>
                  <a:lnTo>
                    <a:pt x="0" y="309"/>
                  </a:lnTo>
                  <a:lnTo>
                    <a:pt x="0" y="271"/>
                  </a:lnTo>
                  <a:lnTo>
                    <a:pt x="0" y="228"/>
                  </a:lnTo>
                  <a:lnTo>
                    <a:pt x="10" y="185"/>
                  </a:lnTo>
                  <a:lnTo>
                    <a:pt x="24" y="152"/>
                  </a:lnTo>
                  <a:lnTo>
                    <a:pt x="38" y="114"/>
                  </a:lnTo>
                  <a:lnTo>
                    <a:pt x="62" y="81"/>
                  </a:lnTo>
                  <a:lnTo>
                    <a:pt x="86" y="57"/>
                  </a:lnTo>
                  <a:lnTo>
                    <a:pt x="110" y="33"/>
                  </a:lnTo>
                  <a:lnTo>
                    <a:pt x="138" y="14"/>
                  </a:lnTo>
                  <a:lnTo>
                    <a:pt x="172" y="4"/>
                  </a:lnTo>
                  <a:lnTo>
                    <a:pt x="200" y="0"/>
                  </a:lnTo>
                  <a:lnTo>
                    <a:pt x="229" y="4"/>
                  </a:lnTo>
                  <a:lnTo>
                    <a:pt x="262" y="14"/>
                  </a:lnTo>
                  <a:lnTo>
                    <a:pt x="291" y="33"/>
                  </a:lnTo>
                  <a:lnTo>
                    <a:pt x="315" y="57"/>
                  </a:lnTo>
                  <a:lnTo>
                    <a:pt x="338" y="81"/>
                  </a:lnTo>
                  <a:lnTo>
                    <a:pt x="362" y="114"/>
                  </a:lnTo>
                  <a:lnTo>
                    <a:pt x="376" y="152"/>
                  </a:lnTo>
                  <a:lnTo>
                    <a:pt x="391" y="185"/>
                  </a:lnTo>
                  <a:lnTo>
                    <a:pt x="400" y="228"/>
                  </a:lnTo>
                  <a:lnTo>
                    <a:pt x="400" y="271"/>
                  </a:lnTo>
                  <a:lnTo>
                    <a:pt x="400" y="309"/>
                  </a:lnTo>
                  <a:lnTo>
                    <a:pt x="391" y="352"/>
                  </a:lnTo>
                  <a:lnTo>
                    <a:pt x="376" y="390"/>
                  </a:lnTo>
                  <a:lnTo>
                    <a:pt x="362" y="423"/>
                  </a:lnTo>
                  <a:lnTo>
                    <a:pt x="338" y="456"/>
                  </a:lnTo>
                  <a:lnTo>
                    <a:pt x="315" y="480"/>
                  </a:lnTo>
                  <a:lnTo>
                    <a:pt x="291" y="504"/>
                  </a:lnTo>
                  <a:lnTo>
                    <a:pt x="262" y="523"/>
                  </a:lnTo>
                  <a:lnTo>
                    <a:pt x="229" y="533"/>
                  </a:lnTo>
                  <a:lnTo>
                    <a:pt x="200" y="537"/>
                  </a:lnTo>
                  <a:lnTo>
                    <a:pt x="200" y="537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06" name="Freeform 11570"/>
            <p:cNvSpPr>
              <a:spLocks/>
            </p:cNvSpPr>
            <p:nvPr/>
          </p:nvSpPr>
          <p:spPr bwMode="auto">
            <a:xfrm>
              <a:off x="7498" y="2765"/>
              <a:ext cx="880" cy="661"/>
            </a:xfrm>
            <a:custGeom>
              <a:avLst/>
              <a:gdLst>
                <a:gd name="T0" fmla="*/ 0 w 880"/>
                <a:gd name="T1" fmla="*/ 0 h 661"/>
                <a:gd name="T2" fmla="*/ 880 w 880"/>
                <a:gd name="T3" fmla="*/ 0 h 661"/>
                <a:gd name="T4" fmla="*/ 880 w 880"/>
                <a:gd name="T5" fmla="*/ 66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0" h="661">
                  <a:moveTo>
                    <a:pt x="0" y="0"/>
                  </a:moveTo>
                  <a:lnTo>
                    <a:pt x="880" y="0"/>
                  </a:lnTo>
                  <a:lnTo>
                    <a:pt x="880" y="661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07" name="Freeform 11571"/>
            <p:cNvSpPr>
              <a:spLocks/>
            </p:cNvSpPr>
            <p:nvPr/>
          </p:nvSpPr>
          <p:spPr bwMode="auto">
            <a:xfrm>
              <a:off x="9254" y="2817"/>
              <a:ext cx="672" cy="1299"/>
            </a:xfrm>
            <a:custGeom>
              <a:avLst/>
              <a:gdLst>
                <a:gd name="T0" fmla="*/ 667 w 672"/>
                <a:gd name="T1" fmla="*/ 1299 h 1299"/>
                <a:gd name="T2" fmla="*/ 672 w 672"/>
                <a:gd name="T3" fmla="*/ 0 h 1299"/>
                <a:gd name="T4" fmla="*/ 0 w 672"/>
                <a:gd name="T5" fmla="*/ 0 h 1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2" h="1299">
                  <a:moveTo>
                    <a:pt x="667" y="1299"/>
                  </a:moveTo>
                  <a:lnTo>
                    <a:pt x="672" y="0"/>
                  </a:lnTo>
                  <a:lnTo>
                    <a:pt x="0" y="0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08" name="Freeform 11572"/>
            <p:cNvSpPr>
              <a:spLocks/>
            </p:cNvSpPr>
            <p:nvPr/>
          </p:nvSpPr>
          <p:spPr bwMode="auto">
            <a:xfrm>
              <a:off x="1452" y="205"/>
              <a:ext cx="1333" cy="1808"/>
            </a:xfrm>
            <a:custGeom>
              <a:avLst/>
              <a:gdLst>
                <a:gd name="T0" fmla="*/ 0 w 1333"/>
                <a:gd name="T1" fmla="*/ 81 h 1808"/>
                <a:gd name="T2" fmla="*/ 0 w 1333"/>
                <a:gd name="T3" fmla="*/ 0 h 1808"/>
                <a:gd name="T4" fmla="*/ 262 w 1333"/>
                <a:gd name="T5" fmla="*/ 0 h 1808"/>
                <a:gd name="T6" fmla="*/ 262 w 1333"/>
                <a:gd name="T7" fmla="*/ 1808 h 1808"/>
                <a:gd name="T8" fmla="*/ 1333 w 1333"/>
                <a:gd name="T9" fmla="*/ 1808 h 1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3" h="1808">
                  <a:moveTo>
                    <a:pt x="0" y="81"/>
                  </a:moveTo>
                  <a:lnTo>
                    <a:pt x="0" y="0"/>
                  </a:lnTo>
                  <a:lnTo>
                    <a:pt x="262" y="0"/>
                  </a:lnTo>
                  <a:lnTo>
                    <a:pt x="262" y="1808"/>
                  </a:lnTo>
                  <a:lnTo>
                    <a:pt x="1333" y="1808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09" name="Freeform 11573"/>
            <p:cNvSpPr>
              <a:spLocks/>
            </p:cNvSpPr>
            <p:nvPr/>
          </p:nvSpPr>
          <p:spPr bwMode="auto">
            <a:xfrm>
              <a:off x="1200" y="328"/>
              <a:ext cx="309" cy="367"/>
            </a:xfrm>
            <a:custGeom>
              <a:avLst/>
              <a:gdLst>
                <a:gd name="T0" fmla="*/ 0 w 309"/>
                <a:gd name="T1" fmla="*/ 219 h 367"/>
                <a:gd name="T2" fmla="*/ 0 w 309"/>
                <a:gd name="T3" fmla="*/ 243 h 367"/>
                <a:gd name="T4" fmla="*/ 9 w 309"/>
                <a:gd name="T5" fmla="*/ 267 h 367"/>
                <a:gd name="T6" fmla="*/ 19 w 309"/>
                <a:gd name="T7" fmla="*/ 286 h 367"/>
                <a:gd name="T8" fmla="*/ 28 w 309"/>
                <a:gd name="T9" fmla="*/ 310 h 367"/>
                <a:gd name="T10" fmla="*/ 42 w 309"/>
                <a:gd name="T11" fmla="*/ 324 h 367"/>
                <a:gd name="T12" fmla="*/ 62 w 309"/>
                <a:gd name="T13" fmla="*/ 338 h 367"/>
                <a:gd name="T14" fmla="*/ 81 w 309"/>
                <a:gd name="T15" fmla="*/ 353 h 367"/>
                <a:gd name="T16" fmla="*/ 104 w 309"/>
                <a:gd name="T17" fmla="*/ 362 h 367"/>
                <a:gd name="T18" fmla="*/ 128 w 309"/>
                <a:gd name="T19" fmla="*/ 367 h 367"/>
                <a:gd name="T20" fmla="*/ 152 w 309"/>
                <a:gd name="T21" fmla="*/ 367 h 367"/>
                <a:gd name="T22" fmla="*/ 181 w 309"/>
                <a:gd name="T23" fmla="*/ 367 h 367"/>
                <a:gd name="T24" fmla="*/ 200 w 309"/>
                <a:gd name="T25" fmla="*/ 362 h 367"/>
                <a:gd name="T26" fmla="*/ 223 w 309"/>
                <a:gd name="T27" fmla="*/ 353 h 367"/>
                <a:gd name="T28" fmla="*/ 242 w 309"/>
                <a:gd name="T29" fmla="*/ 338 h 367"/>
                <a:gd name="T30" fmla="*/ 261 w 309"/>
                <a:gd name="T31" fmla="*/ 324 h 367"/>
                <a:gd name="T32" fmla="*/ 276 w 309"/>
                <a:gd name="T33" fmla="*/ 310 h 367"/>
                <a:gd name="T34" fmla="*/ 290 w 309"/>
                <a:gd name="T35" fmla="*/ 286 h 367"/>
                <a:gd name="T36" fmla="*/ 300 w 309"/>
                <a:gd name="T37" fmla="*/ 267 h 367"/>
                <a:gd name="T38" fmla="*/ 304 w 309"/>
                <a:gd name="T39" fmla="*/ 243 h 367"/>
                <a:gd name="T40" fmla="*/ 309 w 309"/>
                <a:gd name="T41" fmla="*/ 219 h 367"/>
                <a:gd name="T42" fmla="*/ 309 w 309"/>
                <a:gd name="T43" fmla="*/ 0 h 367"/>
                <a:gd name="T44" fmla="*/ 0 w 309"/>
                <a:gd name="T45" fmla="*/ 0 h 367"/>
                <a:gd name="T46" fmla="*/ 0 w 309"/>
                <a:gd name="T47" fmla="*/ 219 h 367"/>
                <a:gd name="T48" fmla="*/ 0 w 309"/>
                <a:gd name="T49" fmla="*/ 219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09" h="367">
                  <a:moveTo>
                    <a:pt x="0" y="219"/>
                  </a:moveTo>
                  <a:lnTo>
                    <a:pt x="0" y="243"/>
                  </a:lnTo>
                  <a:lnTo>
                    <a:pt x="9" y="267"/>
                  </a:lnTo>
                  <a:lnTo>
                    <a:pt x="19" y="286"/>
                  </a:lnTo>
                  <a:lnTo>
                    <a:pt x="28" y="310"/>
                  </a:lnTo>
                  <a:lnTo>
                    <a:pt x="42" y="324"/>
                  </a:lnTo>
                  <a:lnTo>
                    <a:pt x="62" y="338"/>
                  </a:lnTo>
                  <a:lnTo>
                    <a:pt x="81" y="353"/>
                  </a:lnTo>
                  <a:lnTo>
                    <a:pt x="104" y="362"/>
                  </a:lnTo>
                  <a:lnTo>
                    <a:pt x="128" y="367"/>
                  </a:lnTo>
                  <a:lnTo>
                    <a:pt x="152" y="367"/>
                  </a:lnTo>
                  <a:lnTo>
                    <a:pt x="181" y="367"/>
                  </a:lnTo>
                  <a:lnTo>
                    <a:pt x="200" y="362"/>
                  </a:lnTo>
                  <a:lnTo>
                    <a:pt x="223" y="353"/>
                  </a:lnTo>
                  <a:lnTo>
                    <a:pt x="242" y="338"/>
                  </a:lnTo>
                  <a:lnTo>
                    <a:pt x="261" y="324"/>
                  </a:lnTo>
                  <a:lnTo>
                    <a:pt x="276" y="310"/>
                  </a:lnTo>
                  <a:lnTo>
                    <a:pt x="290" y="286"/>
                  </a:lnTo>
                  <a:lnTo>
                    <a:pt x="300" y="267"/>
                  </a:lnTo>
                  <a:lnTo>
                    <a:pt x="304" y="243"/>
                  </a:lnTo>
                  <a:lnTo>
                    <a:pt x="309" y="219"/>
                  </a:lnTo>
                  <a:lnTo>
                    <a:pt x="309" y="0"/>
                  </a:lnTo>
                  <a:lnTo>
                    <a:pt x="0" y="0"/>
                  </a:lnTo>
                  <a:lnTo>
                    <a:pt x="0" y="219"/>
                  </a:lnTo>
                  <a:lnTo>
                    <a:pt x="0" y="2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sp>
          <p:nvSpPr>
            <p:cNvPr id="610" name="Freeform 11574"/>
            <p:cNvSpPr>
              <a:spLocks/>
            </p:cNvSpPr>
            <p:nvPr/>
          </p:nvSpPr>
          <p:spPr bwMode="auto">
            <a:xfrm>
              <a:off x="1257" y="19"/>
              <a:ext cx="3465" cy="3931"/>
            </a:xfrm>
            <a:custGeom>
              <a:avLst/>
              <a:gdLst>
                <a:gd name="T0" fmla="*/ 3418 w 3465"/>
                <a:gd name="T1" fmla="*/ 3931 h 3931"/>
                <a:gd name="T2" fmla="*/ 3465 w 3465"/>
                <a:gd name="T3" fmla="*/ 3931 h 3931"/>
                <a:gd name="T4" fmla="*/ 3465 w 3465"/>
                <a:gd name="T5" fmla="*/ 0 h 3931"/>
                <a:gd name="T6" fmla="*/ 0 w 3465"/>
                <a:gd name="T7" fmla="*/ 0 h 3931"/>
                <a:gd name="T8" fmla="*/ 0 w 3465"/>
                <a:gd name="T9" fmla="*/ 267 h 3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5" h="3931">
                  <a:moveTo>
                    <a:pt x="3418" y="3931"/>
                  </a:moveTo>
                  <a:lnTo>
                    <a:pt x="3465" y="3931"/>
                  </a:lnTo>
                  <a:lnTo>
                    <a:pt x="3465" y="0"/>
                  </a:lnTo>
                  <a:lnTo>
                    <a:pt x="0" y="0"/>
                  </a:lnTo>
                  <a:lnTo>
                    <a:pt x="0" y="267"/>
                  </a:lnTo>
                </a:path>
              </a:pathLst>
            </a:custGeom>
            <a:noFill/>
            <a:ln w="1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  <p:cxnSp>
          <p:nvCxnSpPr>
            <p:cNvPr id="611" name="Line 11575"/>
            <p:cNvCxnSpPr/>
            <p:nvPr/>
          </p:nvCxnSpPr>
          <p:spPr bwMode="auto">
            <a:xfrm>
              <a:off x="5037" y="1891"/>
              <a:ext cx="1436" cy="1"/>
            </a:xfrm>
            <a:prstGeom prst="line">
              <a:avLst/>
            </a:prstGeom>
            <a:noFill/>
            <a:ln w="2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2" name="Freeform 11576"/>
            <p:cNvSpPr>
              <a:spLocks/>
            </p:cNvSpPr>
            <p:nvPr/>
          </p:nvSpPr>
          <p:spPr bwMode="auto">
            <a:xfrm>
              <a:off x="6859" y="3607"/>
              <a:ext cx="62" cy="62"/>
            </a:xfrm>
            <a:custGeom>
              <a:avLst/>
              <a:gdLst>
                <a:gd name="T0" fmla="*/ 0 w 62"/>
                <a:gd name="T1" fmla="*/ 57 h 62"/>
                <a:gd name="T2" fmla="*/ 62 w 62"/>
                <a:gd name="T3" fmla="*/ 62 h 62"/>
                <a:gd name="T4" fmla="*/ 34 w 62"/>
                <a:gd name="T5" fmla="*/ 0 h 62"/>
                <a:gd name="T6" fmla="*/ 0 w 62"/>
                <a:gd name="T7" fmla="*/ 62 h 62"/>
                <a:gd name="T8" fmla="*/ 0 w 62"/>
                <a:gd name="T9" fmla="*/ 62 h 62"/>
                <a:gd name="T10" fmla="*/ 0 w 62"/>
                <a:gd name="T11" fmla="*/ 5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62">
                  <a:moveTo>
                    <a:pt x="0" y="57"/>
                  </a:moveTo>
                  <a:lnTo>
                    <a:pt x="62" y="62"/>
                  </a:lnTo>
                  <a:lnTo>
                    <a:pt x="34" y="0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EB75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pt-BR"/>
            </a:p>
          </p:txBody>
        </p:sp>
      </p:grpSp>
      <p:sp>
        <p:nvSpPr>
          <p:cNvPr id="574" name="Text Box 11577"/>
          <p:cNvSpPr txBox="1">
            <a:spLocks noChangeArrowheads="1"/>
          </p:cNvSpPr>
          <p:nvPr/>
        </p:nvSpPr>
        <p:spPr bwMode="auto">
          <a:xfrm>
            <a:off x="1331277" y="1606550"/>
            <a:ext cx="353695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effectLst/>
                <a:latin typeface="Arial"/>
                <a:ea typeface="Batang"/>
              </a:rPr>
              <a:t>IF.Flush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75" name="Text Box 11578"/>
          <p:cNvSpPr txBox="1">
            <a:spLocks noChangeArrowheads="1"/>
          </p:cNvSpPr>
          <p:nvPr/>
        </p:nvSpPr>
        <p:spPr bwMode="auto">
          <a:xfrm>
            <a:off x="2220912" y="1177290"/>
            <a:ext cx="353695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effectLst/>
                <a:latin typeface="Arial"/>
                <a:ea typeface="Batang"/>
              </a:rPr>
              <a:t>Branch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76" name="Text Box 11579"/>
          <p:cNvSpPr txBox="1">
            <a:spLocks noChangeArrowheads="1"/>
          </p:cNvSpPr>
          <p:nvPr/>
        </p:nvSpPr>
        <p:spPr bwMode="auto">
          <a:xfrm>
            <a:off x="2954972" y="1831340"/>
            <a:ext cx="353695" cy="24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pt-BR" sz="600">
                <a:effectLst/>
                <a:latin typeface="Arial"/>
                <a:ea typeface="Batang"/>
              </a:rPr>
              <a:t>Hazard</a:t>
            </a:r>
            <a:endParaRPr lang="pt-BR" sz="1200">
              <a:effectLst/>
              <a:latin typeface="Times New Roman"/>
              <a:ea typeface="Batang"/>
            </a:endParaRPr>
          </a:p>
          <a:p>
            <a:pPr algn="ctr">
              <a:spcAft>
                <a:spcPts val="0"/>
              </a:spcAft>
            </a:pPr>
            <a:r>
              <a:rPr lang="pt-BR" sz="600">
                <a:effectLst/>
                <a:latin typeface="Arial"/>
                <a:ea typeface="Batang"/>
              </a:rPr>
              <a:t>detection</a:t>
            </a:r>
            <a:endParaRPr lang="pt-BR" sz="1200">
              <a:effectLst/>
              <a:latin typeface="Times New Roman"/>
              <a:ea typeface="Batang"/>
            </a:endParaRPr>
          </a:p>
          <a:p>
            <a:pPr algn="ctr">
              <a:spcAft>
                <a:spcPts val="0"/>
              </a:spcAft>
            </a:pPr>
            <a:r>
              <a:rPr lang="pt-BR" sz="600">
                <a:effectLst/>
                <a:latin typeface="Arial"/>
                <a:ea typeface="Batang"/>
              </a:rPr>
              <a:t>unit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77" name="Text Box 11580"/>
          <p:cNvSpPr txBox="1">
            <a:spLocks noChangeArrowheads="1"/>
          </p:cNvSpPr>
          <p:nvPr/>
        </p:nvSpPr>
        <p:spPr bwMode="auto">
          <a:xfrm>
            <a:off x="5169852" y="3134360"/>
            <a:ext cx="296545" cy="111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spcAft>
                <a:spcPts val="0"/>
              </a:spcAft>
            </a:pPr>
            <a:r>
              <a:rPr lang="pt-BR" sz="600">
                <a:effectLst/>
                <a:latin typeface="Arial"/>
                <a:ea typeface="Batang"/>
              </a:rPr>
              <a:t>OrigAU</a:t>
            </a:r>
            <a:endParaRPr lang="pt-BR" sz="1200">
              <a:effectLst/>
              <a:latin typeface="Times New Roman"/>
              <a:ea typeface="Batang"/>
            </a:endParaRPr>
          </a:p>
        </p:txBody>
      </p:sp>
      <p:sp>
        <p:nvSpPr>
          <p:cNvPr id="578" name="Rectangle 11581"/>
          <p:cNvSpPr>
            <a:spLocks noChangeArrowheads="1"/>
          </p:cNvSpPr>
          <p:nvPr/>
        </p:nvSpPr>
        <p:spPr bwMode="auto">
          <a:xfrm>
            <a:off x="3047047" y="2566670"/>
            <a:ext cx="245745" cy="8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  <a:effectLst/>
                <a:latin typeface="Arial"/>
                <a:ea typeface="Batang"/>
              </a:rPr>
              <a:t>Control</a:t>
            </a:r>
            <a:endParaRPr lang="pt-BR" sz="1200" dirty="0">
              <a:effectLst/>
              <a:latin typeface="Times New Roman"/>
              <a:ea typeface="Batang"/>
            </a:endParaRPr>
          </a:p>
        </p:txBody>
      </p:sp>
      <p:sp>
        <p:nvSpPr>
          <p:cNvPr id="621" name="CaixaDeTexto 620"/>
          <p:cNvSpPr txBox="1"/>
          <p:nvPr/>
        </p:nvSpPr>
        <p:spPr>
          <a:xfrm>
            <a:off x="847725" y="438150"/>
            <a:ext cx="2796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Datapath</a:t>
            </a:r>
            <a:r>
              <a:rPr lang="pt-BR" dirty="0" smtClean="0"/>
              <a:t> do MIPS - editável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5551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13515</TotalTime>
  <Words>594</Words>
  <Application>Microsoft Office PowerPoint</Application>
  <PresentationFormat>Apresentação na tela (4:3)</PresentationFormat>
  <Paragraphs>560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Oliver Mannay</dc:creator>
  <cp:lastModifiedBy>lamar</cp:lastModifiedBy>
  <cp:revision>58</cp:revision>
  <dcterms:created xsi:type="dcterms:W3CDTF">2015-10-10T13:40:54Z</dcterms:created>
  <dcterms:modified xsi:type="dcterms:W3CDTF">2019-11-06T21:43:25Z</dcterms:modified>
</cp:coreProperties>
</file>