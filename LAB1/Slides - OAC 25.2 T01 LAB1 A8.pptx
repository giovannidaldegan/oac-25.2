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Inconsolat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066973-361A-4EBB-9E51-49D8B5C90CA3}">
  <a:tblStyle styleId="{C6066973-361A-4EBB-9E51-49D8B5C90C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consolata-bold.fntdata"/><Relationship Id="rId30" Type="http://schemas.openxmlformats.org/officeDocument/2006/relationships/font" Target="fonts/Inconsolat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db791fb2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db791fb2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db791fb2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db791fb2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e1be9d0a3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e1be9d0a3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b791fb20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db791fb20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db791fb20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db791fb20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b193fa85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b193fa85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b193fa857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b193fa85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b193fa85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b193fa85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193fa857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193fa85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193fa857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b193fa85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b193fa8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b193fa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b193fa857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b193fa857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b193fa857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b193fa857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193fa857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b193fa857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db791fb20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db791fb20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db791fb20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db791fb20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db791fb20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db791fb20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e1be9d0a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e1be9d0a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Laboratório 1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OAC 25.2 | Turma 01 – Grupo A8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76800" y="3714750"/>
            <a:ext cx="49833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Gabriel de Medeiros Matos - 242001491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Gabriel Fonseca Pimenta - 242043428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Giovanni Daldegan - 232002520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Ricardo de Carvalho Nabuco - 231021360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Tauã Valentim de Albuquerque Martins Frade - 231021389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1. Simulador/Montador Rars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1.2.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/>
              <a:t>a)	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aseline="-25000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 = (30n + 48) x  50 x 10</a:t>
            </a:r>
            <a:r>
              <a:rPr baseline="30000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</a:t>
            </a:r>
            <a:endParaRPr baseline="30000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aseline="-25000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 = (9n</a:t>
            </a:r>
            <a:r>
              <a:rPr baseline="30000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30000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16n + 53) x 50 x 10</a:t>
            </a:r>
            <a:r>
              <a:rPr baseline="30000"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</a:t>
            </a:r>
            <a:endParaRPr baseline="30000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1960" l="0" r="0" t="0"/>
          <a:stretch/>
        </p:blipFill>
        <p:spPr>
          <a:xfrm>
            <a:off x="4070175" y="1631575"/>
            <a:ext cx="4481425" cy="27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733725" y="1229875"/>
            <a:ext cx="3201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00"/>
              <a:t>b)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29975"/>
            <a:ext cx="70134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2.2. Compilação de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sort.c</a:t>
            </a:r>
            <a:r>
              <a:rPr lang="pt-BR" sz="1400"/>
              <a:t> e adaptação do código ao RARS</a:t>
            </a:r>
            <a:endParaRPr sz="1400"/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Separar trechos de dados e programa;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Mover o procedimento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main</a:t>
            </a:r>
            <a:r>
              <a:rPr lang="pt-BR" sz="1400"/>
              <a:t> para o início do programa;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Remover "*" das labels;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Adaptar chamadas de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printf</a:t>
            </a:r>
            <a:r>
              <a:rPr lang="pt-BR" sz="1400"/>
              <a:t> para chamadas do sistema operacional que apresentem o resultado esperado;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Chamar a syscall 10 ao fim do programa.</a:t>
            </a:r>
            <a:endParaRPr sz="1400"/>
          </a:p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2) Compilador cruzado GCC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2) Compilador cruzado GCC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 title="2.2 02.png"/>
          <p:cNvPicPr preferRelativeResize="0"/>
          <p:nvPr/>
        </p:nvPicPr>
        <p:blipFill rotWithShape="1">
          <a:blip r:embed="rId3">
            <a:alphaModFix/>
          </a:blip>
          <a:srcRect b="0" l="12633" r="0" t="0"/>
          <a:stretch/>
        </p:blipFill>
        <p:spPr>
          <a:xfrm>
            <a:off x="5275925" y="1884859"/>
            <a:ext cx="3673450" cy="14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title="2.2 03.png"/>
          <p:cNvPicPr preferRelativeResize="0"/>
          <p:nvPr/>
        </p:nvPicPr>
        <p:blipFill rotWithShape="1">
          <a:blip r:embed="rId4">
            <a:alphaModFix/>
          </a:blip>
          <a:srcRect b="0" l="6226" r="0" t="0"/>
          <a:stretch/>
        </p:blipFill>
        <p:spPr>
          <a:xfrm>
            <a:off x="5275925" y="3621450"/>
            <a:ext cx="3673450" cy="6777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2.2.</a:t>
            </a:r>
            <a:endParaRPr/>
          </a:p>
        </p:txBody>
      </p:sp>
      <p:pic>
        <p:nvPicPr>
          <p:cNvPr id="110" name="Google Shape;110;p16" title="2.2 01.png"/>
          <p:cNvPicPr preferRelativeResize="0"/>
          <p:nvPr/>
        </p:nvPicPr>
        <p:blipFill rotWithShape="1">
          <a:blip r:embed="rId5">
            <a:alphaModFix/>
          </a:blip>
          <a:srcRect b="0" l="0" r="0" t="3016"/>
          <a:stretch/>
        </p:blipFill>
        <p:spPr>
          <a:xfrm>
            <a:off x="798050" y="1332886"/>
            <a:ext cx="4326600" cy="370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2) Compilador cruzado GCC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229975"/>
            <a:ext cx="5521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2.3. Otimi</a:t>
            </a:r>
            <a:r>
              <a:rPr lang="pt-BR"/>
              <a:t>zações do programa compilado de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sort_mod.c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7" name="Google Shape;117;p17"/>
          <p:cNvGraphicFramePr/>
          <p:nvPr/>
        </p:nvGraphicFramePr>
        <p:xfrm>
          <a:off x="856775" y="224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{C6066973-361A-4EBB-9E51-49D8B5C90CA3}</a:tableStyleId>
              </a:tblPr>
              <a:tblGrid>
                <a:gridCol w="962025"/>
                <a:gridCol w="561975"/>
                <a:gridCol w="561975"/>
                <a:gridCol w="561975"/>
                <a:gridCol w="561975"/>
                <a:gridCol w="552450"/>
                <a:gridCol w="552450"/>
                <a:gridCol w="552450"/>
                <a:gridCol w="7620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 R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 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 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 B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 U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 J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Tamanho (B)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sort.s</a:t>
                      </a:r>
                      <a:endParaRPr sz="1000"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3746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1558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sort_mod_O0.s</a:t>
                      </a:r>
                      <a:endParaRPr sz="1000"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10103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1987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6078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sort_mod_O3.s</a:t>
                      </a:r>
                      <a:endParaRPr sz="1000"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2175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sort_mod_Os.s</a:t>
                      </a:r>
                      <a:endParaRPr sz="1000"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4406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2371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2) Compilador cruzado GCC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1229975"/>
            <a:ext cx="6685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2.4. Flags de controle de otimização</a:t>
            </a:r>
            <a:endParaRPr sz="1400"/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-O0</a:t>
            </a:r>
            <a:r>
              <a:rPr lang="pt-BR" sz="1400"/>
              <a:t> desabilita a otimização;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-O1</a:t>
            </a:r>
            <a:r>
              <a:rPr lang="pt-BR" sz="1400"/>
              <a:t> ou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</a:t>
            </a:r>
            <a:r>
              <a:rPr lang="pt-BR" sz="1400"/>
              <a:t> é o nível mais simples de otimização;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-O2</a:t>
            </a:r>
            <a:r>
              <a:rPr lang="pt-BR" sz="1400"/>
              <a:t> contém as flags de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-O1</a:t>
            </a:r>
            <a:r>
              <a:rPr lang="pt-BR" sz="1400"/>
              <a:t> e inclui flags de maior complexidade;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-O3</a:t>
            </a:r>
            <a:r>
              <a:rPr lang="pt-BR" sz="1400"/>
              <a:t> otimiza ainda mais que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-O2</a:t>
            </a:r>
            <a:r>
              <a:rPr lang="pt-BR" sz="1400"/>
              <a:t>, tomando mais memória e tempo;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-Os</a:t>
            </a:r>
            <a:r>
              <a:rPr lang="pt-BR" sz="1400"/>
              <a:t> contém as flags de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-O2</a:t>
            </a:r>
            <a:r>
              <a:rPr lang="pt-BR" sz="1400"/>
              <a:t> , menos as que frequentemente aumentam o tamanho do programa compilado.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</a:t>
            </a:r>
            <a:r>
              <a:rPr lang="pt-BR"/>
              <a:t>1</a:t>
            </a:r>
            <a:r>
              <a:rPr lang="pt-BR" sz="1400"/>
              <a:t>. Procedimento 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sincos(float theta)</a:t>
            </a:r>
            <a:endParaRPr sz="1400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600" y="2275850"/>
            <a:ext cx="2169300" cy="195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</a:t>
            </a:r>
            <a:r>
              <a:rPr lang="pt-BR"/>
              <a:t>1</a:t>
            </a:r>
            <a:r>
              <a:rPr lang="pt-BR" sz="1400"/>
              <a:t>. Procedimento 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sincos(float theta)</a:t>
            </a:r>
            <a:endParaRPr sz="1400"/>
          </a:p>
        </p:txBody>
      </p:sp>
      <p:pic>
        <p:nvPicPr>
          <p:cNvPr id="137" name="Google Shape;137;p20" title="Screenshot from 2025-10-19 19-57-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0" y="1751900"/>
            <a:ext cx="5463575" cy="289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</a:t>
            </a:r>
            <a:r>
              <a:rPr lang="pt-BR"/>
              <a:t>1</a:t>
            </a:r>
            <a:r>
              <a:rPr lang="pt-BR" sz="1400"/>
              <a:t>. Procedimento 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sincos(float theta)</a:t>
            </a:r>
            <a:endParaRPr sz="1400"/>
          </a:p>
        </p:txBody>
      </p:sp>
      <p:pic>
        <p:nvPicPr>
          <p:cNvPr id="144" name="Google Shape;144;p21" title="Screenshot from 2025-10-19 19-57-56.png"/>
          <p:cNvPicPr preferRelativeResize="0"/>
          <p:nvPr/>
        </p:nvPicPr>
        <p:blipFill rotWithShape="1">
          <a:blip r:embed="rId3">
            <a:alphaModFix/>
          </a:blip>
          <a:srcRect b="0" l="0" r="68777" t="0"/>
          <a:stretch/>
        </p:blipFill>
        <p:spPr>
          <a:xfrm>
            <a:off x="745375" y="1751900"/>
            <a:ext cx="1707926" cy="290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 title="Screenshot from 2025-10-19 19-58-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8300" y="1751899"/>
            <a:ext cx="5470144" cy="290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</a:t>
            </a:r>
            <a:r>
              <a:rPr lang="pt-BR"/>
              <a:t>1</a:t>
            </a:r>
            <a:r>
              <a:rPr lang="pt-BR" sz="1400"/>
              <a:t>. Procedimento 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sincos(float theta)</a:t>
            </a:r>
            <a:endParaRPr sz="1400"/>
          </a:p>
        </p:txBody>
      </p:sp>
      <p:pic>
        <p:nvPicPr>
          <p:cNvPr id="152" name="Google Shape;152;p22" title="Screenshot from 2025-10-19 19-58-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25" y="1751900"/>
            <a:ext cx="5470151" cy="2901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 title="Screenshot from 2025-10-19 19-58-46.png"/>
          <p:cNvPicPr preferRelativeResize="0"/>
          <p:nvPr/>
        </p:nvPicPr>
        <p:blipFill rotWithShape="1">
          <a:blip r:embed="rId4">
            <a:alphaModFix/>
          </a:blip>
          <a:srcRect b="0" l="0" r="66824" t="0"/>
          <a:stretch/>
        </p:blipFill>
        <p:spPr>
          <a:xfrm>
            <a:off x="3026400" y="1751900"/>
            <a:ext cx="1814748" cy="29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 title="Screenshot from 2025-10-19 20-39-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9988" y="1751888"/>
            <a:ext cx="3377587" cy="290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</a:t>
            </a:r>
            <a:r>
              <a:rPr lang="pt-BR"/>
              <a:t>1</a:t>
            </a:r>
            <a:r>
              <a:rPr lang="pt-BR" sz="1400"/>
              <a:t>. Procedimento 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sincos(float theta)</a:t>
            </a:r>
            <a:endParaRPr sz="1400"/>
          </a:p>
        </p:txBody>
      </p:sp>
      <p:pic>
        <p:nvPicPr>
          <p:cNvPr id="161" name="Google Shape;161;p23" title="Screenshot from 2025-10-19 19-58-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25" y="1751900"/>
            <a:ext cx="5470151" cy="2901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 title="Screenshot from 2025-10-19 19-58-46.png"/>
          <p:cNvPicPr preferRelativeResize="0"/>
          <p:nvPr/>
        </p:nvPicPr>
        <p:blipFill rotWithShape="1">
          <a:blip r:embed="rId4">
            <a:alphaModFix/>
          </a:blip>
          <a:srcRect b="0" l="0" r="66824" t="0"/>
          <a:stretch/>
        </p:blipFill>
        <p:spPr>
          <a:xfrm>
            <a:off x="3026400" y="1751900"/>
            <a:ext cx="1814748" cy="29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3" title="Screenshot from 2025-10-19 19-59-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726" y="1751912"/>
            <a:ext cx="5470151" cy="2901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3.2. Procedimento </a:t>
            </a:r>
            <a:r>
              <a:rPr lang="pt-BR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DFT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lang="pt-BR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float *x, float *X_real, float *X_imag, int N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sz="1400"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56375"/>
            <a:ext cx="3709733" cy="27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700" y="2612300"/>
            <a:ext cx="2571750" cy="87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20" y="1817423"/>
            <a:ext cx="1493745" cy="290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3.2. Procedimento </a:t>
            </a:r>
            <a:r>
              <a:rPr lang="pt-BR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DFT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lang="pt-BR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float *x, float *X_real, float *X_imag, int N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sz="1400"/>
          </a:p>
        </p:txBody>
      </p:sp>
      <p:pic>
        <p:nvPicPr>
          <p:cNvPr id="179" name="Google Shape;179;p25" title="Screenshot from 2025-10-19 21-09-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25" y="1904300"/>
            <a:ext cx="1766349" cy="29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 title="Screenshot from 2025-10-19 21-10-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3900" y="1891901"/>
            <a:ext cx="1766350" cy="29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 title="Screenshot from 2025-10-19 21-10-2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7200" y="1904301"/>
            <a:ext cx="1766350" cy="29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3.2. Procedimento </a:t>
            </a:r>
            <a:r>
              <a:rPr lang="pt-BR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DFT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lang="pt-BR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float *x, float *X_real, float *X_imag, int N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sz="1400"/>
          </a:p>
        </p:txBody>
      </p:sp>
      <p:pic>
        <p:nvPicPr>
          <p:cNvPr id="188" name="Google Shape;188;p26" title="Screenshot from 2025-10-19 21-09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25" y="1904300"/>
            <a:ext cx="1766349" cy="29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 title="Screenshot from 2025-10-19 21-10-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7200" y="1904301"/>
            <a:ext cx="1766350" cy="29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 title="Screenshot from 2025-10-19 21-10-3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120" y="1904280"/>
            <a:ext cx="1766350" cy="290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6" title="Screenshot from 2025-10-19 21-10-3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6445" y="1904268"/>
            <a:ext cx="1766350" cy="290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6" title="Screenshot from 2025-10-19 21-10-5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87195" y="1904268"/>
            <a:ext cx="1766350" cy="290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311700" y="1229975"/>
            <a:ext cx="635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3.2. Procedimento </a:t>
            </a:r>
            <a:r>
              <a:rPr lang="pt-BR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DFT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lang="pt-BR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float *x, float *X_real, float *X_imag, int N</a:t>
            </a:r>
            <a:r>
              <a:rPr lang="pt-BR" sz="14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sz="1400"/>
          </a:p>
        </p:txBody>
      </p:sp>
      <p:pic>
        <p:nvPicPr>
          <p:cNvPr id="199" name="Google Shape;199;p27" title="Screenshot from 2025-10-19 21-09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25" y="1904300"/>
            <a:ext cx="1766349" cy="29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 title="Screenshot from 2025-10-19 21-10-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20" y="1904280"/>
            <a:ext cx="1766350" cy="290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 title="Screenshot from 2025-10-19 21-10-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6445" y="1904268"/>
            <a:ext cx="1766350" cy="290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 title="Screenshot from 2025-10-19 21-11-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8120" y="1904268"/>
            <a:ext cx="1766350" cy="290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 title="Screenshot from 2025-10-19 21-11-0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6445" y="1904268"/>
            <a:ext cx="1766350" cy="290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311700" y="1229975"/>
            <a:ext cx="7953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3.3. Procedimento</a:t>
            </a:r>
            <a:r>
              <a:rPr lang="pt-BR"/>
              <a:t> defina no .data o vetor x[n], o espaço para o vetor X[K], o valor de N, e chame o procedimento DFT</a:t>
            </a:r>
            <a:endParaRPr/>
          </a:p>
        </p:txBody>
      </p:sp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475" y="2181100"/>
            <a:ext cx="6143100" cy="19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304730" y="1229975"/>
            <a:ext cx="6232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3.4. Cálculo da DFT para os vetores X1, X2, X3 e X4, com N=8</a:t>
            </a:r>
            <a:endParaRPr sz="1400"/>
          </a:p>
        </p:txBody>
      </p:sp>
      <p:pic>
        <p:nvPicPr>
          <p:cNvPr id="217" name="Google Shape;217;p29" title="3.4 legenda spl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416" y="1737397"/>
            <a:ext cx="5243001" cy="25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311700" y="1229975"/>
            <a:ext cx="5821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3.5.1. Dados coletados para os vetores com N variando de 8 a 44</a:t>
            </a:r>
            <a:endParaRPr sz="1400"/>
          </a:p>
        </p:txBody>
      </p:sp>
      <p:graphicFrame>
        <p:nvGraphicFramePr>
          <p:cNvPr id="224" name="Google Shape;224;p30"/>
          <p:cNvGraphicFramePr/>
          <p:nvPr/>
        </p:nvGraphicFramePr>
        <p:xfrm>
          <a:off x="820484" y="2774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{C6066973-361A-4EBB-9E51-49D8B5C90CA3}</a:tableStyleId>
              </a:tblPr>
              <a:tblGrid>
                <a:gridCol w="521025"/>
                <a:gridCol w="521025"/>
                <a:gridCol w="521025"/>
                <a:gridCol w="521025"/>
                <a:gridCol w="521025"/>
                <a:gridCol w="521025"/>
                <a:gridCol w="521025"/>
                <a:gridCol w="521025"/>
                <a:gridCol w="521025"/>
                <a:gridCol w="521025"/>
                <a:gridCol w="52102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pt-B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</a:t>
                      </a: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(ms)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1670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2150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2959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instr.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17262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39147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70525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111886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163600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226382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300437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386430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484861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596053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</a:t>
                      </a: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(MHz)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282,98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283,67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237,46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227,41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249,39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240,07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234,53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231,40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225,52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201,44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45986" l="12416" r="25064" t="41526"/>
          <a:stretch/>
        </p:blipFill>
        <p:spPr>
          <a:xfrm>
            <a:off x="1113625" y="1852550"/>
            <a:ext cx="5144951" cy="64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3. Transformada Discreta de Fourier</a:t>
            </a:r>
            <a:endParaRPr/>
          </a:p>
        </p:txBody>
      </p:sp>
      <p:sp>
        <p:nvSpPr>
          <p:cNvPr id="231" name="Google Shape;231;p31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/>
              <a:t>3.5.2. Gráfico N x t</a:t>
            </a:r>
            <a:r>
              <a:rPr baseline="-25000" lang="pt-BR" sz="1400"/>
              <a:t>exec</a:t>
            </a:r>
            <a:r>
              <a:rPr lang="pt-BR" sz="1400"/>
              <a:t> para </a:t>
            </a:r>
            <a:r>
              <a:rPr lang="pt-BR" sz="1400">
                <a:latin typeface="Inconsolata"/>
                <a:ea typeface="Inconsolata"/>
                <a:cs typeface="Inconsolata"/>
                <a:sym typeface="Inconsolata"/>
              </a:rPr>
              <a:t>DFT</a:t>
            </a:r>
            <a:endParaRPr sz="1400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232" name="Google Shape;232;p31" title="3.5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317" y="1815500"/>
            <a:ext cx="4862400" cy="30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